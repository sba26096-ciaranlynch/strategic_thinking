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8" y="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70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31920" y="0"/>
            <a:ext cx="8257032" cy="6858000"/>
          </a:xfrm>
          <a:prstGeom prst="rect">
            <a:avLst/>
          </a:prstGeom>
          <a:solidFill>
            <a:srgbClr val="ECF6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7D7F0"/>
                </a:solidFill>
              </a:rPr>
              <a:t>Through Data Analytics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9F5FF"/>
                </a:solidFill>
              </a:rPr>
              <a:t>A redesigned interactive PPT with company examples, logos, and discussion prompts.</a:t>
            </a:r>
            <a:endParaRPr lang="en-US" sz="1300" dirty="0"/>
          </a:p>
        </p:txBody>
      </p:sp>
      <p:pic>
        <p:nvPicPr>
          <p:cNvPr id="8" name="Image 0" descr="/mnt/data/us_companies_logos.jpg"/>
          <p:cNvPicPr>
            <a:picLocks noChangeAspect="1"/>
          </p:cNvPicPr>
          <p:nvPr/>
        </p:nvPicPr>
        <p:blipFill>
          <a:blip r:embed="rId3"/>
          <a:srcRect t="3086" b="3086"/>
          <a:stretch/>
        </p:blipFill>
        <p:spPr>
          <a:xfrm>
            <a:off x="4617720" y="960120"/>
            <a:ext cx="658368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17720" y="4709160"/>
            <a:ext cx="6583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2040" y="4965192"/>
            <a:ext cx="60350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Learning focus: How data, analytics, and technology choices create sustainable business advantage.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C93"/>
                </a:solidFill>
              </a:rPr>
              <a:t>Slide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Flow: From Data to Advantage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54864"/>
          </a:xfrm>
          <a:prstGeom prst="roundRect">
            <a:avLst>
              <a:gd name="adj" fmla="val 33333"/>
            </a:avLst>
          </a:prstGeom>
          <a:solidFill>
            <a:srgbClr val="0D5E9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73152" cy="32461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581912"/>
            <a:ext cx="2514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1. Data in business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1984248"/>
            <a:ext cx="3017520" cy="2532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</a:rPr>
              <a:t>Understand why companies capture customer, product, and operations data every day.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73152" cy="3246120"/>
          </a:xfrm>
          <a:prstGeom prst="rect">
            <a:avLst/>
          </a:prstGeom>
          <a:solidFill>
            <a:srgbClr val="29A36A"/>
          </a:solidFill>
          <a:ln w="12700">
            <a:solidFill>
              <a:srgbClr val="29A3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1581912"/>
            <a:ext cx="2514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2. Analytics as advantage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63440" y="1984248"/>
            <a:ext cx="3017520" cy="2532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</a:rPr>
              <a:t>See how analytics turns raw data into faster decisions, lower cost, and better customer experience.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73152" cy="324612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23960" y="1581912"/>
            <a:ext cx="2514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3. Tool choices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66760" y="1984248"/>
            <a:ext cx="3017520" cy="2532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</a:rPr>
              <a:t>Compare open-source and proprietary software using cost, control, support, and scalability.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27080" cy="64008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669280"/>
            <a:ext cx="10332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Quick activity: At the end, choose one company and explain its data advantage.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C93"/>
                </a:solidFill>
              </a:rPr>
              <a:t>Slide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Role of Data in Business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54864"/>
          </a:xfrm>
          <a:prstGeom prst="roundRect">
            <a:avLst>
              <a:gd name="adj" fmla="val 33333"/>
            </a:avLst>
          </a:prstGeom>
          <a:solidFill>
            <a:srgbClr val="0D5E9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0881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Data helps businesses understand what happened, predict what will happen, and decide what to do next.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079346"/>
            <a:ext cx="1773936" cy="2340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Amazon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328062"/>
            <a:ext cx="1773936" cy="1609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recommendations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46120" y="18745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E50914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9272" y="2079346"/>
            <a:ext cx="1773936" cy="2340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Netflix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9272" y="2328062"/>
            <a:ext cx="1773936" cy="1609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viewing patterns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669280" y="18745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00704A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42432" y="2079346"/>
            <a:ext cx="1773936" cy="2340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Starbucks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42432" y="2328062"/>
            <a:ext cx="1773936" cy="1609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loyalty data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092440" y="18745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65592" y="2079346"/>
            <a:ext cx="1773936" cy="2340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65592" y="2328062"/>
            <a:ext cx="1773936" cy="1609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personalization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88920" y="2240280"/>
            <a:ext cx="411480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12080" y="2240280"/>
            <a:ext cx="411480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2240280"/>
            <a:ext cx="411480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31546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3154680"/>
            <a:ext cx="73152" cy="1417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3319272"/>
            <a:ext cx="2423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Amazon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051560" y="3721608"/>
            <a:ext cx="292608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</a:rPr>
              <a:t>Uses browsing and purchase history to suggest products and forecast demand.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31546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34840" y="3154680"/>
            <a:ext cx="73152" cy="14173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1772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20640" y="3319272"/>
            <a:ext cx="2423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Netflix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63440" y="3721608"/>
            <a:ext cx="292608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</a:rPr>
              <a:t>Uses viewing data to personalize recommendations and guide content decisions.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46720" y="31546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46720" y="3154680"/>
            <a:ext cx="73152" cy="141732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732520" y="3319272"/>
            <a:ext cx="2423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Starbucks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275320" y="3721608"/>
            <a:ext cx="292608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</a:rPr>
              <a:t>Uses rewards data and location analytics to target offers and plan stores.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532120"/>
            <a:ext cx="10927080" cy="64008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8680" y="5715000"/>
            <a:ext cx="10332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Quick activity: Which of these companies uses your data most visibly?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C93"/>
                </a:solidFill>
              </a:rPr>
              <a:t>Slide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Analytics and Competitive Advantage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54864"/>
          </a:xfrm>
          <a:prstGeom prst="roundRect">
            <a:avLst>
              <a:gd name="adj" fmla="val 33333"/>
            </a:avLst>
          </a:prstGeom>
          <a:solidFill>
            <a:srgbClr val="0D5E9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515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Competitive advantage comes from making better decisions faster than competitors.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D50000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079346"/>
            <a:ext cx="1819656" cy="2340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328062"/>
            <a:ext cx="1819656" cy="1609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vehicle telemetry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0712" y="2079346"/>
            <a:ext cx="1819656" cy="2340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Uber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0712" y="2328062"/>
            <a:ext cx="1819656" cy="1609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dynamic pricing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806440" y="18745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0071CE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79592" y="2079346"/>
            <a:ext cx="1819656" cy="2340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Walmart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79592" y="2328062"/>
            <a:ext cx="1819656" cy="1609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supply chain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29A36A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48472" y="2079346"/>
            <a:ext cx="1819656" cy="2340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48472" y="2328062"/>
            <a:ext cx="1819656" cy="1609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advantage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880360" y="2240280"/>
            <a:ext cx="411480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49240" y="2240280"/>
            <a:ext cx="411480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18120" y="2240280"/>
            <a:ext cx="411480" cy="0"/>
          </a:xfrm>
          <a:prstGeom prst="line">
            <a:avLst/>
          </a:prstGeom>
          <a:noFill/>
          <a:ln w="19050">
            <a:solidFill>
              <a:srgbClr val="334E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06324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3063240"/>
            <a:ext cx="73152" cy="1371600"/>
          </a:xfrm>
          <a:prstGeom prst="rect">
            <a:avLst/>
          </a:prstGeom>
          <a:solidFill>
            <a:srgbClr val="D50000"/>
          </a:solidFill>
          <a:ln w="12700">
            <a:solidFill>
              <a:srgbClr val="D5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3200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63040" y="3227832"/>
            <a:ext cx="2514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Tesla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005840" y="3630168"/>
            <a:ext cx="30175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</a:rPr>
              <a:t>Real-time vehicle data supports software updates, diagnostics, and product improvement.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306324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120" y="3063240"/>
            <a:ext cx="73152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200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74920" y="3227832"/>
            <a:ext cx="2514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Uber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17720" y="3630168"/>
            <a:ext cx="30175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</a:rPr>
              <a:t>Live location and demand signals help adjust prices and match riders with drivers.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01000" y="306324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01000" y="3063240"/>
            <a:ext cx="73152" cy="137160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83880" y="3200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🏬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686800" y="3227832"/>
            <a:ext cx="2514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</a:rPr>
              <a:t>Walmart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229600" y="3630168"/>
            <a:ext cx="301752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E68"/>
                </a:solidFill>
              </a:rPr>
              <a:t>Sales and inventory data improve forecasting, stock availability, and logistics.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532120"/>
            <a:ext cx="10927080" cy="64008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68680" y="5715000"/>
            <a:ext cx="10332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Quick activity: Which example gives the strongest competitive advantage and why?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C93"/>
                </a:solidFill>
              </a:rPr>
              <a:t>Slide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Real-Time Analytics: How It Works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54864"/>
          </a:xfrm>
          <a:prstGeom prst="roundRect">
            <a:avLst>
              <a:gd name="adj" fmla="val 33333"/>
            </a:avLst>
          </a:prstGeom>
          <a:solidFill>
            <a:srgbClr val="0D5E9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1078992"/>
            <a:ext cx="640080" cy="640080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68780" y="12527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Collect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E68"/>
                </a:solidFill>
              </a:rPr>
              <a:t>customer, vehicle, sales, app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71800" y="2450592"/>
            <a:ext cx="502920" cy="0"/>
          </a:xfrm>
          <a:prstGeom prst="line">
            <a:avLst/>
          </a:prstGeom>
          <a:noFill/>
          <a:ln w="17780">
            <a:solidFill>
              <a:srgbClr val="334E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0" y="18745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43400" y="1078992"/>
            <a:ext cx="640080" cy="640080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3420" y="12527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Analyze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E68"/>
                </a:solidFill>
              </a:rPr>
              <a:t>dashboards, AI models, forecasting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2450592"/>
            <a:ext cx="502920" cy="0"/>
          </a:xfrm>
          <a:prstGeom prst="line">
            <a:avLst/>
          </a:prstGeom>
          <a:noFill/>
          <a:ln w="17780">
            <a:solidFill>
              <a:srgbClr val="334E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92240" y="18745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78040" y="1078992"/>
            <a:ext cx="640080" cy="640080"/>
          </a:xfrm>
          <a:prstGeom prst="ellipse">
            <a:avLst/>
          </a:prstGeom>
          <a:solidFill>
            <a:srgbClr val="29A36A"/>
          </a:solidFill>
          <a:ln w="12700">
            <a:solidFill>
              <a:srgbClr val="29A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38060" y="12527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E68"/>
                </a:solidFill>
              </a:rPr>
              <a:t>prices, recommendations, inventory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41080" y="2450592"/>
            <a:ext cx="502920" cy="0"/>
          </a:xfrm>
          <a:prstGeom prst="line">
            <a:avLst/>
          </a:prstGeom>
          <a:noFill/>
          <a:ln w="17780">
            <a:solidFill>
              <a:srgbClr val="334E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26880" y="18745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12680" y="1078992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72700" y="12527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5548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Learn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5548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E68"/>
                </a:solidFill>
              </a:rPr>
              <a:t>measure results and improve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280160" y="397764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71600" y="407822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7B4"/>
                </a:solidFill>
              </a:rPr>
              <a:t>Speed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43434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E68"/>
                </a:solidFill>
              </a:rPr>
              <a:t>respond quickly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46120" y="397764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37560" y="407822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8A24"/>
                </a:solidFill>
              </a:rPr>
              <a:t>Cost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37560" y="43434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E68"/>
                </a:solidFill>
              </a:rPr>
              <a:t>reduce waste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212080" y="397764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0" y="407822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9A36A"/>
                </a:solidFill>
              </a:rPr>
              <a:t>CX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03520" y="43434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E68"/>
                </a:solidFill>
              </a:rPr>
              <a:t>personalize service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178040" y="397764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69480" y="407822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2828"/>
                </a:solidFill>
              </a:rPr>
              <a:t>Risk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69480" y="43434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E68"/>
                </a:solidFill>
              </a:rPr>
              <a:t>detect problems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144000" y="397764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235440" y="407822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</a:rPr>
              <a:t>Growth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35440" y="43434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E68"/>
                </a:solidFill>
              </a:rPr>
              <a:t>find opportunities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40080" y="5532120"/>
            <a:ext cx="10927080" cy="64008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8680" y="5715000"/>
            <a:ext cx="10332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Quick activity: Pick one step in the loop and give a business example.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C93"/>
                </a:solidFill>
              </a:rPr>
              <a:t>Slide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Source vs Proprietary Software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54864"/>
          </a:xfrm>
          <a:prstGeom prst="roundRect">
            <a:avLst>
              <a:gd name="adj" fmla="val 33333"/>
            </a:avLst>
          </a:prstGeom>
          <a:solidFill>
            <a:srgbClr val="0D5E9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349240" cy="3886200"/>
          </a:xfrm>
          <a:prstGeom prst="roundRect">
            <a:avLst>
              <a:gd name="adj" fmla="val 1882"/>
            </a:avLst>
          </a:prstGeom>
          <a:solidFill>
            <a:srgbClr val="EDF8F2"/>
          </a:solidFill>
          <a:ln w="12700">
            <a:solidFill>
              <a:srgbClr val="BDE5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5349240" cy="3886200"/>
          </a:xfrm>
          <a:prstGeom prst="roundRect">
            <a:avLst>
              <a:gd name="adj" fmla="val 1882"/>
            </a:avLst>
          </a:prstGeom>
          <a:solidFill>
            <a:srgbClr val="FFF5E8"/>
          </a:solidFill>
          <a:ln w="12700">
            <a:solidFill>
              <a:srgbClr val="F3D2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627632"/>
            <a:ext cx="47091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663A"/>
                </a:solidFill>
              </a:rPr>
              <a:t>Open Source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1627632"/>
            <a:ext cx="47091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35400"/>
                </a:solidFill>
              </a:rPr>
              <a:t>Proprietary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7280" y="224028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3776AB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2393899"/>
            <a:ext cx="1179576" cy="1755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224028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222222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24912" y="2393899"/>
            <a:ext cx="1179576" cy="1755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Linux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224028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276DC3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79392" y="2393899"/>
            <a:ext cx="1179576" cy="1755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224028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E16737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56832" y="2393899"/>
            <a:ext cx="1179576" cy="1755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MATLAB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224028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F2C811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11312" y="2393899"/>
            <a:ext cx="1179576" cy="1755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92640" y="224028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C74634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65792" y="2393899"/>
            <a:ext cx="1179576" cy="1755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Oracle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063240"/>
            <a:ext cx="4709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E68"/>
                </a:solidFill>
              </a:rPr>
              <a:t>Pros: lower license cost, flexibility, large communities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E68"/>
                </a:solidFill>
              </a:rPr>
              <a:t>Cons: support quality varies, skills required, integration effort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063240"/>
            <a:ext cx="4709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E68"/>
                </a:solidFill>
              </a:rPr>
              <a:t>Pros: vendor support, enterprise integrations, training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E68"/>
                </a:solidFill>
              </a:rPr>
              <a:t>Cons: license cost, vendor lock-in, less customization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532120"/>
            <a:ext cx="10927080" cy="64008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5715000"/>
            <a:ext cx="10332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Quick activity: Would a start-up choose open source or proprietary tools? Explain.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C93"/>
                </a:solidFill>
              </a:rPr>
              <a:t>Slide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Choose the Right Analytics Tool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54864"/>
          </a:xfrm>
          <a:prstGeom prst="roundRect">
            <a:avLst>
              <a:gd name="adj" fmla="val 33333"/>
            </a:avLst>
          </a:prstGeom>
          <a:solidFill>
            <a:srgbClr val="0D5E9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920240" cy="594360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8288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Criteria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26080" y="1325880"/>
            <a:ext cx="1920240" cy="594360"/>
          </a:xfrm>
          <a:prstGeom prst="roundRect">
            <a:avLst>
              <a:gd name="adj" fmla="val 7692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508760"/>
            <a:ext cx="18288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Low budget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20640" y="1325880"/>
            <a:ext cx="1920240" cy="594360"/>
          </a:xfrm>
          <a:prstGeom prst="roundRect">
            <a:avLst>
              <a:gd name="adj" fmla="val 7692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1508760"/>
            <a:ext cx="18288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Fast deployment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0" y="1325880"/>
            <a:ext cx="1920240" cy="594360"/>
          </a:xfrm>
          <a:prstGeom prst="roundRect">
            <a:avLst>
              <a:gd name="adj" fmla="val 7692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60920" y="1508760"/>
            <a:ext cx="18288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High control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9760" y="1325880"/>
            <a:ext cx="1920240" cy="594360"/>
          </a:xfrm>
          <a:prstGeom prst="roundRect">
            <a:avLst>
              <a:gd name="adj" fmla="val 7692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55480" y="1508760"/>
            <a:ext cx="18288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Strong support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205740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222199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A43"/>
                </a:solidFill>
              </a:rPr>
              <a:t>Best fit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2926080" y="205740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99232" y="222199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Open source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120640" y="205740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93792" y="222199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Proprietary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315200" y="205740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88352" y="222199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Open source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509760" y="205740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82912" y="222199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Proprietary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31520" y="301752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4672" y="318211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A43"/>
                </a:solidFill>
              </a:rPr>
              <a:t>Example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2926080" y="301752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99232" y="318211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Python/R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120640" y="301752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93792" y="318211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Power BI/Tableau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7315200" y="301752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388352" y="318211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Linux/Postgres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509760" y="301752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582912" y="318211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MATLAB/Oracle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731520" y="397764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4672" y="414223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A43"/>
                </a:solidFill>
              </a:rPr>
              <a:t>Reason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2926080" y="397764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99232" y="414223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No license fees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5120640" y="397764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93792" y="414223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Ready-made tools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7315200" y="397764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88352" y="414223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Customizable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9509760" y="397764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582912" y="4142232"/>
            <a:ext cx="1773936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34E68"/>
                </a:solidFill>
              </a:rPr>
              <a:t>Vendor help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640080" y="5532120"/>
            <a:ext cx="10927080" cy="64008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68680" y="5715000"/>
            <a:ext cx="10332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Quick activity: Scenario: a hospital needs secure analytics. Which option would you recommend?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C93"/>
                </a:solidFill>
              </a:rPr>
              <a:t>Slide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1338560" cy="749808"/>
          </a:xfrm>
          <a:prstGeom prst="roundRect">
            <a:avLst>
              <a:gd name="adj" fmla="val 9756"/>
            </a:avLst>
          </a:prstGeom>
          <a:solidFill>
            <a:srgbClr val="1F77B4"/>
          </a:solidFill>
          <a:ln>
            <a:solidFill>
              <a:srgbClr val="1F77B4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Activity: Build a Data Advantage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54864"/>
          </a:xfrm>
          <a:prstGeom prst="roundRect">
            <a:avLst>
              <a:gd name="adj" fmla="val 33333"/>
            </a:avLst>
          </a:prstGeom>
          <a:solidFill>
            <a:srgbClr val="0D5E9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Choose one company. Complete the sentence below in 60 seconds.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192024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F9900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2104583"/>
            <a:ext cx="2688336" cy="2106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Amazon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92024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E50914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82312" y="2104583"/>
            <a:ext cx="2688336" cy="2106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Netflix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58200" y="192024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D50000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31352" y="2104583"/>
            <a:ext cx="2688336" cy="2106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Tesla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292608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3272" y="3110423"/>
            <a:ext cx="2688336" cy="2106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Uber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292608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071CE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82312" y="3110423"/>
            <a:ext cx="2688336" cy="2106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Walmart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58200" y="2926080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00704A"/>
          </a:solidFill>
          <a:ln w="12700">
            <a:solidFill>
              <a:srgbClr val="D4DC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31352" y="3110423"/>
            <a:ext cx="2688336" cy="2106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Starbucks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420624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CF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88720" y="4526280"/>
            <a:ext cx="97840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A43"/>
                </a:solidFill>
              </a:rPr>
              <a:t>“This company gains advantage because it uses ______ data to make ______ decisions.”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10927080" cy="640080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715000"/>
            <a:ext cx="10332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Quick activity: Share your sentence with a partner, then vote for the strongest example.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C93"/>
                </a:solidFill>
              </a:rPr>
              <a:t>Slide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0"/>
            <a:ext cx="1554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Business Impact of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731520"/>
            <a:ext cx="8961120" cy="493776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51760" y="1005840"/>
            <a:ext cx="8832995" cy="42473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📈 Better Decision Making – Analytics helps managers identify trends and make </a:t>
            </a:r>
            <a:endParaRPr lang="en-IE" dirty="0"/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data-driven decisions quickly.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💰 Cost Reduction – Businesses reduce waste and optimize operations using predictive </a:t>
            </a:r>
            <a:endParaRPr lang="en-IE" dirty="0"/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analytics.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🎯 Customer Personalization – Companies improve customer experience through </a:t>
            </a:r>
            <a:endParaRPr lang="en-IE" dirty="0"/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targeted recommendations and offers.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⚠ Risk Management – Real-time analytics helps detect fraud, operational issues, and </a:t>
            </a:r>
            <a:endParaRPr lang="en-IE" dirty="0"/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security threats early.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🚀 Innovation and Growth – Organizations discover new opportunities and improve </a:t>
            </a:r>
            <a:endParaRPr lang="en-IE" dirty="0"/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products using customer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5760720"/>
            <a:ext cx="8046720" cy="548640"/>
          </a:xfrm>
          <a:prstGeom prst="roundRect">
            <a:avLst/>
          </a:prstGeom>
          <a:solidFill>
            <a:srgbClr val="EBF0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589788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Quick activity: Give one example of how analytics improves customer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Widescreen</PresentationFormat>
  <Paragraphs>154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Advantage Through Data Analytics</dc:title>
  <dc:subject>Competitive Advantage Through Data Analytics</dc:subject>
  <dc:creator>OpenAI</dc:creator>
  <cp:lastModifiedBy>Ciaran Lynch</cp:lastModifiedBy>
  <cp:revision>2</cp:revision>
  <dcterms:created xsi:type="dcterms:W3CDTF">2026-05-13T14:19:15Z</dcterms:created>
  <dcterms:modified xsi:type="dcterms:W3CDTF">2026-10-01T16:37:34Z</dcterms:modified>
</cp:coreProperties>
</file>