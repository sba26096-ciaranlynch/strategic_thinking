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85" r:id="rId2"/>
    <p:sldId id="290" r:id="rId3"/>
    <p:sldId id="415" r:id="rId4"/>
    <p:sldId id="416" r:id="rId5"/>
    <p:sldId id="417" r:id="rId6"/>
    <p:sldId id="418" r:id="rId7"/>
    <p:sldId id="419" r:id="rId8"/>
    <p:sldId id="420" r:id="rId9"/>
    <p:sldId id="424" r:id="rId10"/>
    <p:sldId id="421" r:id="rId11"/>
    <p:sldId id="425" r:id="rId12"/>
    <p:sldId id="422" r:id="rId13"/>
    <p:sldId id="423" r:id="rId14"/>
    <p:sldId id="426" r:id="rId15"/>
    <p:sldId id="427" r:id="rId16"/>
    <p:sldId id="359" r:id="rId17"/>
    <p:sldId id="338" r:id="rId18"/>
    <p:sldId id="360" r:id="rId19"/>
    <p:sldId id="413" r:id="rId20"/>
    <p:sldId id="414" r:id="rId21"/>
    <p:sldId id="371" r:id="rId22"/>
    <p:sldId id="372" r:id="rId23"/>
    <p:sldId id="373" r:id="rId24"/>
    <p:sldId id="374" r:id="rId25"/>
    <p:sldId id="377" r:id="rId26"/>
    <p:sldId id="378" r:id="rId27"/>
    <p:sldId id="379" r:id="rId28"/>
    <p:sldId id="380" r:id="rId29"/>
    <p:sldId id="382" r:id="rId30"/>
    <p:sldId id="383" r:id="rId31"/>
    <p:sldId id="384" r:id="rId32"/>
    <p:sldId id="386" r:id="rId33"/>
    <p:sldId id="389" r:id="rId34"/>
    <p:sldId id="390" r:id="rId35"/>
    <p:sldId id="391" r:id="rId36"/>
    <p:sldId id="392" r:id="rId37"/>
    <p:sldId id="393" r:id="rId38"/>
    <p:sldId id="394" r:id="rId39"/>
    <p:sldId id="395" r:id="rId40"/>
    <p:sldId id="396" r:id="rId41"/>
    <p:sldId id="397" r:id="rId42"/>
    <p:sldId id="398" r:id="rId43"/>
    <p:sldId id="399" r:id="rId44"/>
    <p:sldId id="400" r:id="rId45"/>
    <p:sldId id="401" r:id="rId46"/>
    <p:sldId id="402" r:id="rId47"/>
    <p:sldId id="403" r:id="rId48"/>
    <p:sldId id="404" r:id="rId49"/>
    <p:sldId id="405" r:id="rId50"/>
    <p:sldId id="406" r:id="rId51"/>
    <p:sldId id="407" r:id="rId52"/>
    <p:sldId id="408" r:id="rId53"/>
    <p:sldId id="409" r:id="rId54"/>
    <p:sldId id="411" r:id="rId55"/>
    <p:sldId id="410" r:id="rId56"/>
    <p:sldId id="287"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51233" autoAdjust="0"/>
  </p:normalViewPr>
  <p:slideViewPr>
    <p:cSldViewPr snapToGrid="0">
      <p:cViewPr varScale="1">
        <p:scale>
          <a:sx n="73" d="100"/>
          <a:sy n="73" d="100"/>
        </p:scale>
        <p:origin x="60" y="21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EE54ED-62AC-4EA9-8A0C-381FF89DB770}" type="datetimeFigureOut">
              <a:rPr lang="en-IE" smtClean="0"/>
              <a:t>01/10/2026</a:t>
            </a:fld>
            <a:endParaRPr lang="en-IE"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E189D7-B945-4C6E-A732-12601E7AA3A8}" type="slidenum">
              <a:rPr lang="en-IE" smtClean="0"/>
              <a:t>‹#›</a:t>
            </a:fld>
            <a:endParaRPr lang="en-IE" dirty="0"/>
          </a:p>
        </p:txBody>
      </p:sp>
    </p:spTree>
    <p:extLst>
      <p:ext uri="{BB962C8B-B14F-4D97-AF65-F5344CB8AC3E}">
        <p14:creationId xmlns:p14="http://schemas.microsoft.com/office/powerpoint/2010/main" val="893054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a:t>
            </a:fld>
            <a:endParaRPr lang="en-IE" dirty="0"/>
          </a:p>
        </p:txBody>
      </p:sp>
    </p:spTree>
    <p:extLst>
      <p:ext uri="{BB962C8B-B14F-4D97-AF65-F5344CB8AC3E}">
        <p14:creationId xmlns:p14="http://schemas.microsoft.com/office/powerpoint/2010/main" val="4062515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a:t>
            </a:fld>
            <a:endParaRPr lang="en-IE" dirty="0"/>
          </a:p>
        </p:txBody>
      </p:sp>
    </p:spTree>
    <p:extLst>
      <p:ext uri="{BB962C8B-B14F-4D97-AF65-F5344CB8AC3E}">
        <p14:creationId xmlns:p14="http://schemas.microsoft.com/office/powerpoint/2010/main" val="3321791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a:t>
            </a:fld>
            <a:endParaRPr lang="en-IE" dirty="0"/>
          </a:p>
        </p:txBody>
      </p:sp>
    </p:spTree>
    <p:extLst>
      <p:ext uri="{BB962C8B-B14F-4D97-AF65-F5344CB8AC3E}">
        <p14:creationId xmlns:p14="http://schemas.microsoft.com/office/powerpoint/2010/main" val="3426150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5</a:t>
            </a:fld>
            <a:endParaRPr lang="en-IE" dirty="0"/>
          </a:p>
        </p:txBody>
      </p:sp>
    </p:spTree>
    <p:extLst>
      <p:ext uri="{BB962C8B-B14F-4D97-AF65-F5344CB8AC3E}">
        <p14:creationId xmlns:p14="http://schemas.microsoft.com/office/powerpoint/2010/main" val="3882649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211D1E"/>
                </a:solidFill>
                <a:latin typeface="Times LT Std"/>
              </a:rPr>
              <a:t>The question to answer in the data discovery phase is “Do we have enough information?”. Data discovery is the process of collecting and analyzing data from various sources to realize insight from hidden patterns and trends. It is the primary step in fully harnessing an organization’s data to tell critical business decisions. Through the data discovery process, data are gathered, combined, and analyzed during a sequence of steps. The goal is to form messy and scattered data clean, understandable, and user-friendly. The primary focus of this phase is to learn the business domain, including learning from past experiences and further assessing the resources required to support the project, such as human resources, time, technology, and data. The business problem has to be framed in such a way with the focus on the analytic challenge, and this would be addressed in subsequent Data Analytic Life Cycle phases. Finally, the initial hypotheses (IHs) have to be formulated to validate and begin learning the information. Understanding the domain in-depth for the given problem we are trying to find an answer to is critical. In a few situations, data scientists are required to possess advanced computational and quantitative knowledge such that the applications can be multi-disciplinary. These scientists are expected to possess an in-depth knowledge of the techniques, methods, and models for applying heuristics to different business and conceptual problems. Experts from domain areas with quantitative expertise will also partner with data scientists to address the gap between domain knowledge and analytical depth. While assessing the resources, there should be a focus on the available tools and technology used for the process and the types of systems required for interaction with subsequent phases. It is also required to have an evaluation concerning analytical facilities available within the organization. </a:t>
            </a:r>
          </a:p>
          <a:p>
            <a:r>
              <a:rPr lang="en-US" sz="1800" b="0" i="0" u="none" strike="noStrike" baseline="0" dirty="0">
                <a:solidFill>
                  <a:srgbClr val="211D1E"/>
                </a:solidFill>
                <a:latin typeface="Times LT Std"/>
              </a:rPr>
              <a:t>Questions are as follows: </a:t>
            </a:r>
          </a:p>
          <a:p>
            <a:pPr marL="342900" indent="-342900">
              <a:buAutoNum type="alphaLcPeriod"/>
            </a:pPr>
            <a:r>
              <a:rPr lang="en-US" sz="1800" b="0" i="0" u="none" strike="noStrike" baseline="0" dirty="0">
                <a:solidFill>
                  <a:srgbClr val="211D1E"/>
                </a:solidFill>
                <a:latin typeface="Times LT Std"/>
              </a:rPr>
              <a:t>What would be the type of roles required for end-users of the model? </a:t>
            </a:r>
          </a:p>
          <a:p>
            <a:pPr marL="0" indent="0">
              <a:buNone/>
            </a:pPr>
            <a:r>
              <a:rPr lang="en-US" sz="1800" b="0" i="0" u="none" strike="noStrike" baseline="0" dirty="0">
                <a:solidFill>
                  <a:srgbClr val="211D1E"/>
                </a:solidFill>
                <a:latin typeface="Times LT Std"/>
              </a:rPr>
              <a:t>b. The current development model will drive success? </a:t>
            </a:r>
          </a:p>
          <a:p>
            <a:r>
              <a:rPr lang="en-US" sz="1800" b="0" i="0" u="none" strike="noStrike" baseline="0" dirty="0">
                <a:solidFill>
                  <a:srgbClr val="211D1E"/>
                </a:solidFill>
                <a:latin typeface="Times LT Std"/>
              </a:rPr>
              <a:t>c. Are the roles available within the organization? </a:t>
            </a:r>
          </a:p>
          <a:p>
            <a:endParaRPr lang="en-US" sz="1800" b="0" i="0" u="none" strike="noStrike" baseline="0" dirty="0">
              <a:solidFill>
                <a:srgbClr val="211D1E"/>
              </a:solidFill>
              <a:latin typeface="Times LT Std"/>
            </a:endParaRPr>
          </a:p>
          <a:p>
            <a:r>
              <a:rPr lang="en-US" sz="1800" b="0" i="0" u="none" strike="noStrike" baseline="0" dirty="0">
                <a:solidFill>
                  <a:srgbClr val="211D1E"/>
                </a:solidFill>
                <a:latin typeface="Times LT Std"/>
              </a:rPr>
              <a:t>Such evaluation will help decide on the current implementation and future implementations on the type of data handling. In addition, it is necessary to validate whether the information available is sufficient to support the objectives of the current project, or whether data collection is required, whether the purchase of data from outside sources is required, or any extensions or transformations on existing data are required. Moreover, for successful project implementation, a good project team has a proper combination of subject matter experts (SMEs), domain experts, analytic team, customers, and the project management team. Also, it is required to assess the proportion of SMEs such that there is a clear focus on the depth and breadth of skills on the working team. Once the inventory for the project is decided concerning the team, tools, data, and technology, then another set of evaluations is done to decide on the resources, else additional resources are added. Once the interaction is complete with the stakeholder and sufficient knowledge is obtained on the domain, the business problem can be framed by considering experience. Later, the analytics problem is defined, and during this phase, the role of the stakeholders, their project requirements, their interests, and their criteria to evaluate the project. Since the analytical part of the project aims at a business perspective, it is necessary to address the weak points very clearly so that haphazard can be avoided while working on the project. Based on the number of participants and stakeholders, we must consider using the responsible, accountable consulted, and informed (RACI) matrix. This will give a clear picture of the expectation and participation from each stakeholder, set clear expectations with the participants, and avoid delays later when we need approvals from stakeholders, rather than the supervisor of the work product. The RACI matrix is a method in which the responsibilities are documented. These responsibilities include the role of a person in the project, whether the person fits rightly in the project, etc., RACI refers to the role of people within a project:  </a:t>
            </a:r>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6</a:t>
            </a:fld>
            <a:endParaRPr lang="en-IE" dirty="0"/>
          </a:p>
        </p:txBody>
      </p:sp>
    </p:spTree>
    <p:extLst>
      <p:ext uri="{BB962C8B-B14F-4D97-AF65-F5344CB8AC3E}">
        <p14:creationId xmlns:p14="http://schemas.microsoft.com/office/powerpoint/2010/main" val="4070984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211D1E"/>
                </a:solidFill>
                <a:latin typeface="Times LT Std"/>
              </a:rPr>
              <a:t>• </a:t>
            </a:r>
            <a:r>
              <a:rPr lang="en-US" sz="1800" b="1" i="0" u="none" strike="noStrike" baseline="0" dirty="0">
                <a:solidFill>
                  <a:srgbClr val="211D1E"/>
                </a:solidFill>
                <a:latin typeface="Times LT Std"/>
              </a:rPr>
              <a:t>Responsible: </a:t>
            </a:r>
            <a:r>
              <a:rPr lang="en-US" sz="1800" b="0" i="0" u="none" strike="noStrike" baseline="0" dirty="0">
                <a:solidFill>
                  <a:srgbClr val="211D1E"/>
                </a:solidFill>
                <a:latin typeface="Times LT Std"/>
              </a:rPr>
              <a:t>Those individuals or groups responsible for doing the critical path activity and expected to complete the tasks actively. </a:t>
            </a:r>
          </a:p>
          <a:p>
            <a:r>
              <a:rPr lang="en-US" sz="1800" b="0" i="0" u="none" strike="noStrike" baseline="0" dirty="0">
                <a:solidFill>
                  <a:srgbClr val="211D1E"/>
                </a:solidFill>
                <a:latin typeface="Times LT Std"/>
              </a:rPr>
              <a:t>• </a:t>
            </a:r>
            <a:r>
              <a:rPr lang="en-US" sz="1800" b="1" i="0" u="none" strike="noStrike" baseline="0" dirty="0">
                <a:solidFill>
                  <a:srgbClr val="211D1E"/>
                </a:solidFill>
                <a:latin typeface="Times LT Std"/>
              </a:rPr>
              <a:t>Accountable: </a:t>
            </a:r>
            <a:r>
              <a:rPr lang="en-US" sz="1800" b="0" i="0" u="none" strike="noStrike" baseline="0" dirty="0">
                <a:solidFill>
                  <a:srgbClr val="211D1E"/>
                </a:solidFill>
                <a:latin typeface="Times LT Std"/>
              </a:rPr>
              <a:t>Those individuals or groups who are answerable for a decision. In this case, only one accountable person/group is assigned to a given task to ensure clear ownership and accountability. </a:t>
            </a:r>
          </a:p>
          <a:p>
            <a:r>
              <a:rPr lang="en-US" sz="1800" b="0" i="0" u="none" strike="noStrike" baseline="0" dirty="0">
                <a:solidFill>
                  <a:srgbClr val="211D1E"/>
                </a:solidFill>
                <a:latin typeface="Times LT Std"/>
              </a:rPr>
              <a:t>• </a:t>
            </a:r>
            <a:r>
              <a:rPr lang="en-US" sz="1800" b="1" i="0" u="none" strike="noStrike" baseline="0" dirty="0">
                <a:solidFill>
                  <a:srgbClr val="211D1E"/>
                </a:solidFill>
                <a:latin typeface="Times LT Std"/>
              </a:rPr>
              <a:t>Consult: </a:t>
            </a:r>
            <a:r>
              <a:rPr lang="en-US" sz="1800" b="0" i="0" u="none" strike="noStrike" baseline="0" dirty="0">
                <a:solidFill>
                  <a:srgbClr val="211D1E"/>
                </a:solidFill>
                <a:latin typeface="Times LT Std"/>
              </a:rPr>
              <a:t>Those individuals or groups who are the specific domain experts/SMEs will be in consultation throughout the project. </a:t>
            </a:r>
          </a:p>
          <a:p>
            <a:r>
              <a:rPr lang="en-US" sz="1800" b="0" i="0" u="none" strike="noStrike" baseline="0" dirty="0">
                <a:solidFill>
                  <a:srgbClr val="211D1E"/>
                </a:solidFill>
                <a:latin typeface="Times LT Std"/>
              </a:rPr>
              <a:t>• </a:t>
            </a:r>
            <a:r>
              <a:rPr lang="en-US" sz="1800" b="1" i="0" u="none" strike="noStrike" baseline="0" dirty="0">
                <a:solidFill>
                  <a:srgbClr val="211D1E"/>
                </a:solidFill>
                <a:latin typeface="Times LT Std"/>
              </a:rPr>
              <a:t>Inform: </a:t>
            </a:r>
            <a:r>
              <a:rPr lang="en-US" sz="1800" b="0" i="0" u="none" strike="noStrike" baseline="0" dirty="0">
                <a:solidFill>
                  <a:srgbClr val="211D1E"/>
                </a:solidFill>
                <a:latin typeface="Times LT Std"/>
              </a:rPr>
              <a:t>Those individuals or groups who have to be kept informed whenever a decision or an action is taken. </a:t>
            </a:r>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7</a:t>
            </a:fld>
            <a:endParaRPr lang="en-IE" dirty="0"/>
          </a:p>
        </p:txBody>
      </p:sp>
    </p:spTree>
    <p:extLst>
      <p:ext uri="{BB962C8B-B14F-4D97-AF65-F5344CB8AC3E}">
        <p14:creationId xmlns:p14="http://schemas.microsoft.com/office/powerpoint/2010/main" val="569998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8</a:t>
            </a:fld>
            <a:endParaRPr lang="en-IE" dirty="0"/>
          </a:p>
        </p:txBody>
      </p:sp>
    </p:spTree>
    <p:extLst>
      <p:ext uri="{BB962C8B-B14F-4D97-AF65-F5344CB8AC3E}">
        <p14:creationId xmlns:p14="http://schemas.microsoft.com/office/powerpoint/2010/main" val="1659772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9</a:t>
            </a:fld>
            <a:endParaRPr lang="en-IE" dirty="0"/>
          </a:p>
        </p:txBody>
      </p:sp>
    </p:spTree>
    <p:extLst>
      <p:ext uri="{BB962C8B-B14F-4D97-AF65-F5344CB8AC3E}">
        <p14:creationId xmlns:p14="http://schemas.microsoft.com/office/powerpoint/2010/main" val="664597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211D1E"/>
                </a:solidFill>
                <a:latin typeface="Times LT Std"/>
              </a:rPr>
              <a:t>• </a:t>
            </a:r>
            <a:r>
              <a:rPr lang="en-US" sz="1800" b="1" i="0" u="none" strike="noStrike" baseline="0" dirty="0">
                <a:solidFill>
                  <a:srgbClr val="211D1E"/>
                </a:solidFill>
                <a:latin typeface="Times LT Std"/>
              </a:rPr>
              <a:t>Supervised learning</a:t>
            </a:r>
            <a:r>
              <a:rPr lang="en-US" sz="1800" b="0" i="0" u="none" strike="noStrike" baseline="0" dirty="0">
                <a:solidFill>
                  <a:srgbClr val="211D1E"/>
                </a:solidFill>
                <a:latin typeface="Times LT Std"/>
              </a:rPr>
              <a:t>: The answer to the question is specific, for example, what is the </a:t>
            </a:r>
            <a:r>
              <a:rPr lang="en-US" sz="1800" b="0" i="0" u="none" strike="noStrike" baseline="0" dirty="0" err="1">
                <a:solidFill>
                  <a:srgbClr val="211D1E"/>
                </a:solidFill>
                <a:latin typeface="Times LT Std"/>
              </a:rPr>
              <a:t>sal-ary</a:t>
            </a:r>
            <a:r>
              <a:rPr lang="en-US" sz="1800" b="0" i="0" u="none" strike="noStrike" baseline="0" dirty="0">
                <a:solidFill>
                  <a:srgbClr val="211D1E"/>
                </a:solidFill>
                <a:latin typeface="Times LT Std"/>
              </a:rPr>
              <a:t> of a 5-year-experienced ML engineer? The data are labeled, and this type of model predicts the outcome/future. Direct feedback is given to the model. Ground Truth (input) and Answer Key (output) are also given to the model. </a:t>
            </a:r>
          </a:p>
          <a:p>
            <a:r>
              <a:rPr lang="en-US" sz="1800" b="0" i="0" u="none" strike="noStrike" baseline="0" dirty="0">
                <a:solidFill>
                  <a:srgbClr val="211D1E"/>
                </a:solidFill>
                <a:latin typeface="Times LT Std"/>
              </a:rPr>
              <a:t>• </a:t>
            </a:r>
            <a:r>
              <a:rPr lang="en-US" sz="1800" b="1" i="0" u="none" strike="noStrike" baseline="0" dirty="0">
                <a:solidFill>
                  <a:srgbClr val="211D1E"/>
                </a:solidFill>
                <a:latin typeface="Times LT Std"/>
              </a:rPr>
              <a:t>Unsupervised learning</a:t>
            </a:r>
            <a:r>
              <a:rPr lang="en-US" sz="1800" b="0" i="0" u="none" strike="noStrike" baseline="0" dirty="0">
                <a:solidFill>
                  <a:srgbClr val="211D1E"/>
                </a:solidFill>
                <a:latin typeface="Times LT Std"/>
              </a:rPr>
              <a:t>: The data are cumbersome and not labeled. The intention is to find the hidden patterns in the data. No feedback is given to the model.</a:t>
            </a:r>
          </a:p>
          <a:p>
            <a:r>
              <a:rPr lang="en-US" sz="1800" b="1" i="0" u="none" strike="noStrike" baseline="0" dirty="0">
                <a:solidFill>
                  <a:srgbClr val="211D1E"/>
                </a:solidFill>
                <a:latin typeface="Times LT Std"/>
              </a:rPr>
              <a:t>Size of training set: </a:t>
            </a:r>
            <a:r>
              <a:rPr lang="en-US" sz="1800" b="0" i="0" u="none" strike="noStrike" baseline="0" dirty="0">
                <a:solidFill>
                  <a:srgbClr val="211D1E"/>
                </a:solidFill>
                <a:latin typeface="Times LT Std"/>
              </a:rPr>
              <a:t>We all know that when the training dataset is not enough, it always results in poor estimation. An over-constrained model on the insufficient training data-set will always end in underfitting; on the other hand, an under-constrained model will probably lead to overfitting the dataset; in both the cases, the outcome will turn to be poor performance. Thus, the size of the training dataset may be a factor that plays a significant role for us when deciding the algorithm of our choice. For a little training dataset, as the low-bias/high-variance classifiers (such as k-nearest neighbors) are likely to overfit the training dataset, the high-bias/low-variance classifiers are at an advantage over this. </a:t>
            </a:r>
          </a:p>
          <a:p>
            <a:r>
              <a:rPr lang="en-US" sz="1800" b="1" i="0" u="none" strike="noStrike" baseline="0" dirty="0">
                <a:solidFill>
                  <a:srgbClr val="211D1E"/>
                </a:solidFill>
                <a:latin typeface="Times LT Std"/>
              </a:rPr>
              <a:t>Training time: </a:t>
            </a:r>
            <a:r>
              <a:rPr lang="en-US" sz="1800" b="0" i="0" u="none" strike="noStrike" baseline="0" dirty="0">
                <a:solidFill>
                  <a:srgbClr val="211D1E"/>
                </a:solidFill>
                <a:latin typeface="Times LT Std"/>
              </a:rPr>
              <a:t>Time taken to coach the model varies for every algorithm. This time </a:t>
            </a:r>
            <a:r>
              <a:rPr lang="en-US" sz="1800" b="0" i="0" u="none" strike="noStrike" baseline="0" dirty="0" err="1">
                <a:solidFill>
                  <a:srgbClr val="211D1E"/>
                </a:solidFill>
                <a:latin typeface="Times LT Std"/>
              </a:rPr>
              <a:t>corre</a:t>
            </a:r>
            <a:r>
              <a:rPr lang="en-US" sz="1800" b="0" i="0" u="none" strike="noStrike" baseline="0" dirty="0">
                <a:solidFill>
                  <a:srgbClr val="211D1E"/>
                </a:solidFill>
                <a:latin typeface="Times LT Std"/>
              </a:rPr>
              <a:t>-lates with the size of the dataset and the accuracy we are aiming for. </a:t>
            </a:r>
          </a:p>
          <a:p>
            <a:r>
              <a:rPr lang="en-US" sz="1800" b="1" i="0" u="none" strike="noStrike" baseline="0" dirty="0">
                <a:solidFill>
                  <a:srgbClr val="211D1E"/>
                </a:solidFill>
                <a:latin typeface="Times LT Std"/>
              </a:rPr>
              <a:t>The number of parameters: </a:t>
            </a:r>
            <a:r>
              <a:rPr lang="en-US" sz="1800" b="0" i="0" u="none" strike="noStrike" baseline="0" dirty="0">
                <a:solidFill>
                  <a:srgbClr val="211D1E"/>
                </a:solidFill>
                <a:latin typeface="Times LT Std"/>
              </a:rPr>
              <a:t>Parameters are one of the foremost important factors in an honest-performing model. Therefore, the components like an error tolerance level and a complete number of iterations depend on the algorithm’s nature. Usually, the foremost number of trail and errors is needed to seek an honest combination within the algorithms that have an enormous number of parameters. Although having many parameters typically gives more versatility, the time taken to train the model using a particular algorithm and the same accuracy may be sensitive in obtaining just the right setup. </a:t>
            </a:r>
          </a:p>
          <a:p>
            <a:r>
              <a:rPr lang="en-US" sz="1800" b="1" i="0" u="none" strike="noStrike" baseline="0" dirty="0">
                <a:solidFill>
                  <a:srgbClr val="211D1E"/>
                </a:solidFill>
                <a:latin typeface="Times LT Std"/>
              </a:rPr>
              <a:t>The number of features: </a:t>
            </a:r>
            <a:r>
              <a:rPr lang="en-US" sz="1800" b="0" i="0" u="none" strike="noStrike" baseline="0" dirty="0">
                <a:solidFill>
                  <a:srgbClr val="211D1E"/>
                </a:solidFill>
                <a:latin typeface="Times LT Std"/>
              </a:rPr>
              <a:t>Compared with the number of data points, the number of features of certain datasets may be quite large. We face the same situation when dealing with the Natural Language Processing (NLP) datasets, which are more textual datasets. Some learning algorithms can consume a longer training time when dealing with many features and make the work unrealistic. Some ML algorithms like support vector machines are especially well designed for this situation. These assumptions we make based on past </a:t>
            </a:r>
            <a:r>
              <a:rPr lang="en-US" sz="1800" b="0" i="0" u="none" strike="noStrike" baseline="0" dirty="0" err="1">
                <a:solidFill>
                  <a:srgbClr val="211D1E"/>
                </a:solidFill>
                <a:latin typeface="Times LT Std"/>
              </a:rPr>
              <a:t>expe-riences</a:t>
            </a:r>
            <a:r>
              <a:rPr lang="en-US" sz="1800" b="0" i="0" u="none" strike="noStrike" baseline="0" dirty="0">
                <a:solidFill>
                  <a:srgbClr val="211D1E"/>
                </a:solidFill>
                <a:latin typeface="Times LT Std"/>
              </a:rPr>
              <a:t> do not work for all situations, and we are required to have a better understanding of such algorithms to apply the best one for a specific problem. </a:t>
            </a:r>
          </a:p>
          <a:p>
            <a:r>
              <a:rPr lang="en-US" sz="1800" b="1" i="0" u="none" strike="noStrike" baseline="0" dirty="0">
                <a:solidFill>
                  <a:srgbClr val="211D1E"/>
                </a:solidFill>
                <a:latin typeface="Times LT Std"/>
              </a:rPr>
              <a:t>Accuracy: </a:t>
            </a:r>
            <a:r>
              <a:rPr lang="en-US" sz="1800" b="0" i="0" u="none" strike="noStrike" baseline="0" dirty="0">
                <a:solidFill>
                  <a:srgbClr val="211D1E"/>
                </a:solidFill>
                <a:latin typeface="Times LT Std"/>
              </a:rPr>
              <a:t>The ML algorithms we use to make realistic decisions and greater accuracy on model results lead to better decisions. The expense of errors may be enormous, so we need to minimize that cost by improving the model’s accuracy. The accuracy needed will be distinct, depending on the requirement. The approximation is often sufficient, which can result in a massive decrease in processing time. However, approximate techniques are likely to result in overfitting of the training dataset. </a:t>
            </a:r>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10</a:t>
            </a:fld>
            <a:endParaRPr lang="en-IE" dirty="0"/>
          </a:p>
        </p:txBody>
      </p:sp>
    </p:spTree>
    <p:extLst>
      <p:ext uri="{BB962C8B-B14F-4D97-AF65-F5344CB8AC3E}">
        <p14:creationId xmlns:p14="http://schemas.microsoft.com/office/powerpoint/2010/main" val="2380099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11</a:t>
            </a:fld>
            <a:endParaRPr lang="en-IE" dirty="0"/>
          </a:p>
        </p:txBody>
      </p:sp>
    </p:spTree>
    <p:extLst>
      <p:ext uri="{BB962C8B-B14F-4D97-AF65-F5344CB8AC3E}">
        <p14:creationId xmlns:p14="http://schemas.microsoft.com/office/powerpoint/2010/main" val="1944364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211D1E"/>
                </a:solidFill>
                <a:latin typeface="Times LT Std"/>
              </a:rPr>
              <a:t>During these iterations and refinement of the model, document the answers to the questions below to access the model efficiency: </a:t>
            </a:r>
          </a:p>
          <a:p>
            <a:r>
              <a:rPr lang="en-US" sz="1800" b="0" i="0" u="none" strike="noStrike" baseline="0" dirty="0">
                <a:solidFill>
                  <a:srgbClr val="211D1E"/>
                </a:solidFill>
                <a:latin typeface="Times LT Std"/>
              </a:rPr>
              <a:t>• Does the model look plausible and accurate on the test and validation data? </a:t>
            </a:r>
          </a:p>
          <a:p>
            <a:r>
              <a:rPr lang="en-US" sz="1800" b="0" i="0" u="none" strike="noStrike" baseline="0" dirty="0">
                <a:solidFill>
                  <a:srgbClr val="211D1E"/>
                </a:solidFill>
                <a:latin typeface="Times LT Std"/>
              </a:rPr>
              <a:t>• Does the model output/behavior make sense to the domain experts and SMEs? In other words, does it look like the model is providing “the right answers” or answers that make sense in the business context? </a:t>
            </a:r>
          </a:p>
          <a:p>
            <a:r>
              <a:rPr lang="en-US" sz="1800" b="0" i="0" u="none" strike="noStrike" baseline="0" dirty="0">
                <a:solidFill>
                  <a:srgbClr val="211D1E"/>
                </a:solidFill>
                <a:latin typeface="Times LT Std"/>
              </a:rPr>
              <a:t>• Does the model accurate enough to meet the success criteria? (efficiency, performance, and other key performance matrix defined in phase1) </a:t>
            </a:r>
          </a:p>
          <a:p>
            <a:r>
              <a:rPr lang="en-US" sz="1800" b="0" i="0" u="none" strike="noStrike" baseline="0" dirty="0">
                <a:solidFill>
                  <a:srgbClr val="211D1E"/>
                </a:solidFill>
                <a:latin typeface="Times LT Std"/>
              </a:rPr>
              <a:t>• Does the model avoid the kind of mistakes it needs to avoid? Depending on the context, false positives may be more serious or less serious than false negatives, for instance. </a:t>
            </a:r>
          </a:p>
          <a:p>
            <a:r>
              <a:rPr lang="en-US" sz="1800" b="0" i="0" u="none" strike="noStrike" baseline="0" dirty="0">
                <a:solidFill>
                  <a:srgbClr val="211D1E"/>
                </a:solidFill>
                <a:latin typeface="Times LT Std"/>
              </a:rPr>
              <a:t>• Do the parameter values of the fitted model make sense in the context of the business domain? </a:t>
            </a:r>
          </a:p>
          <a:p>
            <a:r>
              <a:rPr lang="en-US" sz="1800" b="0" i="0" u="none" strike="noStrike" baseline="0" dirty="0">
                <a:solidFill>
                  <a:srgbClr val="211D1E"/>
                </a:solidFill>
                <a:latin typeface="Times LT Std"/>
              </a:rPr>
              <a:t>• Do we need more data or more inputs? Do we need to transform or eliminate any of the inputs? </a:t>
            </a:r>
          </a:p>
          <a:p>
            <a:r>
              <a:rPr lang="en-US" sz="1800" b="0" i="0" u="none" strike="noStrike" baseline="0" dirty="0">
                <a:solidFill>
                  <a:srgbClr val="211D1E"/>
                </a:solidFill>
                <a:latin typeface="Times LT Std"/>
              </a:rPr>
              <a:t>• Do we need a different form of the model? Then, we will need to go back to the ML model planning phase (Phase 3) and revise the modeling approach. </a:t>
            </a:r>
          </a:p>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12</a:t>
            </a:fld>
            <a:endParaRPr lang="en-IE" dirty="0"/>
          </a:p>
        </p:txBody>
      </p:sp>
    </p:spTree>
    <p:extLst>
      <p:ext uri="{BB962C8B-B14F-4D97-AF65-F5344CB8AC3E}">
        <p14:creationId xmlns:p14="http://schemas.microsoft.com/office/powerpoint/2010/main" val="2016415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211D1E"/>
                </a:solidFill>
                <a:latin typeface="Times LT Std"/>
              </a:rPr>
              <a:t>Evaluate the models’ outcomes. </a:t>
            </a:r>
          </a:p>
          <a:p>
            <a:pPr lvl="1"/>
            <a:r>
              <a:rPr lang="en-US" sz="1800" b="0" i="0" u="none" strike="noStrike" baseline="0" dirty="0">
                <a:solidFill>
                  <a:srgbClr val="211D1E"/>
                </a:solidFill>
                <a:latin typeface="Times LT Std"/>
              </a:rPr>
              <a:t>• Do the findings appear to be statistically significant and consistent? If that’s the case, what characteristics/attributes of the outcomes stand out? If not, what changes do we need to make to the model to refine and iterate it to make it more sustainable? </a:t>
            </a:r>
          </a:p>
          <a:p>
            <a:pPr lvl="1"/>
            <a:r>
              <a:rPr lang="en-US" sz="1800" b="0" i="0" u="none" strike="noStrike" baseline="0" dirty="0">
                <a:solidFill>
                  <a:srgbClr val="211D1E"/>
                </a:solidFill>
                <a:latin typeface="Times LT Std"/>
              </a:rPr>
              <a:t>• Which facts/details surprised you, and which were consistent with your arriving hypotheses from Phase 1? Correlating the confirmed outcomes to the ideas we formulated early on usually results in additional ideas and insights that would have been missed if we hadn’t taken the effort to formulate IHs early on. </a:t>
            </a:r>
          </a:p>
          <a:p>
            <a:pPr lvl="1"/>
            <a:endParaRPr lang="en-US" sz="1800" b="0" i="0" u="none" strike="noStrike" baseline="0" dirty="0">
              <a:solidFill>
                <a:srgbClr val="211D1E"/>
              </a:solidFill>
              <a:latin typeface="Times LT Std"/>
            </a:endParaRPr>
          </a:p>
          <a:p>
            <a:r>
              <a:rPr lang="en-US" sz="1800" b="0" i="0" u="none" strike="noStrike" baseline="0" dirty="0">
                <a:solidFill>
                  <a:srgbClr val="211D1E"/>
                </a:solidFill>
                <a:latin typeface="Times LT Std"/>
              </a:rPr>
              <a:t>What data have been observed as a result of the analytics? </a:t>
            </a:r>
          </a:p>
          <a:p>
            <a:pPr lvl="1"/>
            <a:r>
              <a:rPr lang="en-US" sz="1800" b="0" i="0" u="none" strike="noStrike" baseline="0" dirty="0">
                <a:solidFill>
                  <a:srgbClr val="211D1E"/>
                </a:solidFill>
                <a:latin typeface="Times LT Std"/>
              </a:rPr>
              <a:t>• What are the most important discoveries from those? </a:t>
            </a:r>
          </a:p>
          <a:p>
            <a:pPr lvl="1"/>
            <a:r>
              <a:rPr lang="en-US" sz="1800" b="0" i="0" u="none" strike="noStrike" baseline="0" dirty="0">
                <a:solidFill>
                  <a:srgbClr val="211D1E"/>
                </a:solidFill>
                <a:latin typeface="Times LT Std"/>
              </a:rPr>
              <a:t>• Do these discoveries have any commercial value or significance? We may need to spend time quantifying the business implications of the results to help prepare for the presentation, depending on what emerged as a consequence of the model. </a:t>
            </a:r>
          </a:p>
          <a:p>
            <a:pPr lvl="1"/>
            <a:endParaRPr lang="en-US" sz="1800" b="0" i="0" u="none" strike="noStrike" baseline="0" dirty="0">
              <a:solidFill>
                <a:srgbClr val="211D1E"/>
              </a:solidFill>
              <a:latin typeface="Times LT Std"/>
            </a:endParaRPr>
          </a:p>
          <a:p>
            <a:pPr lvl="1"/>
            <a:r>
              <a:rPr lang="en-US" sz="1800" b="0" i="0" u="none" strike="noStrike" baseline="0" dirty="0">
                <a:solidFill>
                  <a:srgbClr val="211D1E"/>
                </a:solidFill>
                <a:latin typeface="Times LT Std"/>
              </a:rPr>
              <a:t>In this phase, we’ll evaluate the work’s benefits and set up a pilot so we may launch the work in a controlled manner before expanding it to a larger enterprise or ecosystem of consumers. We scored the model in the sandbox in step 4, and most analytics approaches implementing new analytical methods or models in a production environment for the first time in Phase 6. Therefore, instead of deploying this on a large scale, we advocate starting with a small pilot rollout. This approach will allow us to limit the risk relative to full-enterprise-wide deployment, learn about the performance and related constraints on a small scale, and make fine-tune adjustments before a full deployment. </a:t>
            </a:r>
          </a:p>
        </p:txBody>
      </p:sp>
      <p:sp>
        <p:nvSpPr>
          <p:cNvPr id="4" name="Slide Number Placeholder 3"/>
          <p:cNvSpPr>
            <a:spLocks noGrp="1"/>
          </p:cNvSpPr>
          <p:nvPr>
            <p:ph type="sldNum" sz="quarter" idx="5"/>
          </p:nvPr>
        </p:nvSpPr>
        <p:spPr/>
        <p:txBody>
          <a:bodyPr/>
          <a:lstStyle/>
          <a:p>
            <a:fld id="{5FE189D7-B945-4C6E-A732-12601E7AA3A8}" type="slidenum">
              <a:rPr lang="en-IE" smtClean="0"/>
              <a:t>13</a:t>
            </a:fld>
            <a:endParaRPr lang="en-IE" dirty="0"/>
          </a:p>
        </p:txBody>
      </p:sp>
    </p:spTree>
    <p:extLst>
      <p:ext uri="{BB962C8B-B14F-4D97-AF65-F5344CB8AC3E}">
        <p14:creationId xmlns:p14="http://schemas.microsoft.com/office/powerpoint/2010/main" val="2533773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14</a:t>
            </a:fld>
            <a:endParaRPr lang="en-IE" dirty="0"/>
          </a:p>
        </p:txBody>
      </p:sp>
    </p:spTree>
    <p:extLst>
      <p:ext uri="{BB962C8B-B14F-4D97-AF65-F5344CB8AC3E}">
        <p14:creationId xmlns:p14="http://schemas.microsoft.com/office/powerpoint/2010/main" val="4287050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15</a:t>
            </a:fld>
            <a:endParaRPr lang="en-IE" dirty="0"/>
          </a:p>
        </p:txBody>
      </p:sp>
    </p:spTree>
    <p:extLst>
      <p:ext uri="{BB962C8B-B14F-4D97-AF65-F5344CB8AC3E}">
        <p14:creationId xmlns:p14="http://schemas.microsoft.com/office/powerpoint/2010/main" val="747933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16</a:t>
            </a:fld>
            <a:endParaRPr lang="en-IE" dirty="0"/>
          </a:p>
        </p:txBody>
      </p:sp>
    </p:spTree>
    <p:extLst>
      <p:ext uri="{BB962C8B-B14F-4D97-AF65-F5344CB8AC3E}">
        <p14:creationId xmlns:p14="http://schemas.microsoft.com/office/powerpoint/2010/main" val="26518443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18</a:t>
            </a:fld>
            <a:endParaRPr lang="en-IE" dirty="0"/>
          </a:p>
        </p:txBody>
      </p:sp>
    </p:spTree>
    <p:extLst>
      <p:ext uri="{BB962C8B-B14F-4D97-AF65-F5344CB8AC3E}">
        <p14:creationId xmlns:p14="http://schemas.microsoft.com/office/powerpoint/2010/main" val="3629131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19</a:t>
            </a:fld>
            <a:endParaRPr lang="en-IE" dirty="0"/>
          </a:p>
        </p:txBody>
      </p:sp>
    </p:spTree>
    <p:extLst>
      <p:ext uri="{BB962C8B-B14F-4D97-AF65-F5344CB8AC3E}">
        <p14:creationId xmlns:p14="http://schemas.microsoft.com/office/powerpoint/2010/main" val="3026417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20</a:t>
            </a:fld>
            <a:endParaRPr lang="en-IE" dirty="0"/>
          </a:p>
        </p:txBody>
      </p:sp>
    </p:spTree>
    <p:extLst>
      <p:ext uri="{BB962C8B-B14F-4D97-AF65-F5344CB8AC3E}">
        <p14:creationId xmlns:p14="http://schemas.microsoft.com/office/powerpoint/2010/main" val="21924505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21</a:t>
            </a:fld>
            <a:endParaRPr lang="en-IE" dirty="0"/>
          </a:p>
        </p:txBody>
      </p:sp>
    </p:spTree>
    <p:extLst>
      <p:ext uri="{BB962C8B-B14F-4D97-AF65-F5344CB8AC3E}">
        <p14:creationId xmlns:p14="http://schemas.microsoft.com/office/powerpoint/2010/main" val="38947578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22</a:t>
            </a:fld>
            <a:endParaRPr lang="en-IE" dirty="0"/>
          </a:p>
        </p:txBody>
      </p:sp>
    </p:spTree>
    <p:extLst>
      <p:ext uri="{BB962C8B-B14F-4D97-AF65-F5344CB8AC3E}">
        <p14:creationId xmlns:p14="http://schemas.microsoft.com/office/powerpoint/2010/main" val="2329814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23</a:t>
            </a:fld>
            <a:endParaRPr lang="en-IE" dirty="0"/>
          </a:p>
        </p:txBody>
      </p:sp>
    </p:spTree>
    <p:extLst>
      <p:ext uri="{BB962C8B-B14F-4D97-AF65-F5344CB8AC3E}">
        <p14:creationId xmlns:p14="http://schemas.microsoft.com/office/powerpoint/2010/main" val="16096052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24</a:t>
            </a:fld>
            <a:endParaRPr lang="en-IE" dirty="0"/>
          </a:p>
        </p:txBody>
      </p:sp>
    </p:spTree>
    <p:extLst>
      <p:ext uri="{BB962C8B-B14F-4D97-AF65-F5344CB8AC3E}">
        <p14:creationId xmlns:p14="http://schemas.microsoft.com/office/powerpoint/2010/main" val="12807587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25</a:t>
            </a:fld>
            <a:endParaRPr lang="en-IE" dirty="0"/>
          </a:p>
        </p:txBody>
      </p:sp>
    </p:spTree>
    <p:extLst>
      <p:ext uri="{BB962C8B-B14F-4D97-AF65-F5344CB8AC3E}">
        <p14:creationId xmlns:p14="http://schemas.microsoft.com/office/powerpoint/2010/main" val="3735462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26</a:t>
            </a:fld>
            <a:endParaRPr lang="en-IE" dirty="0"/>
          </a:p>
        </p:txBody>
      </p:sp>
    </p:spTree>
    <p:extLst>
      <p:ext uri="{BB962C8B-B14F-4D97-AF65-F5344CB8AC3E}">
        <p14:creationId xmlns:p14="http://schemas.microsoft.com/office/powerpoint/2010/main" val="18049674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27</a:t>
            </a:fld>
            <a:endParaRPr lang="en-IE" dirty="0"/>
          </a:p>
        </p:txBody>
      </p:sp>
    </p:spTree>
    <p:extLst>
      <p:ext uri="{BB962C8B-B14F-4D97-AF65-F5344CB8AC3E}">
        <p14:creationId xmlns:p14="http://schemas.microsoft.com/office/powerpoint/2010/main" val="30697760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28</a:t>
            </a:fld>
            <a:endParaRPr lang="en-IE" dirty="0"/>
          </a:p>
        </p:txBody>
      </p:sp>
    </p:spTree>
    <p:extLst>
      <p:ext uri="{BB962C8B-B14F-4D97-AF65-F5344CB8AC3E}">
        <p14:creationId xmlns:p14="http://schemas.microsoft.com/office/powerpoint/2010/main" val="13836962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29</a:t>
            </a:fld>
            <a:endParaRPr lang="en-IE" dirty="0"/>
          </a:p>
        </p:txBody>
      </p:sp>
    </p:spTree>
    <p:extLst>
      <p:ext uri="{BB962C8B-B14F-4D97-AF65-F5344CB8AC3E}">
        <p14:creationId xmlns:p14="http://schemas.microsoft.com/office/powerpoint/2010/main" val="620708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30</a:t>
            </a:fld>
            <a:endParaRPr lang="en-IE" dirty="0"/>
          </a:p>
        </p:txBody>
      </p:sp>
    </p:spTree>
    <p:extLst>
      <p:ext uri="{BB962C8B-B14F-4D97-AF65-F5344CB8AC3E}">
        <p14:creationId xmlns:p14="http://schemas.microsoft.com/office/powerpoint/2010/main" val="1578169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31</a:t>
            </a:fld>
            <a:endParaRPr lang="en-IE" dirty="0"/>
          </a:p>
        </p:txBody>
      </p:sp>
    </p:spTree>
    <p:extLst>
      <p:ext uri="{BB962C8B-B14F-4D97-AF65-F5344CB8AC3E}">
        <p14:creationId xmlns:p14="http://schemas.microsoft.com/office/powerpoint/2010/main" val="11003410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32</a:t>
            </a:fld>
            <a:endParaRPr lang="en-IE" dirty="0"/>
          </a:p>
        </p:txBody>
      </p:sp>
    </p:spTree>
    <p:extLst>
      <p:ext uri="{BB962C8B-B14F-4D97-AF65-F5344CB8AC3E}">
        <p14:creationId xmlns:p14="http://schemas.microsoft.com/office/powerpoint/2010/main" val="22022065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33</a:t>
            </a:fld>
            <a:endParaRPr lang="en-IE" dirty="0"/>
          </a:p>
        </p:txBody>
      </p:sp>
    </p:spTree>
    <p:extLst>
      <p:ext uri="{BB962C8B-B14F-4D97-AF65-F5344CB8AC3E}">
        <p14:creationId xmlns:p14="http://schemas.microsoft.com/office/powerpoint/2010/main" val="27945585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34</a:t>
            </a:fld>
            <a:endParaRPr lang="en-IE" dirty="0"/>
          </a:p>
        </p:txBody>
      </p:sp>
    </p:spTree>
    <p:extLst>
      <p:ext uri="{BB962C8B-B14F-4D97-AF65-F5344CB8AC3E}">
        <p14:creationId xmlns:p14="http://schemas.microsoft.com/office/powerpoint/2010/main" val="38333247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35</a:t>
            </a:fld>
            <a:endParaRPr lang="en-IE" dirty="0"/>
          </a:p>
        </p:txBody>
      </p:sp>
    </p:spTree>
    <p:extLst>
      <p:ext uri="{BB962C8B-B14F-4D97-AF65-F5344CB8AC3E}">
        <p14:creationId xmlns:p14="http://schemas.microsoft.com/office/powerpoint/2010/main" val="22342298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36</a:t>
            </a:fld>
            <a:endParaRPr lang="en-IE" dirty="0"/>
          </a:p>
        </p:txBody>
      </p:sp>
    </p:spTree>
    <p:extLst>
      <p:ext uri="{BB962C8B-B14F-4D97-AF65-F5344CB8AC3E}">
        <p14:creationId xmlns:p14="http://schemas.microsoft.com/office/powerpoint/2010/main" val="7345709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37</a:t>
            </a:fld>
            <a:endParaRPr lang="en-IE" dirty="0"/>
          </a:p>
        </p:txBody>
      </p:sp>
    </p:spTree>
    <p:extLst>
      <p:ext uri="{BB962C8B-B14F-4D97-AF65-F5344CB8AC3E}">
        <p14:creationId xmlns:p14="http://schemas.microsoft.com/office/powerpoint/2010/main" val="12073390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38</a:t>
            </a:fld>
            <a:endParaRPr lang="en-IE" dirty="0"/>
          </a:p>
        </p:txBody>
      </p:sp>
    </p:spTree>
    <p:extLst>
      <p:ext uri="{BB962C8B-B14F-4D97-AF65-F5344CB8AC3E}">
        <p14:creationId xmlns:p14="http://schemas.microsoft.com/office/powerpoint/2010/main" val="8820990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39</a:t>
            </a:fld>
            <a:endParaRPr lang="en-IE" dirty="0"/>
          </a:p>
        </p:txBody>
      </p:sp>
    </p:spTree>
    <p:extLst>
      <p:ext uri="{BB962C8B-B14F-4D97-AF65-F5344CB8AC3E}">
        <p14:creationId xmlns:p14="http://schemas.microsoft.com/office/powerpoint/2010/main" val="19267958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40</a:t>
            </a:fld>
            <a:endParaRPr lang="en-IE" dirty="0"/>
          </a:p>
        </p:txBody>
      </p:sp>
    </p:spTree>
    <p:extLst>
      <p:ext uri="{BB962C8B-B14F-4D97-AF65-F5344CB8AC3E}">
        <p14:creationId xmlns:p14="http://schemas.microsoft.com/office/powerpoint/2010/main" val="40405289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41</a:t>
            </a:fld>
            <a:endParaRPr lang="en-IE" dirty="0"/>
          </a:p>
        </p:txBody>
      </p:sp>
    </p:spTree>
    <p:extLst>
      <p:ext uri="{BB962C8B-B14F-4D97-AF65-F5344CB8AC3E}">
        <p14:creationId xmlns:p14="http://schemas.microsoft.com/office/powerpoint/2010/main" val="16880209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42</a:t>
            </a:fld>
            <a:endParaRPr lang="en-IE" dirty="0"/>
          </a:p>
        </p:txBody>
      </p:sp>
    </p:spTree>
    <p:extLst>
      <p:ext uri="{BB962C8B-B14F-4D97-AF65-F5344CB8AC3E}">
        <p14:creationId xmlns:p14="http://schemas.microsoft.com/office/powerpoint/2010/main" val="33018754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43</a:t>
            </a:fld>
            <a:endParaRPr lang="en-IE" dirty="0"/>
          </a:p>
        </p:txBody>
      </p:sp>
    </p:spTree>
    <p:extLst>
      <p:ext uri="{BB962C8B-B14F-4D97-AF65-F5344CB8AC3E}">
        <p14:creationId xmlns:p14="http://schemas.microsoft.com/office/powerpoint/2010/main" val="29789087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44</a:t>
            </a:fld>
            <a:endParaRPr lang="en-IE" dirty="0"/>
          </a:p>
        </p:txBody>
      </p:sp>
    </p:spTree>
    <p:extLst>
      <p:ext uri="{BB962C8B-B14F-4D97-AF65-F5344CB8AC3E}">
        <p14:creationId xmlns:p14="http://schemas.microsoft.com/office/powerpoint/2010/main" val="4503453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45</a:t>
            </a:fld>
            <a:endParaRPr lang="en-IE" dirty="0"/>
          </a:p>
        </p:txBody>
      </p:sp>
    </p:spTree>
    <p:extLst>
      <p:ext uri="{BB962C8B-B14F-4D97-AF65-F5344CB8AC3E}">
        <p14:creationId xmlns:p14="http://schemas.microsoft.com/office/powerpoint/2010/main" val="31046534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46</a:t>
            </a:fld>
            <a:endParaRPr lang="en-IE" dirty="0"/>
          </a:p>
        </p:txBody>
      </p:sp>
    </p:spTree>
    <p:extLst>
      <p:ext uri="{BB962C8B-B14F-4D97-AF65-F5344CB8AC3E}">
        <p14:creationId xmlns:p14="http://schemas.microsoft.com/office/powerpoint/2010/main" val="35679053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47</a:t>
            </a:fld>
            <a:endParaRPr lang="en-IE" dirty="0"/>
          </a:p>
        </p:txBody>
      </p:sp>
    </p:spTree>
    <p:extLst>
      <p:ext uri="{BB962C8B-B14F-4D97-AF65-F5344CB8AC3E}">
        <p14:creationId xmlns:p14="http://schemas.microsoft.com/office/powerpoint/2010/main" val="28422390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48</a:t>
            </a:fld>
            <a:endParaRPr lang="en-IE" dirty="0"/>
          </a:p>
        </p:txBody>
      </p:sp>
    </p:spTree>
    <p:extLst>
      <p:ext uri="{BB962C8B-B14F-4D97-AF65-F5344CB8AC3E}">
        <p14:creationId xmlns:p14="http://schemas.microsoft.com/office/powerpoint/2010/main" val="1374943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49</a:t>
            </a:fld>
            <a:endParaRPr lang="en-IE" dirty="0"/>
          </a:p>
        </p:txBody>
      </p:sp>
    </p:spTree>
    <p:extLst>
      <p:ext uri="{BB962C8B-B14F-4D97-AF65-F5344CB8AC3E}">
        <p14:creationId xmlns:p14="http://schemas.microsoft.com/office/powerpoint/2010/main" val="16435554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50</a:t>
            </a:fld>
            <a:endParaRPr lang="en-IE" dirty="0"/>
          </a:p>
        </p:txBody>
      </p:sp>
    </p:spTree>
    <p:extLst>
      <p:ext uri="{BB962C8B-B14F-4D97-AF65-F5344CB8AC3E}">
        <p14:creationId xmlns:p14="http://schemas.microsoft.com/office/powerpoint/2010/main" val="4915655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51</a:t>
            </a:fld>
            <a:endParaRPr lang="en-IE" dirty="0"/>
          </a:p>
        </p:txBody>
      </p:sp>
    </p:spTree>
    <p:extLst>
      <p:ext uri="{BB962C8B-B14F-4D97-AF65-F5344CB8AC3E}">
        <p14:creationId xmlns:p14="http://schemas.microsoft.com/office/powerpoint/2010/main" val="11319086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52</a:t>
            </a:fld>
            <a:endParaRPr lang="en-IE" dirty="0"/>
          </a:p>
        </p:txBody>
      </p:sp>
    </p:spTree>
    <p:extLst>
      <p:ext uri="{BB962C8B-B14F-4D97-AF65-F5344CB8AC3E}">
        <p14:creationId xmlns:p14="http://schemas.microsoft.com/office/powerpoint/2010/main" val="41335165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53</a:t>
            </a:fld>
            <a:endParaRPr lang="en-IE" dirty="0"/>
          </a:p>
        </p:txBody>
      </p:sp>
    </p:spTree>
    <p:extLst>
      <p:ext uri="{BB962C8B-B14F-4D97-AF65-F5344CB8AC3E}">
        <p14:creationId xmlns:p14="http://schemas.microsoft.com/office/powerpoint/2010/main" val="7543036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54</a:t>
            </a:fld>
            <a:endParaRPr lang="en-IE" dirty="0"/>
          </a:p>
        </p:txBody>
      </p:sp>
    </p:spTree>
    <p:extLst>
      <p:ext uri="{BB962C8B-B14F-4D97-AF65-F5344CB8AC3E}">
        <p14:creationId xmlns:p14="http://schemas.microsoft.com/office/powerpoint/2010/main" val="35289142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55</a:t>
            </a:fld>
            <a:endParaRPr lang="en-IE" dirty="0"/>
          </a:p>
        </p:txBody>
      </p:sp>
    </p:spTree>
    <p:extLst>
      <p:ext uri="{BB962C8B-B14F-4D97-AF65-F5344CB8AC3E}">
        <p14:creationId xmlns:p14="http://schemas.microsoft.com/office/powerpoint/2010/main" val="612119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80792-4DD2-43E8-AD4E-3BDD44BB89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0D4D5C5D-2030-4EB0-A45D-DB8EC7DE11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5BC19E8F-D0EF-455A-9B86-E7179E757EEE}"/>
              </a:ext>
            </a:extLst>
          </p:cNvPr>
          <p:cNvSpPr>
            <a:spLocks noGrp="1"/>
          </p:cNvSpPr>
          <p:nvPr>
            <p:ph type="dt" sz="half" idx="10"/>
          </p:nvPr>
        </p:nvSpPr>
        <p:spPr/>
        <p:txBody>
          <a:bodyPr/>
          <a:lstStyle/>
          <a:p>
            <a:fld id="{CF94F51A-D2DC-4AFF-B4FA-3B0B18E434C0}" type="datetime1">
              <a:rPr lang="en-IE" smtClean="0"/>
              <a:t>01/10/2026</a:t>
            </a:fld>
            <a:endParaRPr lang="en-IE" dirty="0"/>
          </a:p>
        </p:txBody>
      </p:sp>
      <p:sp>
        <p:nvSpPr>
          <p:cNvPr id="5" name="Footer Placeholder 4">
            <a:extLst>
              <a:ext uri="{FF2B5EF4-FFF2-40B4-BE49-F238E27FC236}">
                <a16:creationId xmlns:a16="http://schemas.microsoft.com/office/drawing/2014/main" id="{398AF3B4-B105-4FED-B1F9-D18311463612}"/>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C6E63D34-DDC2-48E6-A183-F47DD93A3A7E}"/>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3729016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9D05-B309-4CF2-9E9F-A33B65BEC93B}"/>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A6B9FEE7-0E7F-4C28-B202-5A27AB3820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CBB3AFE0-3133-44DB-91FC-A2DA5127682F}"/>
              </a:ext>
            </a:extLst>
          </p:cNvPr>
          <p:cNvSpPr>
            <a:spLocks noGrp="1"/>
          </p:cNvSpPr>
          <p:nvPr>
            <p:ph type="dt" sz="half" idx="10"/>
          </p:nvPr>
        </p:nvSpPr>
        <p:spPr/>
        <p:txBody>
          <a:bodyPr/>
          <a:lstStyle/>
          <a:p>
            <a:fld id="{3D01B0D2-CA43-4E8D-96DC-CD858A4A9794}" type="datetime1">
              <a:rPr lang="en-IE" smtClean="0"/>
              <a:t>01/10/2026</a:t>
            </a:fld>
            <a:endParaRPr lang="en-IE" dirty="0"/>
          </a:p>
        </p:txBody>
      </p:sp>
      <p:sp>
        <p:nvSpPr>
          <p:cNvPr id="5" name="Footer Placeholder 4">
            <a:extLst>
              <a:ext uri="{FF2B5EF4-FFF2-40B4-BE49-F238E27FC236}">
                <a16:creationId xmlns:a16="http://schemas.microsoft.com/office/drawing/2014/main" id="{E43FCE65-6439-4C29-AF49-783B0908A24B}"/>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BB49EF9C-823C-4362-AAC2-D6ECB714477F}"/>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4166402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1403-8413-496B-AE26-0EA3F9CC09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22207E7F-1914-4338-B109-E9E252B2EC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5BACFC-4C46-4942-B97C-91AFE25AB65D}"/>
              </a:ext>
            </a:extLst>
          </p:cNvPr>
          <p:cNvSpPr>
            <a:spLocks noGrp="1"/>
          </p:cNvSpPr>
          <p:nvPr>
            <p:ph type="dt" sz="half" idx="10"/>
          </p:nvPr>
        </p:nvSpPr>
        <p:spPr/>
        <p:txBody>
          <a:bodyPr/>
          <a:lstStyle/>
          <a:p>
            <a:fld id="{C86B17C7-8F0E-4FEC-8CDF-7FC9A04137F4}" type="datetime1">
              <a:rPr lang="en-IE" smtClean="0"/>
              <a:t>01/10/2026</a:t>
            </a:fld>
            <a:endParaRPr lang="en-IE" dirty="0"/>
          </a:p>
        </p:txBody>
      </p:sp>
      <p:sp>
        <p:nvSpPr>
          <p:cNvPr id="5" name="Footer Placeholder 4">
            <a:extLst>
              <a:ext uri="{FF2B5EF4-FFF2-40B4-BE49-F238E27FC236}">
                <a16:creationId xmlns:a16="http://schemas.microsoft.com/office/drawing/2014/main" id="{9DB14C1B-3C61-4642-804A-8E66BF2A71E7}"/>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7A789E8A-1745-4083-807C-30BE83F82749}"/>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342106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AB192-72D9-494B-804A-6D0C02FF590D}"/>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FFC14D28-4770-4C75-AF27-3FA18D6D02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3F841742-217F-45FF-8F1F-F2EA5FCA78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344D4F06-2B19-4DC1-A4F2-DE1205C63437}"/>
              </a:ext>
            </a:extLst>
          </p:cNvPr>
          <p:cNvSpPr>
            <a:spLocks noGrp="1"/>
          </p:cNvSpPr>
          <p:nvPr>
            <p:ph type="dt" sz="half" idx="10"/>
          </p:nvPr>
        </p:nvSpPr>
        <p:spPr/>
        <p:txBody>
          <a:bodyPr/>
          <a:lstStyle/>
          <a:p>
            <a:fld id="{FBB6BE72-BA9A-40EC-8A8A-FBD6D2EE6EF9}" type="datetime1">
              <a:rPr lang="en-IE" smtClean="0"/>
              <a:t>01/10/2026</a:t>
            </a:fld>
            <a:endParaRPr lang="en-IE" dirty="0"/>
          </a:p>
        </p:txBody>
      </p:sp>
      <p:sp>
        <p:nvSpPr>
          <p:cNvPr id="6" name="Footer Placeholder 5">
            <a:extLst>
              <a:ext uri="{FF2B5EF4-FFF2-40B4-BE49-F238E27FC236}">
                <a16:creationId xmlns:a16="http://schemas.microsoft.com/office/drawing/2014/main" id="{20A74D94-7B25-4225-918B-49FAA5F61F58}"/>
              </a:ext>
            </a:extLst>
          </p:cNvPr>
          <p:cNvSpPr>
            <a:spLocks noGrp="1"/>
          </p:cNvSpPr>
          <p:nvPr>
            <p:ph type="ftr" sz="quarter" idx="11"/>
          </p:nvPr>
        </p:nvSpPr>
        <p:spPr/>
        <p:txBody>
          <a:bodyPr/>
          <a:lstStyle/>
          <a:p>
            <a:endParaRPr lang="en-IE" dirty="0"/>
          </a:p>
        </p:txBody>
      </p:sp>
      <p:sp>
        <p:nvSpPr>
          <p:cNvPr id="7" name="Slide Number Placeholder 6">
            <a:extLst>
              <a:ext uri="{FF2B5EF4-FFF2-40B4-BE49-F238E27FC236}">
                <a16:creationId xmlns:a16="http://schemas.microsoft.com/office/drawing/2014/main" id="{874219E1-2494-4C76-9430-8313F5D8F522}"/>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329228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3318B-27DC-4767-A261-56AF72A39524}"/>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395AF1C4-66D0-43BD-8ABE-C4A8F54BBE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674BA8-3629-4A1C-A52B-755119FD16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10B7B061-3915-4D54-A8C7-78FB2A85AD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3A875E-97AD-4322-85F8-9A970612F8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72B50FE7-79D6-4C19-83C3-D1CD72334EF6}"/>
              </a:ext>
            </a:extLst>
          </p:cNvPr>
          <p:cNvSpPr>
            <a:spLocks noGrp="1"/>
          </p:cNvSpPr>
          <p:nvPr>
            <p:ph type="dt" sz="half" idx="10"/>
          </p:nvPr>
        </p:nvSpPr>
        <p:spPr/>
        <p:txBody>
          <a:bodyPr/>
          <a:lstStyle/>
          <a:p>
            <a:fld id="{67D973EF-CEBB-4A37-A4F9-C1FAF367C422}" type="datetime1">
              <a:rPr lang="en-IE" smtClean="0"/>
              <a:t>01/10/2026</a:t>
            </a:fld>
            <a:endParaRPr lang="en-IE" dirty="0"/>
          </a:p>
        </p:txBody>
      </p:sp>
      <p:sp>
        <p:nvSpPr>
          <p:cNvPr id="8" name="Footer Placeholder 7">
            <a:extLst>
              <a:ext uri="{FF2B5EF4-FFF2-40B4-BE49-F238E27FC236}">
                <a16:creationId xmlns:a16="http://schemas.microsoft.com/office/drawing/2014/main" id="{8E40C1C6-E090-4E30-B417-577881BDC1D3}"/>
              </a:ext>
            </a:extLst>
          </p:cNvPr>
          <p:cNvSpPr>
            <a:spLocks noGrp="1"/>
          </p:cNvSpPr>
          <p:nvPr>
            <p:ph type="ftr" sz="quarter" idx="11"/>
          </p:nvPr>
        </p:nvSpPr>
        <p:spPr/>
        <p:txBody>
          <a:bodyPr/>
          <a:lstStyle/>
          <a:p>
            <a:endParaRPr lang="en-IE" dirty="0"/>
          </a:p>
        </p:txBody>
      </p:sp>
      <p:sp>
        <p:nvSpPr>
          <p:cNvPr id="9" name="Slide Number Placeholder 8">
            <a:extLst>
              <a:ext uri="{FF2B5EF4-FFF2-40B4-BE49-F238E27FC236}">
                <a16:creationId xmlns:a16="http://schemas.microsoft.com/office/drawing/2014/main" id="{B32E8F11-1B60-4375-8440-9D92C14781CC}"/>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4060724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F5AD-BF38-4087-999C-5DBB647F6EF9}"/>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CFD52F1B-CB6F-4ADB-8228-9A4C7FFA0459}"/>
              </a:ext>
            </a:extLst>
          </p:cNvPr>
          <p:cNvSpPr>
            <a:spLocks noGrp="1"/>
          </p:cNvSpPr>
          <p:nvPr>
            <p:ph type="dt" sz="half" idx="10"/>
          </p:nvPr>
        </p:nvSpPr>
        <p:spPr/>
        <p:txBody>
          <a:bodyPr/>
          <a:lstStyle/>
          <a:p>
            <a:fld id="{D90709DC-E021-4C2C-B04F-67997C870912}" type="datetime1">
              <a:rPr lang="en-IE" smtClean="0"/>
              <a:t>01/10/2026</a:t>
            </a:fld>
            <a:endParaRPr lang="en-IE" dirty="0"/>
          </a:p>
        </p:txBody>
      </p:sp>
      <p:sp>
        <p:nvSpPr>
          <p:cNvPr id="4" name="Footer Placeholder 3">
            <a:extLst>
              <a:ext uri="{FF2B5EF4-FFF2-40B4-BE49-F238E27FC236}">
                <a16:creationId xmlns:a16="http://schemas.microsoft.com/office/drawing/2014/main" id="{16F8AEDB-B771-428D-AEF5-1B6A73A8A6B7}"/>
              </a:ext>
            </a:extLst>
          </p:cNvPr>
          <p:cNvSpPr>
            <a:spLocks noGrp="1"/>
          </p:cNvSpPr>
          <p:nvPr>
            <p:ph type="ftr" sz="quarter" idx="11"/>
          </p:nvPr>
        </p:nvSpPr>
        <p:spPr/>
        <p:txBody>
          <a:bodyPr/>
          <a:lstStyle/>
          <a:p>
            <a:endParaRPr lang="en-IE" dirty="0"/>
          </a:p>
        </p:txBody>
      </p:sp>
      <p:sp>
        <p:nvSpPr>
          <p:cNvPr id="5" name="Slide Number Placeholder 4">
            <a:extLst>
              <a:ext uri="{FF2B5EF4-FFF2-40B4-BE49-F238E27FC236}">
                <a16:creationId xmlns:a16="http://schemas.microsoft.com/office/drawing/2014/main" id="{EC4553B9-371F-4E8F-BEEA-9A4941785FB3}"/>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1386272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FD20E4-716D-4BD9-8C9F-914662AEA8C7}"/>
              </a:ext>
            </a:extLst>
          </p:cNvPr>
          <p:cNvSpPr>
            <a:spLocks noGrp="1"/>
          </p:cNvSpPr>
          <p:nvPr>
            <p:ph type="dt" sz="half" idx="10"/>
          </p:nvPr>
        </p:nvSpPr>
        <p:spPr/>
        <p:txBody>
          <a:bodyPr/>
          <a:lstStyle/>
          <a:p>
            <a:fld id="{231BEB25-D0F4-46A1-82C1-626EC6F75837}" type="datetime1">
              <a:rPr lang="en-IE" smtClean="0"/>
              <a:t>01/10/2026</a:t>
            </a:fld>
            <a:endParaRPr lang="en-IE" dirty="0"/>
          </a:p>
        </p:txBody>
      </p:sp>
      <p:sp>
        <p:nvSpPr>
          <p:cNvPr id="3" name="Footer Placeholder 2">
            <a:extLst>
              <a:ext uri="{FF2B5EF4-FFF2-40B4-BE49-F238E27FC236}">
                <a16:creationId xmlns:a16="http://schemas.microsoft.com/office/drawing/2014/main" id="{50DBC8AD-F874-42F6-A514-31E07C2B58F1}"/>
              </a:ext>
            </a:extLst>
          </p:cNvPr>
          <p:cNvSpPr>
            <a:spLocks noGrp="1"/>
          </p:cNvSpPr>
          <p:nvPr>
            <p:ph type="ftr" sz="quarter" idx="11"/>
          </p:nvPr>
        </p:nvSpPr>
        <p:spPr/>
        <p:txBody>
          <a:bodyPr/>
          <a:lstStyle/>
          <a:p>
            <a:endParaRPr lang="en-IE" dirty="0"/>
          </a:p>
        </p:txBody>
      </p:sp>
      <p:sp>
        <p:nvSpPr>
          <p:cNvPr id="4" name="Slide Number Placeholder 3">
            <a:extLst>
              <a:ext uri="{FF2B5EF4-FFF2-40B4-BE49-F238E27FC236}">
                <a16:creationId xmlns:a16="http://schemas.microsoft.com/office/drawing/2014/main" id="{43F1A853-A0A7-43CA-9BA4-A3C3BE18C7ED}"/>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3856748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07BA5-E157-4E7F-BC7A-CB412A8740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60E60BA1-E38E-4346-8A9A-BD67509F1C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260A12E4-AD26-4442-AAE8-AD8E7E407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9416BA-FF4C-4290-850D-EAF0F3A3ECAB}"/>
              </a:ext>
            </a:extLst>
          </p:cNvPr>
          <p:cNvSpPr>
            <a:spLocks noGrp="1"/>
          </p:cNvSpPr>
          <p:nvPr>
            <p:ph type="dt" sz="half" idx="10"/>
          </p:nvPr>
        </p:nvSpPr>
        <p:spPr/>
        <p:txBody>
          <a:bodyPr/>
          <a:lstStyle/>
          <a:p>
            <a:fld id="{7222E2EE-FEBC-455E-87E8-AB09DD98FB08}" type="datetime1">
              <a:rPr lang="en-IE" smtClean="0"/>
              <a:t>01/10/2026</a:t>
            </a:fld>
            <a:endParaRPr lang="en-IE" dirty="0"/>
          </a:p>
        </p:txBody>
      </p:sp>
      <p:sp>
        <p:nvSpPr>
          <p:cNvPr id="6" name="Footer Placeholder 5">
            <a:extLst>
              <a:ext uri="{FF2B5EF4-FFF2-40B4-BE49-F238E27FC236}">
                <a16:creationId xmlns:a16="http://schemas.microsoft.com/office/drawing/2014/main" id="{2478B5B4-156A-4C83-84FD-9E1698124300}"/>
              </a:ext>
            </a:extLst>
          </p:cNvPr>
          <p:cNvSpPr>
            <a:spLocks noGrp="1"/>
          </p:cNvSpPr>
          <p:nvPr>
            <p:ph type="ftr" sz="quarter" idx="11"/>
          </p:nvPr>
        </p:nvSpPr>
        <p:spPr/>
        <p:txBody>
          <a:bodyPr/>
          <a:lstStyle/>
          <a:p>
            <a:endParaRPr lang="en-IE" dirty="0"/>
          </a:p>
        </p:txBody>
      </p:sp>
      <p:sp>
        <p:nvSpPr>
          <p:cNvPr id="7" name="Slide Number Placeholder 6">
            <a:extLst>
              <a:ext uri="{FF2B5EF4-FFF2-40B4-BE49-F238E27FC236}">
                <a16:creationId xmlns:a16="http://schemas.microsoft.com/office/drawing/2014/main" id="{B8589213-5065-49FD-B883-8D195BE83DC8}"/>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308636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DB80-9408-4EC1-8C20-80505438B8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D72F24E1-3D90-4F50-9438-EE18C8C14C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E" dirty="0"/>
          </a:p>
        </p:txBody>
      </p:sp>
      <p:sp>
        <p:nvSpPr>
          <p:cNvPr id="4" name="Text Placeholder 3">
            <a:extLst>
              <a:ext uri="{FF2B5EF4-FFF2-40B4-BE49-F238E27FC236}">
                <a16:creationId xmlns:a16="http://schemas.microsoft.com/office/drawing/2014/main" id="{E96A542F-58D1-4A08-A01A-56DEAAE122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877D36-CA0A-4D94-A0A3-DBAD52AFF198}"/>
              </a:ext>
            </a:extLst>
          </p:cNvPr>
          <p:cNvSpPr>
            <a:spLocks noGrp="1"/>
          </p:cNvSpPr>
          <p:nvPr>
            <p:ph type="dt" sz="half" idx="10"/>
          </p:nvPr>
        </p:nvSpPr>
        <p:spPr/>
        <p:txBody>
          <a:bodyPr/>
          <a:lstStyle/>
          <a:p>
            <a:fld id="{1B9C15D2-DBEE-4941-AFC6-F3AF88412BFC}" type="datetime1">
              <a:rPr lang="en-IE" smtClean="0"/>
              <a:t>01/10/2026</a:t>
            </a:fld>
            <a:endParaRPr lang="en-IE" dirty="0"/>
          </a:p>
        </p:txBody>
      </p:sp>
      <p:sp>
        <p:nvSpPr>
          <p:cNvPr id="6" name="Footer Placeholder 5">
            <a:extLst>
              <a:ext uri="{FF2B5EF4-FFF2-40B4-BE49-F238E27FC236}">
                <a16:creationId xmlns:a16="http://schemas.microsoft.com/office/drawing/2014/main" id="{B227FC1A-906E-427B-B5D3-BC0F44A553A6}"/>
              </a:ext>
            </a:extLst>
          </p:cNvPr>
          <p:cNvSpPr>
            <a:spLocks noGrp="1"/>
          </p:cNvSpPr>
          <p:nvPr>
            <p:ph type="ftr" sz="quarter" idx="11"/>
          </p:nvPr>
        </p:nvSpPr>
        <p:spPr/>
        <p:txBody>
          <a:bodyPr/>
          <a:lstStyle/>
          <a:p>
            <a:endParaRPr lang="en-IE" dirty="0"/>
          </a:p>
        </p:txBody>
      </p:sp>
      <p:sp>
        <p:nvSpPr>
          <p:cNvPr id="7" name="Slide Number Placeholder 6">
            <a:extLst>
              <a:ext uri="{FF2B5EF4-FFF2-40B4-BE49-F238E27FC236}">
                <a16:creationId xmlns:a16="http://schemas.microsoft.com/office/drawing/2014/main" id="{227EED7D-A169-450F-9706-8577D05FFDC4}"/>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2358766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72545-F002-43EF-89BE-B7EC23E00A89}"/>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30038436-4068-4171-8621-2C5656C8EB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44D7FA5-1F5A-4E82-9D62-02EB32E428A7}"/>
              </a:ext>
            </a:extLst>
          </p:cNvPr>
          <p:cNvSpPr>
            <a:spLocks noGrp="1"/>
          </p:cNvSpPr>
          <p:nvPr>
            <p:ph type="dt" sz="half" idx="10"/>
          </p:nvPr>
        </p:nvSpPr>
        <p:spPr/>
        <p:txBody>
          <a:bodyPr/>
          <a:lstStyle/>
          <a:p>
            <a:fld id="{6859D9BE-E654-4D03-9502-5E0CE7B89AB4}" type="datetime1">
              <a:rPr lang="en-IE" smtClean="0"/>
              <a:t>01/10/2026</a:t>
            </a:fld>
            <a:endParaRPr lang="en-IE" dirty="0"/>
          </a:p>
        </p:txBody>
      </p:sp>
      <p:sp>
        <p:nvSpPr>
          <p:cNvPr id="5" name="Footer Placeholder 4">
            <a:extLst>
              <a:ext uri="{FF2B5EF4-FFF2-40B4-BE49-F238E27FC236}">
                <a16:creationId xmlns:a16="http://schemas.microsoft.com/office/drawing/2014/main" id="{B55817B6-862E-4FC1-A0E4-360DF7C32B9E}"/>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E95BDE29-75B6-41DA-8F14-166755AFABD0}"/>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3231862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4913E9-282C-4904-84D2-22AA334601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5FB0D662-2685-416B-89C7-9563E8DC58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BA08532C-799E-48B6-BC95-D4679DC9224C}"/>
              </a:ext>
            </a:extLst>
          </p:cNvPr>
          <p:cNvSpPr>
            <a:spLocks noGrp="1"/>
          </p:cNvSpPr>
          <p:nvPr>
            <p:ph type="dt" sz="half" idx="10"/>
          </p:nvPr>
        </p:nvSpPr>
        <p:spPr/>
        <p:txBody>
          <a:bodyPr/>
          <a:lstStyle/>
          <a:p>
            <a:fld id="{F7524562-A9FD-40C1-9460-9D624D6EB044}" type="datetime1">
              <a:rPr lang="en-IE" smtClean="0"/>
              <a:t>01/10/2026</a:t>
            </a:fld>
            <a:endParaRPr lang="en-IE" dirty="0"/>
          </a:p>
        </p:txBody>
      </p:sp>
      <p:sp>
        <p:nvSpPr>
          <p:cNvPr id="5" name="Footer Placeholder 4">
            <a:extLst>
              <a:ext uri="{FF2B5EF4-FFF2-40B4-BE49-F238E27FC236}">
                <a16:creationId xmlns:a16="http://schemas.microsoft.com/office/drawing/2014/main" id="{57CA227F-4597-464F-9A12-523E0B283382}"/>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1D7CE98C-0107-4208-8A91-287F7EA70FC8}"/>
              </a:ext>
            </a:extLst>
          </p:cNvPr>
          <p:cNvSpPr>
            <a:spLocks noGrp="1"/>
          </p:cNvSpPr>
          <p:nvPr>
            <p:ph type="sldNum" sz="quarter" idx="12"/>
          </p:nvPr>
        </p:nvSpPr>
        <p:spPr/>
        <p:txBody>
          <a:bodyPr/>
          <a:lstStyle/>
          <a:p>
            <a:fld id="{6BB990B3-97D0-410A-9AD4-382F6AD57B9A}" type="slidenum">
              <a:rPr lang="en-IE" smtClean="0"/>
              <a:t>‹#›</a:t>
            </a:fld>
            <a:endParaRPr lang="en-IE" dirty="0"/>
          </a:p>
        </p:txBody>
      </p:sp>
    </p:spTree>
    <p:extLst>
      <p:ext uri="{BB962C8B-B14F-4D97-AF65-F5344CB8AC3E}">
        <p14:creationId xmlns:p14="http://schemas.microsoft.com/office/powerpoint/2010/main" val="1604000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8606EB-E4F0-48DF-876F-EBC9A7CBD1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F193B426-6E3D-4483-BE6A-0D2621F46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DF607AD1-7754-4103-A0D2-9839560A5D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4E8FA0-6274-4B22-9213-07B12C115676}" type="datetime1">
              <a:rPr lang="en-IE" smtClean="0"/>
              <a:t>01/10/2026</a:t>
            </a:fld>
            <a:endParaRPr lang="en-IE" dirty="0"/>
          </a:p>
        </p:txBody>
      </p:sp>
      <p:sp>
        <p:nvSpPr>
          <p:cNvPr id="5" name="Footer Placeholder 4">
            <a:extLst>
              <a:ext uri="{FF2B5EF4-FFF2-40B4-BE49-F238E27FC236}">
                <a16:creationId xmlns:a16="http://schemas.microsoft.com/office/drawing/2014/main" id="{34D18D88-B868-4AB7-BA5B-7E02407CB4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dirty="0"/>
          </a:p>
        </p:txBody>
      </p:sp>
      <p:sp>
        <p:nvSpPr>
          <p:cNvPr id="6" name="Slide Number Placeholder 5">
            <a:extLst>
              <a:ext uri="{FF2B5EF4-FFF2-40B4-BE49-F238E27FC236}">
                <a16:creationId xmlns:a16="http://schemas.microsoft.com/office/drawing/2014/main" id="{75BC0AE6-04F5-42BA-A385-EED824BAAD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B990B3-97D0-410A-9AD4-382F6AD57B9A}" type="slidenum">
              <a:rPr lang="en-IE" smtClean="0"/>
              <a:t>‹#›</a:t>
            </a:fld>
            <a:endParaRPr lang="en-IE" dirty="0"/>
          </a:p>
        </p:txBody>
      </p:sp>
    </p:spTree>
    <p:extLst>
      <p:ext uri="{BB962C8B-B14F-4D97-AF65-F5344CB8AC3E}">
        <p14:creationId xmlns:p14="http://schemas.microsoft.com/office/powerpoint/2010/main" val="1886927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arge building in the background&#10;&#10;Description automatically generated">
            <a:extLst>
              <a:ext uri="{FF2B5EF4-FFF2-40B4-BE49-F238E27FC236}">
                <a16:creationId xmlns:a16="http://schemas.microsoft.com/office/drawing/2014/main" id="{A7CE57C3-994F-48B6-853A-246BB3DE0D91}"/>
              </a:ext>
            </a:extLst>
          </p:cNvPr>
          <p:cNvPicPr>
            <a:picLocks noChangeAspect="1"/>
          </p:cNvPicPr>
          <p:nvPr/>
        </p:nvPicPr>
        <p:blipFill rotWithShape="1">
          <a:blip r:embed="rId2">
            <a:extLst>
              <a:ext uri="{28A0092B-C50C-407E-A947-70E740481C1C}">
                <a14:useLocalDpi xmlns:a14="http://schemas.microsoft.com/office/drawing/2010/main" val="0"/>
              </a:ext>
            </a:extLst>
          </a:blip>
          <a:srcRect l="1607" t="1724"/>
          <a:stretch/>
        </p:blipFill>
        <p:spPr>
          <a:xfrm>
            <a:off x="1" y="0"/>
            <a:ext cx="5672668" cy="5283200"/>
          </a:xfrm>
          <a:prstGeom prst="rect">
            <a:avLst/>
          </a:prstGeom>
        </p:spPr>
      </p:pic>
      <p:pic>
        <p:nvPicPr>
          <p:cNvPr id="7" name="Picture 6" descr="A picture containing object, sitting, computer, computer&#10;&#10;Description automatically generated">
            <a:extLst>
              <a:ext uri="{FF2B5EF4-FFF2-40B4-BE49-F238E27FC236}">
                <a16:creationId xmlns:a16="http://schemas.microsoft.com/office/drawing/2014/main" id="{EB854EEA-1FD7-4ADA-BB06-59D772A596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4960" y="5189724"/>
            <a:ext cx="4875866" cy="937387"/>
          </a:xfrm>
          <a:prstGeom prst="rect">
            <a:avLst/>
          </a:prstGeom>
        </p:spPr>
      </p:pic>
      <p:sp>
        <p:nvSpPr>
          <p:cNvPr id="4" name="Title 1">
            <a:extLst>
              <a:ext uri="{FF2B5EF4-FFF2-40B4-BE49-F238E27FC236}">
                <a16:creationId xmlns:a16="http://schemas.microsoft.com/office/drawing/2014/main" id="{F017EDB3-A8D0-45F0-BAC2-8905FE5F05F5}"/>
              </a:ext>
            </a:extLst>
          </p:cNvPr>
          <p:cNvSpPr>
            <a:spLocks noGrp="1"/>
          </p:cNvSpPr>
          <p:nvPr>
            <p:ph type="ctrTitle"/>
          </p:nvPr>
        </p:nvSpPr>
        <p:spPr>
          <a:xfrm>
            <a:off x="5462336" y="2873517"/>
            <a:ext cx="6580159" cy="1521201"/>
          </a:xfrm>
        </p:spPr>
        <p:txBody>
          <a:bodyPr>
            <a:noAutofit/>
          </a:bodyPr>
          <a:lstStyle/>
          <a:p>
            <a:r>
              <a:rPr lang="en-US" sz="2800" b="1"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Data </a:t>
            </a:r>
            <a:r>
              <a:rPr lang="en-US" sz="2800" b="1" dirty="0">
                <a:solidFill>
                  <a:srgbClr val="000000"/>
                </a:solidFill>
                <a:latin typeface="Calibri" panose="020F0502020204030204" pitchFamily="34" charset="0"/>
                <a:ea typeface="Times New Roman" panose="02020603050405020304" pitchFamily="18" charset="0"/>
                <a:cs typeface="Arial" panose="020B0604020202020204" pitchFamily="34" charset="0"/>
              </a:rPr>
              <a:t>Analytics Life Cycle, </a:t>
            </a:r>
            <a:br>
              <a:rPr lang="en-US" sz="2800" b="1" dirty="0">
                <a:solidFill>
                  <a:srgbClr val="000000"/>
                </a:solidFill>
                <a:latin typeface="Calibri" panose="020F0502020204030204" pitchFamily="34" charset="0"/>
                <a:ea typeface="Times New Roman" panose="02020603050405020304" pitchFamily="18" charset="0"/>
                <a:cs typeface="Arial" panose="020B0604020202020204" pitchFamily="34" charset="0"/>
              </a:rPr>
            </a:br>
            <a:r>
              <a:rPr lang="en-US" sz="2800" b="1"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Research, Citing and Referencing</a:t>
            </a:r>
            <a:br>
              <a:rPr lang="en-US" sz="2800" b="1"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br>
            <a:br>
              <a:rPr lang="en-US" sz="2800" b="1"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br>
            <a:r>
              <a:rPr lang="en-US" sz="2800" b="1"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Taufique Ahmed</a:t>
            </a:r>
            <a:br>
              <a:rPr lang="en-US" sz="2800" b="1"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br>
            <a:r>
              <a:rPr lang="en-US" sz="2800" b="1"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Thanks to Graham Glanville</a:t>
            </a:r>
            <a:endParaRPr lang="en-IE" sz="2000" b="1" dirty="0"/>
          </a:p>
        </p:txBody>
      </p:sp>
      <p:sp>
        <p:nvSpPr>
          <p:cNvPr id="2" name="TextBox 1">
            <a:extLst>
              <a:ext uri="{FF2B5EF4-FFF2-40B4-BE49-F238E27FC236}">
                <a16:creationId xmlns:a16="http://schemas.microsoft.com/office/drawing/2014/main" id="{2DB6690A-CE78-FCC9-074E-747BC0D04162}"/>
              </a:ext>
            </a:extLst>
          </p:cNvPr>
          <p:cNvSpPr txBox="1"/>
          <p:nvPr/>
        </p:nvSpPr>
        <p:spPr>
          <a:xfrm>
            <a:off x="81481" y="6475088"/>
            <a:ext cx="2190938" cy="307777"/>
          </a:xfrm>
          <a:prstGeom prst="rect">
            <a:avLst/>
          </a:prstGeom>
          <a:noFill/>
        </p:spPr>
        <p:txBody>
          <a:bodyPr wrap="square" rtlCol="0">
            <a:spAutoFit/>
          </a:bodyPr>
          <a:lstStyle/>
          <a:p>
            <a:pPr algn="r"/>
            <a:r>
              <a:rPr lang="en-IE" sz="1400" dirty="0"/>
              <a:t>©CCT College Dublin 2022</a:t>
            </a:r>
          </a:p>
        </p:txBody>
      </p:sp>
    </p:spTree>
    <p:extLst>
      <p:ext uri="{BB962C8B-B14F-4D97-AF65-F5344CB8AC3E}">
        <p14:creationId xmlns:p14="http://schemas.microsoft.com/office/powerpoint/2010/main" val="4047597862"/>
      </p:ext>
    </p:extLst>
  </p:cSld>
  <p:clrMapOvr>
    <a:masterClrMapping/>
  </p:clrMapOvr>
  <mc:AlternateContent xmlns:mc="http://schemas.openxmlformats.org/markup-compatibility/2006" xmlns:p14="http://schemas.microsoft.com/office/powerpoint/2010/main">
    <mc:Choice Requires="p14">
      <p:transition spd="slow" p14:dur="2000" advTm="17927"/>
    </mc:Choice>
    <mc:Fallback xmlns="">
      <p:transition spd="slow" advTm="1792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idx="4294967295"/>
          </p:nvPr>
        </p:nvSpPr>
        <p:spPr>
          <a:xfrm>
            <a:off x="3843409" y="1330860"/>
            <a:ext cx="4807390" cy="3150606"/>
          </a:xfrm>
          <a:ln w="19050">
            <a:solidFill>
              <a:schemeClr val="tx1"/>
            </a:solidFill>
          </a:ln>
        </p:spPr>
        <p:txBody>
          <a:bodyPr>
            <a:normAutofit/>
          </a:bodyPr>
          <a:lstStyle/>
          <a:p>
            <a:pPr algn="ctr"/>
            <a:r>
              <a:rPr lang="en-IE" sz="2400" b="1" dirty="0">
                <a:latin typeface="+mn-lt"/>
              </a:rPr>
              <a:t>Copyright Notice</a:t>
            </a:r>
            <a:br>
              <a:rPr lang="en-IE" sz="2400" dirty="0">
                <a:latin typeface="+mn-lt"/>
              </a:rPr>
            </a:br>
            <a:r>
              <a:rPr lang="en-IE" sz="1800" dirty="0">
                <a:latin typeface="+mn-lt"/>
              </a:rPr>
              <a:t>The following material has been communicated to you by or on behalf of CCT College Dublin in accordance with the Copyright and Related Rights Act 2000 (the Act).</a:t>
            </a:r>
            <a:br>
              <a:rPr lang="en-IE" sz="1800" dirty="0">
                <a:latin typeface="+mn-lt"/>
              </a:rPr>
            </a:br>
            <a:r>
              <a:rPr lang="en-IE" sz="1800" dirty="0">
                <a:latin typeface="+mn-lt"/>
              </a:rPr>
              <a:t>The material may be subject to copyright under the Act and any further reproduction, communication or distribution of this material must be in accordance with the Act.</a:t>
            </a:r>
            <a:br>
              <a:rPr lang="en-IE" sz="1800" dirty="0">
                <a:latin typeface="+mn-lt"/>
              </a:rPr>
            </a:br>
            <a:br>
              <a:rPr lang="en-IE" sz="1800" dirty="0">
                <a:latin typeface="+mn-lt"/>
              </a:rPr>
            </a:br>
            <a:r>
              <a:rPr lang="en-IE" sz="1200" b="1" dirty="0">
                <a:latin typeface="+mn-lt"/>
              </a:rPr>
              <a:t>Do not remove this notice</a:t>
            </a:r>
            <a:endParaRPr lang="en-IE" sz="1800" dirty="0">
              <a:latin typeface="+mn-lt"/>
            </a:endParaRPr>
          </a:p>
        </p:txBody>
      </p:sp>
    </p:spTree>
    <p:extLst>
      <p:ext uri="{BB962C8B-B14F-4D97-AF65-F5344CB8AC3E}">
        <p14:creationId xmlns:p14="http://schemas.microsoft.com/office/powerpoint/2010/main" val="52045413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r>
              <a:rPr lang="en-US" dirty="0"/>
              <a:t>Discovery</a:t>
            </a:r>
          </a:p>
          <a:p>
            <a:r>
              <a:rPr lang="en-US" dirty="0"/>
              <a:t>Data Preparation</a:t>
            </a:r>
          </a:p>
          <a:p>
            <a:r>
              <a:rPr lang="en-US" dirty="0"/>
              <a:t>Model Planning</a:t>
            </a:r>
          </a:p>
          <a:p>
            <a:r>
              <a:rPr lang="en-US" dirty="0"/>
              <a:t>Communicate Results</a:t>
            </a:r>
          </a:p>
          <a:p>
            <a:r>
              <a:rPr lang="en-US" dirty="0"/>
              <a:t>Operationalize</a:t>
            </a:r>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spTree>
    <p:extLst>
      <p:ext uri="{BB962C8B-B14F-4D97-AF65-F5344CB8AC3E}">
        <p14:creationId xmlns:p14="http://schemas.microsoft.com/office/powerpoint/2010/main" val="71973817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r>
              <a:rPr lang="en-US" dirty="0"/>
              <a:t>Discovery</a:t>
            </a:r>
          </a:p>
          <a:p>
            <a:r>
              <a:rPr lang="en-US" dirty="0"/>
              <a:t>Data Preparation</a:t>
            </a:r>
          </a:p>
          <a:p>
            <a:r>
              <a:rPr lang="en-US" dirty="0"/>
              <a:t>Model Planning</a:t>
            </a:r>
          </a:p>
          <a:p>
            <a:r>
              <a:rPr lang="en-US" dirty="0"/>
              <a:t>Communicate Results</a:t>
            </a:r>
          </a:p>
          <a:p>
            <a:r>
              <a:rPr lang="en-US" dirty="0"/>
              <a:t>Operationalize</a:t>
            </a:r>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spTree>
    <p:extLst>
      <p:ext uri="{BB962C8B-B14F-4D97-AF65-F5344CB8AC3E}">
        <p14:creationId xmlns:p14="http://schemas.microsoft.com/office/powerpoint/2010/main" val="539357785"/>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r>
              <a:rPr lang="en-US" dirty="0"/>
              <a:t>Discovery</a:t>
            </a:r>
          </a:p>
          <a:p>
            <a:r>
              <a:rPr lang="en-US" dirty="0"/>
              <a:t>Data Preparation</a:t>
            </a:r>
          </a:p>
          <a:p>
            <a:r>
              <a:rPr lang="en-US" dirty="0"/>
              <a:t>Model Planning</a:t>
            </a:r>
          </a:p>
          <a:p>
            <a:r>
              <a:rPr lang="en-US" dirty="0"/>
              <a:t>Model Building</a:t>
            </a:r>
          </a:p>
          <a:p>
            <a:r>
              <a:rPr lang="en-US" dirty="0"/>
              <a:t>Communicate Results</a:t>
            </a:r>
          </a:p>
          <a:p>
            <a:r>
              <a:rPr lang="en-US" dirty="0"/>
              <a:t>Operationalize</a:t>
            </a:r>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spTree>
    <p:extLst>
      <p:ext uri="{BB962C8B-B14F-4D97-AF65-F5344CB8AC3E}">
        <p14:creationId xmlns:p14="http://schemas.microsoft.com/office/powerpoint/2010/main" val="3838786669"/>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7C4B1A1-EF24-6A09-A494-B21FFC549165}"/>
              </a:ext>
            </a:extLst>
          </p:cNvPr>
          <p:cNvPicPr>
            <a:picLocks noGrp="1" noChangeAspect="1"/>
          </p:cNvPicPr>
          <p:nvPr>
            <p:ph idx="1"/>
          </p:nvPr>
        </p:nvPicPr>
        <p:blipFill>
          <a:blip r:embed="rId3"/>
          <a:stretch>
            <a:fillRect/>
          </a:stretch>
        </p:blipFill>
        <p:spPr>
          <a:xfrm>
            <a:off x="3909495" y="1058091"/>
            <a:ext cx="4373010" cy="4741818"/>
          </a:xfrm>
        </p:spPr>
      </p:pic>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spTree>
    <p:extLst>
      <p:ext uri="{BB962C8B-B14F-4D97-AF65-F5344CB8AC3E}">
        <p14:creationId xmlns:p14="http://schemas.microsoft.com/office/powerpoint/2010/main" val="286445749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pPr marL="0" indent="0">
              <a:buNone/>
            </a:pPr>
            <a:r>
              <a:rPr lang="en-US" dirty="0"/>
              <a:t>Discovery</a:t>
            </a:r>
          </a:p>
          <a:p>
            <a:pPr marL="0" indent="0">
              <a:buNone/>
            </a:pPr>
            <a:r>
              <a:rPr lang="en-US" sz="1800" b="0" i="0" u="none" strike="noStrike" baseline="0" dirty="0">
                <a:solidFill>
                  <a:srgbClr val="211D1E"/>
                </a:solidFill>
                <a:latin typeface="Times LT Std"/>
              </a:rPr>
              <a:t>Before starting the project, having a strong command of the background of the project is essential. It’s essential to have all the questions clear at the start. Gather all the requirements needed during the project. A data scientist must have a question/answer session with clients for a better understanding of requirements. A quick review of the history of the company and project, whether a similar project has been done in the past for reference. </a:t>
            </a:r>
          </a:p>
          <a:p>
            <a:pPr marL="0" indent="0">
              <a:buNone/>
            </a:pPr>
            <a:endParaRPr lang="en-US" sz="1800" dirty="0">
              <a:solidFill>
                <a:srgbClr val="211D1E"/>
              </a:solidFill>
              <a:latin typeface="Times LT Std"/>
            </a:endParaRPr>
          </a:p>
          <a:p>
            <a:pPr marL="0" indent="0">
              <a:buNone/>
            </a:pPr>
            <a:r>
              <a:rPr lang="en-US" sz="2800" dirty="0">
                <a:solidFill>
                  <a:srgbClr val="211D1E"/>
                </a:solidFill>
                <a:latin typeface="Times LT Std"/>
              </a:rPr>
              <a:t>Responsible, Accountable, Consult and Inform</a:t>
            </a:r>
            <a:endParaRPr lang="en-US" dirty="0"/>
          </a:p>
          <a:p>
            <a:r>
              <a:rPr lang="en-US" dirty="0"/>
              <a:t>RACI Matrix</a:t>
            </a:r>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pic>
        <p:nvPicPr>
          <p:cNvPr id="9" name="Picture 8">
            <a:extLst>
              <a:ext uri="{FF2B5EF4-FFF2-40B4-BE49-F238E27FC236}">
                <a16:creationId xmlns:a16="http://schemas.microsoft.com/office/drawing/2014/main" id="{1353FD30-10E8-000F-675A-31FF68512F48}"/>
              </a:ext>
            </a:extLst>
          </p:cNvPr>
          <p:cNvPicPr>
            <a:picLocks noChangeAspect="1"/>
          </p:cNvPicPr>
          <p:nvPr/>
        </p:nvPicPr>
        <p:blipFill>
          <a:blip r:embed="rId4"/>
          <a:stretch>
            <a:fillRect/>
          </a:stretch>
        </p:blipFill>
        <p:spPr>
          <a:xfrm>
            <a:off x="699329" y="4904160"/>
            <a:ext cx="7673825" cy="1569319"/>
          </a:xfrm>
          <a:prstGeom prst="rect">
            <a:avLst/>
          </a:prstGeom>
        </p:spPr>
      </p:pic>
    </p:spTree>
    <p:extLst>
      <p:ext uri="{BB962C8B-B14F-4D97-AF65-F5344CB8AC3E}">
        <p14:creationId xmlns:p14="http://schemas.microsoft.com/office/powerpoint/2010/main" val="3749881459"/>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pPr marL="0" indent="0">
              <a:buNone/>
            </a:pPr>
            <a:r>
              <a:rPr lang="en-US" dirty="0"/>
              <a:t>Data Preparation</a:t>
            </a:r>
          </a:p>
          <a:p>
            <a:pPr marL="0" indent="0">
              <a:buNone/>
            </a:pPr>
            <a:r>
              <a:rPr lang="en-US" sz="1800" b="0" i="0" u="none" strike="noStrike" baseline="0" dirty="0">
                <a:solidFill>
                  <a:srgbClr val="211D1E"/>
                </a:solidFill>
                <a:latin typeface="Times LT Std"/>
              </a:rPr>
              <a:t>This step plays a critical and time-consuming role in the life cycle; this phase acts as a filtration process of data. In this step, all the cleaning and elimination of missing attributes are done. Why is the phase time-consuming? When we talk about big data, it can be in terabytes or more than that. Cleaning a large amount of data requires hundreds of scenarios. Let’s take the example of variable “area,” which has the data type integer. All the records are in integer except one record, which is in decimal. The integer data type cannot contain a decimal value; here, you need to eliminate that particular record. </a:t>
            </a:r>
            <a:endParaRPr lang="en-US" dirty="0"/>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spTree>
    <p:extLst>
      <p:ext uri="{BB962C8B-B14F-4D97-AF65-F5344CB8AC3E}">
        <p14:creationId xmlns:p14="http://schemas.microsoft.com/office/powerpoint/2010/main" val="714974570"/>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pPr marL="0" indent="0">
              <a:buNone/>
            </a:pPr>
            <a:r>
              <a:rPr lang="en-US" dirty="0"/>
              <a:t>Data Preparation</a:t>
            </a:r>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pic>
        <p:nvPicPr>
          <p:cNvPr id="9" name="Picture 8">
            <a:extLst>
              <a:ext uri="{FF2B5EF4-FFF2-40B4-BE49-F238E27FC236}">
                <a16:creationId xmlns:a16="http://schemas.microsoft.com/office/drawing/2014/main" id="{141DB00E-5F0F-A0D8-82E4-D3FF7DE3E15A}"/>
              </a:ext>
            </a:extLst>
          </p:cNvPr>
          <p:cNvPicPr>
            <a:picLocks noChangeAspect="1"/>
          </p:cNvPicPr>
          <p:nvPr/>
        </p:nvPicPr>
        <p:blipFill>
          <a:blip r:embed="rId4"/>
          <a:stretch>
            <a:fillRect/>
          </a:stretch>
        </p:blipFill>
        <p:spPr>
          <a:xfrm>
            <a:off x="699329" y="2563207"/>
            <a:ext cx="7594535" cy="3613756"/>
          </a:xfrm>
          <a:prstGeom prst="rect">
            <a:avLst/>
          </a:prstGeom>
        </p:spPr>
      </p:pic>
    </p:spTree>
    <p:extLst>
      <p:ext uri="{BB962C8B-B14F-4D97-AF65-F5344CB8AC3E}">
        <p14:creationId xmlns:p14="http://schemas.microsoft.com/office/powerpoint/2010/main" val="3697089299"/>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pPr marL="0" indent="0">
              <a:buNone/>
            </a:pPr>
            <a:r>
              <a:rPr lang="en-US" dirty="0"/>
              <a:t>Model Planning</a:t>
            </a:r>
          </a:p>
          <a:p>
            <a:pPr marL="0" indent="0">
              <a:buNone/>
            </a:pPr>
            <a:r>
              <a:rPr lang="en-US" sz="1800" b="0" i="0" u="none" strike="noStrike" baseline="0" dirty="0">
                <a:solidFill>
                  <a:srgbClr val="211D1E"/>
                </a:solidFill>
                <a:latin typeface="Times LT Std"/>
              </a:rPr>
              <a:t>In this phase, you need to select the ML model for your project, which algorithm needs to be applied, and select the mathematical approach which will give the best possible outcome. </a:t>
            </a:r>
          </a:p>
          <a:p>
            <a:r>
              <a:rPr lang="en-US" sz="1800" dirty="0">
                <a:solidFill>
                  <a:srgbClr val="211D1E"/>
                </a:solidFill>
                <a:latin typeface="Times LT Std"/>
              </a:rPr>
              <a:t>Supervised Learning</a:t>
            </a:r>
          </a:p>
          <a:p>
            <a:r>
              <a:rPr lang="en-US" sz="1800" dirty="0">
                <a:solidFill>
                  <a:srgbClr val="211D1E"/>
                </a:solidFill>
                <a:latin typeface="Times LT Std"/>
              </a:rPr>
              <a:t>Unsupervised Learning</a:t>
            </a:r>
          </a:p>
          <a:p>
            <a:r>
              <a:rPr lang="en-US" sz="1800" dirty="0">
                <a:solidFill>
                  <a:srgbClr val="211D1E"/>
                </a:solidFill>
                <a:latin typeface="Times LT Std"/>
              </a:rPr>
              <a:t>Size of the Training set</a:t>
            </a:r>
          </a:p>
          <a:p>
            <a:r>
              <a:rPr lang="en-US" sz="1800" dirty="0">
                <a:solidFill>
                  <a:srgbClr val="211D1E"/>
                </a:solidFill>
                <a:latin typeface="Times LT Std"/>
              </a:rPr>
              <a:t>Training time</a:t>
            </a:r>
          </a:p>
          <a:p>
            <a:r>
              <a:rPr lang="en-US" sz="1800" dirty="0">
                <a:solidFill>
                  <a:srgbClr val="211D1E"/>
                </a:solidFill>
                <a:latin typeface="Times LT Std"/>
              </a:rPr>
              <a:t>The number of parameters </a:t>
            </a:r>
          </a:p>
          <a:p>
            <a:r>
              <a:rPr lang="en-US" sz="1800" dirty="0">
                <a:solidFill>
                  <a:srgbClr val="211D1E"/>
                </a:solidFill>
                <a:latin typeface="Times LT Std"/>
              </a:rPr>
              <a:t>The number of features</a:t>
            </a:r>
          </a:p>
          <a:p>
            <a:r>
              <a:rPr lang="en-US" sz="1800" dirty="0">
                <a:solidFill>
                  <a:srgbClr val="211D1E"/>
                </a:solidFill>
                <a:latin typeface="Times LT Std"/>
              </a:rPr>
              <a:t>Accuracy </a:t>
            </a:r>
            <a:endParaRPr lang="en-US" dirty="0"/>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spTree>
    <p:extLst>
      <p:ext uri="{BB962C8B-B14F-4D97-AF65-F5344CB8AC3E}">
        <p14:creationId xmlns:p14="http://schemas.microsoft.com/office/powerpoint/2010/main" val="67181187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pPr marL="0" indent="0">
              <a:buNone/>
            </a:pPr>
            <a:r>
              <a:rPr lang="en-US" dirty="0"/>
              <a:t>Model Planning</a:t>
            </a:r>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pic>
        <p:nvPicPr>
          <p:cNvPr id="9" name="Picture 8">
            <a:extLst>
              <a:ext uri="{FF2B5EF4-FFF2-40B4-BE49-F238E27FC236}">
                <a16:creationId xmlns:a16="http://schemas.microsoft.com/office/drawing/2014/main" id="{2079EA27-4DA4-EA67-E4A3-30F3D0054670}"/>
              </a:ext>
            </a:extLst>
          </p:cNvPr>
          <p:cNvPicPr>
            <a:picLocks noChangeAspect="1"/>
          </p:cNvPicPr>
          <p:nvPr/>
        </p:nvPicPr>
        <p:blipFill>
          <a:blip r:embed="rId4"/>
          <a:stretch>
            <a:fillRect/>
          </a:stretch>
        </p:blipFill>
        <p:spPr>
          <a:xfrm>
            <a:off x="251011" y="2316717"/>
            <a:ext cx="8428831" cy="3819566"/>
          </a:xfrm>
          <a:prstGeom prst="rect">
            <a:avLst/>
          </a:prstGeom>
        </p:spPr>
      </p:pic>
    </p:spTree>
    <p:extLst>
      <p:ext uri="{BB962C8B-B14F-4D97-AF65-F5344CB8AC3E}">
        <p14:creationId xmlns:p14="http://schemas.microsoft.com/office/powerpoint/2010/main" val="8853752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pPr marL="0" indent="0">
              <a:buNone/>
            </a:pPr>
            <a:r>
              <a:rPr lang="en-US" dirty="0"/>
              <a:t>Model Building</a:t>
            </a:r>
          </a:p>
          <a:p>
            <a:pPr marL="0" indent="0">
              <a:buNone/>
            </a:pPr>
            <a:r>
              <a:rPr lang="en-US" sz="1800" b="0" i="0" u="none" strike="noStrike" baseline="0" dirty="0">
                <a:solidFill>
                  <a:srgbClr val="211D1E"/>
                </a:solidFill>
                <a:latin typeface="Times LT Std"/>
              </a:rPr>
              <a:t>Once the model is </a:t>
            </a:r>
            <a:r>
              <a:rPr lang="en-US" sz="1800" b="0" i="0" u="none" strike="noStrike" baseline="0" dirty="0" err="1">
                <a:solidFill>
                  <a:srgbClr val="211D1E"/>
                </a:solidFill>
                <a:latin typeface="Times LT Std"/>
              </a:rPr>
              <a:t>finalised</a:t>
            </a:r>
            <a:r>
              <a:rPr lang="en-US" sz="1800" b="0" i="0" u="none" strike="noStrike" baseline="0" dirty="0">
                <a:solidFill>
                  <a:srgbClr val="211D1E"/>
                </a:solidFill>
                <a:latin typeface="Times LT Std"/>
              </a:rPr>
              <a:t> and created just codes, the most commonly used language is Python. As soon as the project is ready, we deploy the system and share it with a customer. In this way, QA is done by the client itself. Any changes at the client end are urgently taken up and resolved. </a:t>
            </a:r>
            <a:endParaRPr lang="en-US" dirty="0"/>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spTree>
    <p:extLst>
      <p:ext uri="{BB962C8B-B14F-4D97-AF65-F5344CB8AC3E}">
        <p14:creationId xmlns:p14="http://schemas.microsoft.com/office/powerpoint/2010/main" val="316437623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sp>
        <p:nvSpPr>
          <p:cNvPr id="2" name="Content Placeholder 1">
            <a:extLst>
              <a:ext uri="{FF2B5EF4-FFF2-40B4-BE49-F238E27FC236}">
                <a16:creationId xmlns:a16="http://schemas.microsoft.com/office/drawing/2014/main" id="{D1F6E3B4-BB5A-49B3-17F9-FF29D4D446AB}"/>
              </a:ext>
            </a:extLst>
          </p:cNvPr>
          <p:cNvSpPr>
            <a:spLocks noGrp="1"/>
          </p:cNvSpPr>
          <p:nvPr>
            <p:ph idx="1"/>
          </p:nvPr>
        </p:nvSpPr>
        <p:spPr/>
        <p:txBody>
          <a:bodyPr/>
          <a:lstStyle/>
          <a:p>
            <a:pPr marL="0" indent="0">
              <a:buNone/>
            </a:pPr>
            <a:r>
              <a:rPr lang="en-US" dirty="0"/>
              <a:t>Communicate Results</a:t>
            </a:r>
          </a:p>
          <a:p>
            <a:pPr marL="0" indent="0">
              <a:buNone/>
            </a:pPr>
            <a:r>
              <a:rPr lang="en-US" sz="1800" b="0" i="0" u="none" strike="noStrike" baseline="0" dirty="0">
                <a:solidFill>
                  <a:srgbClr val="211D1E"/>
                </a:solidFill>
                <a:latin typeface="Times LT Std"/>
              </a:rPr>
              <a:t>The client should have a clearer understanding of the model and result, which is very difficult as the client has no understanding of data science. Therefore, model interfaces should be transparent and interpretable as it will become easier for the client to absorb them. </a:t>
            </a:r>
            <a:endParaRPr lang="en-US" dirty="0"/>
          </a:p>
          <a:p>
            <a:pPr marL="0" indent="0">
              <a:buNone/>
            </a:pPr>
            <a:r>
              <a:rPr lang="en-US" dirty="0"/>
              <a:t>Operationalize</a:t>
            </a:r>
          </a:p>
          <a:p>
            <a:pPr marL="0" indent="0">
              <a:buNone/>
            </a:pPr>
            <a:r>
              <a:rPr lang="en-US" sz="1800" b="0" i="0" u="none" strike="noStrike" baseline="0" dirty="0">
                <a:solidFill>
                  <a:srgbClr val="211D1E"/>
                </a:solidFill>
                <a:latin typeface="Times LT Std"/>
              </a:rPr>
              <a:t>The final step is where documentation and maintenance of the project are done. Documentation will help the client to understand the project and run it efficiently. </a:t>
            </a:r>
            <a:endParaRPr lang="en-US" dirty="0"/>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spTree>
    <p:extLst>
      <p:ext uri="{BB962C8B-B14F-4D97-AF65-F5344CB8AC3E}">
        <p14:creationId xmlns:p14="http://schemas.microsoft.com/office/powerpoint/2010/main" val="275564541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Data Science Life Cycle</a:t>
            </a:r>
            <a:endParaRPr lang="en-IE" dirty="0">
              <a:solidFill>
                <a:schemeClr val="accent1"/>
              </a:solidFill>
            </a:endParaRPr>
          </a:p>
        </p:txBody>
      </p:sp>
      <p:pic>
        <p:nvPicPr>
          <p:cNvPr id="10" name="Content Placeholder 9">
            <a:extLst>
              <a:ext uri="{FF2B5EF4-FFF2-40B4-BE49-F238E27FC236}">
                <a16:creationId xmlns:a16="http://schemas.microsoft.com/office/drawing/2014/main" id="{C1479C75-07BF-AEFA-4906-546DE198C083}"/>
              </a:ext>
            </a:extLst>
          </p:cNvPr>
          <p:cNvPicPr>
            <a:picLocks noGrp="1" noChangeAspect="1"/>
          </p:cNvPicPr>
          <p:nvPr>
            <p:ph idx="1"/>
          </p:nvPr>
        </p:nvPicPr>
        <p:blipFill>
          <a:blip r:embed="rId4"/>
          <a:stretch>
            <a:fillRect/>
          </a:stretch>
        </p:blipFill>
        <p:spPr>
          <a:xfrm>
            <a:off x="955843" y="2141559"/>
            <a:ext cx="10280313" cy="2574882"/>
          </a:xfrm>
        </p:spPr>
      </p:pic>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
        <p:nvSpPr>
          <p:cNvPr id="4" name="TextBox 3">
            <a:extLst>
              <a:ext uri="{FF2B5EF4-FFF2-40B4-BE49-F238E27FC236}">
                <a16:creationId xmlns:a16="http://schemas.microsoft.com/office/drawing/2014/main" id="{F902939F-9246-359B-974C-9889A0465868}"/>
              </a:ext>
            </a:extLst>
          </p:cNvPr>
          <p:cNvSpPr txBox="1"/>
          <p:nvPr/>
        </p:nvSpPr>
        <p:spPr>
          <a:xfrm>
            <a:off x="9197788" y="5486054"/>
            <a:ext cx="2743201" cy="369332"/>
          </a:xfrm>
          <a:prstGeom prst="rect">
            <a:avLst/>
          </a:prstGeom>
          <a:noFill/>
        </p:spPr>
        <p:txBody>
          <a:bodyPr wrap="square" rtlCol="0">
            <a:spAutoFit/>
          </a:bodyPr>
          <a:lstStyle/>
          <a:p>
            <a:r>
              <a:rPr lang="en-US" dirty="0"/>
              <a:t>(S. Sumathi et al., 2022)</a:t>
            </a:r>
          </a:p>
        </p:txBody>
      </p:sp>
    </p:spTree>
    <p:extLst>
      <p:ext uri="{BB962C8B-B14F-4D97-AF65-F5344CB8AC3E}">
        <p14:creationId xmlns:p14="http://schemas.microsoft.com/office/powerpoint/2010/main" val="944046165"/>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981"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p:txBody>
          <a:bodyPr/>
          <a:lstStyle/>
          <a:p>
            <a:r>
              <a:rPr lang="en-IE" b="1" dirty="0">
                <a:solidFill>
                  <a:schemeClr val="accent1"/>
                </a:solidFill>
              </a:rPr>
              <a:t>Research</a:t>
            </a:r>
            <a:endParaRPr lang="en-IE" dirty="0">
              <a:solidFill>
                <a:schemeClr val="accent1"/>
              </a:solidFill>
            </a:endParaRPr>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E" altLang="en-US" dirty="0"/>
          </a:p>
        </p:txBody>
      </p:sp>
    </p:spTree>
    <p:extLst>
      <p:ext uri="{BB962C8B-B14F-4D97-AF65-F5344CB8AC3E}">
        <p14:creationId xmlns:p14="http://schemas.microsoft.com/office/powerpoint/2010/main" val="1138915089"/>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Firstly….</a:t>
            </a:r>
            <a:endParaRPr lang="en-IE" dirty="0">
              <a:solidFill>
                <a:schemeClr val="accent1"/>
              </a:solidFill>
            </a:endParaRPr>
          </a:p>
        </p:txBody>
      </p:sp>
      <p:sp>
        <p:nvSpPr>
          <p:cNvPr id="7" name="Content Placeholder 2">
            <a:extLst>
              <a:ext uri="{FF2B5EF4-FFF2-40B4-BE49-F238E27FC236}">
                <a16:creationId xmlns:a16="http://schemas.microsoft.com/office/drawing/2014/main" id="{EF1F0CD0-232E-7CA2-C5DA-04B1209CCA9C}"/>
              </a:ext>
            </a:extLst>
          </p:cNvPr>
          <p:cNvSpPr txBox="1">
            <a:spLocks/>
          </p:cNvSpPr>
          <p:nvPr/>
        </p:nvSpPr>
        <p:spPr>
          <a:xfrm>
            <a:off x="838200" y="137194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altLang="en-US" dirty="0"/>
              <a:t>Academic Research       v       Market Research</a:t>
            </a:r>
          </a:p>
        </p:txBody>
      </p:sp>
      <p:cxnSp>
        <p:nvCxnSpPr>
          <p:cNvPr id="8" name="Straight Arrow Connector 7">
            <a:extLst>
              <a:ext uri="{FF2B5EF4-FFF2-40B4-BE49-F238E27FC236}">
                <a16:creationId xmlns:a16="http://schemas.microsoft.com/office/drawing/2014/main" id="{16A258A7-EA74-B4D1-8E72-51BC7A17CF7B}"/>
              </a:ext>
            </a:extLst>
          </p:cNvPr>
          <p:cNvCxnSpPr/>
          <p:nvPr/>
        </p:nvCxnSpPr>
        <p:spPr>
          <a:xfrm flipV="1">
            <a:off x="2563906" y="1728274"/>
            <a:ext cx="419100" cy="1055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583DC25-7180-627F-F2F9-645E2AF624ED}"/>
              </a:ext>
            </a:extLst>
          </p:cNvPr>
          <p:cNvSpPr txBox="1">
            <a:spLocks noChangeArrowheads="1"/>
          </p:cNvSpPr>
          <p:nvPr/>
        </p:nvSpPr>
        <p:spPr bwMode="auto">
          <a:xfrm>
            <a:off x="1093694" y="2701239"/>
            <a:ext cx="2667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IE" altLang="en-US" b="1" dirty="0"/>
              <a:t>Peer Reviewed</a:t>
            </a:r>
          </a:p>
        </p:txBody>
      </p:sp>
      <p:cxnSp>
        <p:nvCxnSpPr>
          <p:cNvPr id="10" name="Straight Arrow Connector 9">
            <a:extLst>
              <a:ext uri="{FF2B5EF4-FFF2-40B4-BE49-F238E27FC236}">
                <a16:creationId xmlns:a16="http://schemas.microsoft.com/office/drawing/2014/main" id="{CCFAD47D-E65F-9A21-A5AF-BCD99CF431BB}"/>
              </a:ext>
            </a:extLst>
          </p:cNvPr>
          <p:cNvCxnSpPr/>
          <p:nvPr/>
        </p:nvCxnSpPr>
        <p:spPr>
          <a:xfrm flipH="1" flipV="1">
            <a:off x="6368303" y="1728274"/>
            <a:ext cx="533400" cy="1055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A62D68A-DF19-A8A3-4B0E-599CDF05CE94}"/>
              </a:ext>
            </a:extLst>
          </p:cNvPr>
          <p:cNvSpPr txBox="1">
            <a:spLocks noChangeArrowheads="1"/>
          </p:cNvSpPr>
          <p:nvPr/>
        </p:nvSpPr>
        <p:spPr bwMode="auto">
          <a:xfrm>
            <a:off x="5918947" y="2884578"/>
            <a:ext cx="3276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IE" altLang="en-US" b="1" dirty="0"/>
              <a:t>NOT Peer Reviewed</a:t>
            </a:r>
          </a:p>
        </p:txBody>
      </p:sp>
      <p:sp>
        <p:nvSpPr>
          <p:cNvPr id="12" name="TextBox 11">
            <a:extLst>
              <a:ext uri="{FF2B5EF4-FFF2-40B4-BE49-F238E27FC236}">
                <a16:creationId xmlns:a16="http://schemas.microsoft.com/office/drawing/2014/main" id="{C8F13C04-6EDE-7DAF-83E0-F0486DE36F19}"/>
              </a:ext>
            </a:extLst>
          </p:cNvPr>
          <p:cNvSpPr txBox="1"/>
          <p:nvPr/>
        </p:nvSpPr>
        <p:spPr>
          <a:xfrm>
            <a:off x="9879107" y="5486054"/>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4243249302"/>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989946-B4F7-421E-93AA-F1B856B2D7AF}"/>
              </a:ext>
            </a:extLst>
          </p:cNvPr>
          <p:cNvSpPr txBox="1"/>
          <p:nvPr/>
        </p:nvSpPr>
        <p:spPr>
          <a:xfrm>
            <a:off x="2743200" y="3968750"/>
            <a:ext cx="1074738" cy="36988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en-IE" dirty="0"/>
              <a:t>Student</a:t>
            </a:r>
          </a:p>
        </p:txBody>
      </p:sp>
      <p:sp>
        <p:nvSpPr>
          <p:cNvPr id="5" name="TextBox 4">
            <a:extLst>
              <a:ext uri="{FF2B5EF4-FFF2-40B4-BE49-F238E27FC236}">
                <a16:creationId xmlns:a16="http://schemas.microsoft.com/office/drawing/2014/main" id="{BE97F334-2AF5-4305-A7EA-6271D5220E9B}"/>
              </a:ext>
            </a:extLst>
          </p:cNvPr>
          <p:cNvSpPr txBox="1"/>
          <p:nvPr/>
        </p:nvSpPr>
        <p:spPr>
          <a:xfrm>
            <a:off x="3025775" y="1106489"/>
            <a:ext cx="1574800" cy="369887"/>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en-IE" sz="900" dirty="0"/>
              <a:t>Individual Qualified as a journalist</a:t>
            </a:r>
          </a:p>
        </p:txBody>
      </p:sp>
      <p:sp>
        <p:nvSpPr>
          <p:cNvPr id="6" name="TextBox 5">
            <a:extLst>
              <a:ext uri="{FF2B5EF4-FFF2-40B4-BE49-F238E27FC236}">
                <a16:creationId xmlns:a16="http://schemas.microsoft.com/office/drawing/2014/main" id="{009F1EE1-486D-4C0C-A2F9-AA3C3427EEC5}"/>
              </a:ext>
            </a:extLst>
          </p:cNvPr>
          <p:cNvSpPr txBox="1"/>
          <p:nvPr/>
        </p:nvSpPr>
        <p:spPr>
          <a:xfrm>
            <a:off x="5111751" y="1211263"/>
            <a:ext cx="1573213" cy="23083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en-IE" sz="900" dirty="0"/>
              <a:t>First Job at the Dublin Herald</a:t>
            </a:r>
          </a:p>
        </p:txBody>
      </p:sp>
      <p:cxnSp>
        <p:nvCxnSpPr>
          <p:cNvPr id="8" name="Straight Arrow Connector 7">
            <a:extLst>
              <a:ext uri="{FF2B5EF4-FFF2-40B4-BE49-F238E27FC236}">
                <a16:creationId xmlns:a16="http://schemas.microsoft.com/office/drawing/2014/main" id="{28F78F0D-C585-4AF9-974C-6FCEDBF0B68A}"/>
              </a:ext>
            </a:extLst>
          </p:cNvPr>
          <p:cNvCxnSpPr>
            <a:stCxn id="5" idx="3"/>
          </p:cNvCxnSpPr>
          <p:nvPr/>
        </p:nvCxnSpPr>
        <p:spPr>
          <a:xfrm>
            <a:off x="4600576" y="1290638"/>
            <a:ext cx="525463" cy="238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45C101-6924-4CBC-B298-FA59D78EA621}"/>
              </a:ext>
            </a:extLst>
          </p:cNvPr>
          <p:cNvSpPr txBox="1"/>
          <p:nvPr/>
        </p:nvSpPr>
        <p:spPr>
          <a:xfrm>
            <a:off x="7450138" y="1314451"/>
            <a:ext cx="1573212" cy="646113"/>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en-IE" sz="900" dirty="0"/>
              <a:t>The individual writes an article entitled “Starbucks is destroying small coffee shops in Dublin”</a:t>
            </a:r>
          </a:p>
        </p:txBody>
      </p:sp>
      <p:sp>
        <p:nvSpPr>
          <p:cNvPr id="10" name="TextBox 9">
            <a:extLst>
              <a:ext uri="{FF2B5EF4-FFF2-40B4-BE49-F238E27FC236}">
                <a16:creationId xmlns:a16="http://schemas.microsoft.com/office/drawing/2014/main" id="{A3F47292-3964-4F8B-9F7E-3C0FCC1B16D8}"/>
              </a:ext>
            </a:extLst>
          </p:cNvPr>
          <p:cNvSpPr txBox="1"/>
          <p:nvPr/>
        </p:nvSpPr>
        <p:spPr>
          <a:xfrm>
            <a:off x="5868989" y="2565401"/>
            <a:ext cx="1844675" cy="646113"/>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en-IE" sz="900" dirty="0"/>
              <a:t>The individual writes an article entitled “Starbucks is destroying small coffee shops in Dublin”- published online..</a:t>
            </a:r>
          </a:p>
        </p:txBody>
      </p:sp>
      <p:cxnSp>
        <p:nvCxnSpPr>
          <p:cNvPr id="12" name="Straight Arrow Connector 11">
            <a:extLst>
              <a:ext uri="{FF2B5EF4-FFF2-40B4-BE49-F238E27FC236}">
                <a16:creationId xmlns:a16="http://schemas.microsoft.com/office/drawing/2014/main" id="{C10FA66B-AE42-479B-9E1C-5FCE3BDA1A58}"/>
              </a:ext>
            </a:extLst>
          </p:cNvPr>
          <p:cNvCxnSpPr>
            <a:stCxn id="6" idx="3"/>
            <a:endCxn id="9" idx="1"/>
          </p:cNvCxnSpPr>
          <p:nvPr/>
        </p:nvCxnSpPr>
        <p:spPr>
          <a:xfrm>
            <a:off x="6684964" y="1326679"/>
            <a:ext cx="765175" cy="3108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4DDFE59-F99B-450F-BFBD-F8585024FE0F}"/>
              </a:ext>
            </a:extLst>
          </p:cNvPr>
          <p:cNvCxnSpPr>
            <a:stCxn id="9" idx="2"/>
            <a:endCxn id="10" idx="3"/>
          </p:cNvCxnSpPr>
          <p:nvPr/>
        </p:nvCxnSpPr>
        <p:spPr>
          <a:xfrm flipH="1">
            <a:off x="7713664" y="1960563"/>
            <a:ext cx="522287" cy="927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244D8BD-0A3C-491B-9A18-D27543E710DC}"/>
              </a:ext>
            </a:extLst>
          </p:cNvPr>
          <p:cNvSpPr txBox="1"/>
          <p:nvPr/>
        </p:nvSpPr>
        <p:spPr>
          <a:xfrm>
            <a:off x="4151313" y="3968750"/>
            <a:ext cx="1573212" cy="36933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en-IE" sz="900" dirty="0"/>
              <a:t>Asked to do an Academic Business Project in College</a:t>
            </a:r>
          </a:p>
        </p:txBody>
      </p:sp>
      <p:sp>
        <p:nvSpPr>
          <p:cNvPr id="16" name="TextBox 15">
            <a:extLst>
              <a:ext uri="{FF2B5EF4-FFF2-40B4-BE49-F238E27FC236}">
                <a16:creationId xmlns:a16="http://schemas.microsoft.com/office/drawing/2014/main" id="{2C8EBA06-A17E-4272-9328-4ABA45EE1E2A}"/>
              </a:ext>
            </a:extLst>
          </p:cNvPr>
          <p:cNvSpPr txBox="1"/>
          <p:nvPr/>
        </p:nvSpPr>
        <p:spPr>
          <a:xfrm>
            <a:off x="5111751" y="4746625"/>
            <a:ext cx="1573213" cy="36988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en-IE" sz="900" dirty="0"/>
              <a:t>Chooses to write about Starbucks</a:t>
            </a:r>
          </a:p>
        </p:txBody>
      </p:sp>
      <p:sp>
        <p:nvSpPr>
          <p:cNvPr id="21" name="TextBox 20">
            <a:extLst>
              <a:ext uri="{FF2B5EF4-FFF2-40B4-BE49-F238E27FC236}">
                <a16:creationId xmlns:a16="http://schemas.microsoft.com/office/drawing/2014/main" id="{348230B5-2793-43A3-8842-7FCD3F3AA761}"/>
              </a:ext>
            </a:extLst>
          </p:cNvPr>
          <p:cNvSpPr txBox="1"/>
          <p:nvPr/>
        </p:nvSpPr>
        <p:spPr>
          <a:xfrm>
            <a:off x="6011863" y="3968750"/>
            <a:ext cx="1573212" cy="36988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en-IE" sz="900" dirty="0"/>
              <a:t>Performs research on the internet and finds this…</a:t>
            </a:r>
          </a:p>
        </p:txBody>
      </p:sp>
      <p:cxnSp>
        <p:nvCxnSpPr>
          <p:cNvPr id="23" name="Straight Arrow Connector 22">
            <a:extLst>
              <a:ext uri="{FF2B5EF4-FFF2-40B4-BE49-F238E27FC236}">
                <a16:creationId xmlns:a16="http://schemas.microsoft.com/office/drawing/2014/main" id="{85B27C25-AFED-45E7-97E2-58E4AE21B033}"/>
              </a:ext>
            </a:extLst>
          </p:cNvPr>
          <p:cNvCxnSpPr>
            <a:stCxn id="4" idx="3"/>
            <a:endCxn id="15" idx="1"/>
          </p:cNvCxnSpPr>
          <p:nvPr/>
        </p:nvCxnSpPr>
        <p:spPr>
          <a:xfrm flipV="1">
            <a:off x="3817939" y="4153416"/>
            <a:ext cx="333375" cy="2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7085DF8-7318-49B7-8F74-6B72C2464957}"/>
              </a:ext>
            </a:extLst>
          </p:cNvPr>
          <p:cNvCxnSpPr>
            <a:stCxn id="15" idx="2"/>
            <a:endCxn id="16" idx="0"/>
          </p:cNvCxnSpPr>
          <p:nvPr/>
        </p:nvCxnSpPr>
        <p:spPr>
          <a:xfrm>
            <a:off x="4937919" y="4338083"/>
            <a:ext cx="960438" cy="4085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CAEC8C8-D5C6-4BC7-A370-E8A13D3165AA}"/>
              </a:ext>
            </a:extLst>
          </p:cNvPr>
          <p:cNvCxnSpPr>
            <a:stCxn id="16" idx="0"/>
            <a:endCxn id="21" idx="2"/>
          </p:cNvCxnSpPr>
          <p:nvPr/>
        </p:nvCxnSpPr>
        <p:spPr>
          <a:xfrm flipV="1">
            <a:off x="5897563" y="4338639"/>
            <a:ext cx="901700" cy="4079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CC891F4-773B-4AAD-B8D3-167674D91FE7}"/>
              </a:ext>
            </a:extLst>
          </p:cNvPr>
          <p:cNvCxnSpPr>
            <a:stCxn id="21" idx="0"/>
            <a:endCxn id="10" idx="2"/>
          </p:cNvCxnSpPr>
          <p:nvPr/>
        </p:nvCxnSpPr>
        <p:spPr>
          <a:xfrm flipH="1" flipV="1">
            <a:off x="6791325" y="3211514"/>
            <a:ext cx="7938" cy="7572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69E33A7-7E32-4927-AB4D-A8829B5D1060}"/>
              </a:ext>
            </a:extLst>
          </p:cNvPr>
          <p:cNvCxnSpPr>
            <a:stCxn id="21" idx="3"/>
          </p:cNvCxnSpPr>
          <p:nvPr/>
        </p:nvCxnSpPr>
        <p:spPr>
          <a:xfrm flipV="1">
            <a:off x="7585076" y="4141788"/>
            <a:ext cx="563563"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F7B0D83-E038-4A0D-9C09-6C27CF1286B9}"/>
              </a:ext>
            </a:extLst>
          </p:cNvPr>
          <p:cNvSpPr txBox="1"/>
          <p:nvPr/>
        </p:nvSpPr>
        <p:spPr>
          <a:xfrm>
            <a:off x="8148638" y="3770313"/>
            <a:ext cx="971550" cy="78483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en-IE" sz="900" dirty="0"/>
              <a:t>5000 word essay on why Starbucks is the enemy of coffee shops in Dublin</a:t>
            </a:r>
          </a:p>
        </p:txBody>
      </p:sp>
      <p:sp>
        <p:nvSpPr>
          <p:cNvPr id="33" name="Oval 32">
            <a:extLst>
              <a:ext uri="{FF2B5EF4-FFF2-40B4-BE49-F238E27FC236}">
                <a16:creationId xmlns:a16="http://schemas.microsoft.com/office/drawing/2014/main" id="{5BC4428B-9F0A-4F4A-8057-7ACB0650C19C}"/>
              </a:ext>
            </a:extLst>
          </p:cNvPr>
          <p:cNvSpPr/>
          <p:nvPr/>
        </p:nvSpPr>
        <p:spPr>
          <a:xfrm>
            <a:off x="5868989" y="2066925"/>
            <a:ext cx="1844675" cy="16192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E"/>
          </a:p>
        </p:txBody>
      </p:sp>
      <p:sp>
        <p:nvSpPr>
          <p:cNvPr id="22" name="Title 1">
            <a:extLst>
              <a:ext uri="{FF2B5EF4-FFF2-40B4-BE49-F238E27FC236}">
                <a16:creationId xmlns:a16="http://schemas.microsoft.com/office/drawing/2014/main" id="{FED4EA3D-F85E-43E6-ADFA-F847AD14495B}"/>
              </a:ext>
            </a:extLst>
          </p:cNvPr>
          <p:cNvSpPr>
            <a:spLocks noGrp="1"/>
          </p:cNvSpPr>
          <p:nvPr>
            <p:ph type="title"/>
          </p:nvPr>
        </p:nvSpPr>
        <p:spPr>
          <a:xfrm>
            <a:off x="1782763" y="0"/>
            <a:ext cx="8229600" cy="381000"/>
          </a:xfrm>
        </p:spPr>
        <p:txBody>
          <a:bodyPr>
            <a:noAutofit/>
          </a:bodyPr>
          <a:lstStyle/>
          <a:p>
            <a:pPr>
              <a:defRPr/>
            </a:pPr>
            <a:r>
              <a:rPr lang="en-IE" sz="2400" dirty="0">
                <a:solidFill>
                  <a:schemeClr val="bg1"/>
                </a:solidFill>
              </a:rPr>
              <a:t>The influence of research</a:t>
            </a:r>
          </a:p>
        </p:txBody>
      </p:sp>
      <p:sp>
        <p:nvSpPr>
          <p:cNvPr id="24" name="TextBox 23">
            <a:extLst>
              <a:ext uri="{FF2B5EF4-FFF2-40B4-BE49-F238E27FC236}">
                <a16:creationId xmlns:a16="http://schemas.microsoft.com/office/drawing/2014/main" id="{5106ECFA-6701-0FF1-1F70-4AE2BEC34543}"/>
              </a:ext>
            </a:extLst>
          </p:cNvPr>
          <p:cNvSpPr txBox="1"/>
          <p:nvPr/>
        </p:nvSpPr>
        <p:spPr>
          <a:xfrm>
            <a:off x="10012363" y="6096000"/>
            <a:ext cx="2061882" cy="369332"/>
          </a:xfrm>
          <a:prstGeom prst="rect">
            <a:avLst/>
          </a:prstGeom>
          <a:noFill/>
        </p:spPr>
        <p:txBody>
          <a:bodyPr wrap="square" rtlCol="0">
            <a:spAutoFit/>
          </a:bodyPr>
          <a:lstStyle/>
          <a:p>
            <a:r>
              <a:rPr lang="en-US" dirty="0"/>
              <a:t>Graham Glanville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ppt_x"/>
                                          </p:val>
                                        </p:tav>
                                        <p:tav tm="100000">
                                          <p:val>
                                            <p:strVal val="#ppt_x"/>
                                          </p:val>
                                        </p:tav>
                                      </p:tavLst>
                                    </p:anim>
                                    <p:anim calcmode="lin" valueType="num">
                                      <p:cBhvr additive="base">
                                        <p:cTn id="7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29"/>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31"/>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32"/>
                                        </p:tgtEl>
                                        <p:attrNameLst>
                                          <p:attrName>style.visibility</p:attrName>
                                        </p:attrNameLst>
                                      </p:cBhvr>
                                      <p:to>
                                        <p:strVal val="visible"/>
                                      </p:to>
                                    </p:set>
                                    <p:anim calcmode="lin" valueType="num">
                                      <p:cBhvr additive="base">
                                        <p:cTn id="87" dur="500" fill="hold"/>
                                        <p:tgtEl>
                                          <p:spTgt spid="32"/>
                                        </p:tgtEl>
                                        <p:attrNameLst>
                                          <p:attrName>ppt_x</p:attrName>
                                        </p:attrNameLst>
                                      </p:cBhvr>
                                      <p:tavLst>
                                        <p:tav tm="0">
                                          <p:val>
                                            <p:strVal val="#ppt_x"/>
                                          </p:val>
                                        </p:tav>
                                        <p:tav tm="100000">
                                          <p:val>
                                            <p:strVal val="#ppt_x"/>
                                          </p:val>
                                        </p:tav>
                                      </p:tavLst>
                                    </p:anim>
                                    <p:anim calcmode="lin" valueType="num">
                                      <p:cBhvr additive="base">
                                        <p:cTn id="8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wheel(1)">
                                      <p:cBhvr>
                                        <p:cTn id="93"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5" grpId="0" animBg="1"/>
      <p:bldP spid="16" grpId="0" animBg="1"/>
      <p:bldP spid="21" grpId="0" animBg="1"/>
      <p:bldP spid="32" grpId="0" animBg="1"/>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normAutofit fontScale="90000"/>
          </a:bodyPr>
          <a:lstStyle/>
          <a:p>
            <a:r>
              <a:rPr lang="en-US" b="1" dirty="0">
                <a:solidFill>
                  <a:schemeClr val="accent1"/>
                </a:solidFill>
              </a:rPr>
              <a:t>How do we know what we know and why do we do what we do?</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981199"/>
            <a:ext cx="10515600" cy="4195763"/>
          </a:xfrm>
        </p:spPr>
        <p:txBody>
          <a:bodyPr>
            <a:normAutofit/>
          </a:bodyPr>
          <a:lstStyle/>
          <a:p>
            <a:pPr eaLnBrk="1" hangingPunct="1">
              <a:lnSpc>
                <a:spcPct val="90000"/>
              </a:lnSpc>
            </a:pPr>
            <a:r>
              <a:rPr lang="en-US" altLang="en-US" sz="3600" dirty="0"/>
              <a:t>Personal Experience (Sensory Experience)</a:t>
            </a:r>
          </a:p>
          <a:p>
            <a:pPr lvl="1" eaLnBrk="1" hangingPunct="1">
              <a:lnSpc>
                <a:spcPct val="90000"/>
              </a:lnSpc>
            </a:pPr>
            <a:r>
              <a:rPr lang="en-US" altLang="en-US" sz="3200" dirty="0"/>
              <a:t>Our personal experiences are limited</a:t>
            </a:r>
          </a:p>
          <a:p>
            <a:pPr lvl="1" eaLnBrk="1" hangingPunct="1">
              <a:lnSpc>
                <a:spcPct val="90000"/>
              </a:lnSpc>
            </a:pPr>
            <a:r>
              <a:rPr lang="en-US" altLang="en-US" sz="3200" dirty="0"/>
              <a:t>We may be mistaken in our observations</a:t>
            </a:r>
          </a:p>
          <a:p>
            <a:pPr lvl="1" eaLnBrk="1" hangingPunct="1">
              <a:lnSpc>
                <a:spcPct val="90000"/>
              </a:lnSpc>
            </a:pPr>
            <a:r>
              <a:rPr lang="en-US" altLang="en-US" sz="3200" dirty="0"/>
              <a:t>We may fail to see things clearly because of our biases</a:t>
            </a:r>
          </a:p>
          <a:p>
            <a:pPr marL="0" indent="0">
              <a:buNone/>
            </a:pPr>
            <a:endParaRPr lang="en-IE" dirty="0"/>
          </a:p>
        </p:txBody>
      </p:sp>
      <p:sp>
        <p:nvSpPr>
          <p:cNvPr id="7" name="TextBox 6">
            <a:extLst>
              <a:ext uri="{FF2B5EF4-FFF2-40B4-BE49-F238E27FC236}">
                <a16:creationId xmlns:a16="http://schemas.microsoft.com/office/drawing/2014/main" id="{106AB4F6-C5DF-0064-4ADA-EB3D37347CF2}"/>
              </a:ext>
            </a:extLst>
          </p:cNvPr>
          <p:cNvSpPr txBox="1"/>
          <p:nvPr/>
        </p:nvSpPr>
        <p:spPr>
          <a:xfrm>
            <a:off x="10013576" y="542808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2454108843"/>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normAutofit fontScale="90000"/>
          </a:bodyPr>
          <a:lstStyle/>
          <a:p>
            <a:r>
              <a:rPr lang="en-US" b="1" dirty="0">
                <a:solidFill>
                  <a:schemeClr val="accent1"/>
                </a:solidFill>
              </a:rPr>
              <a:t>How do we know what we know and why do we do what we do?</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981199"/>
            <a:ext cx="10515600" cy="4195763"/>
          </a:xfrm>
        </p:spPr>
        <p:txBody>
          <a:bodyPr>
            <a:normAutofit/>
          </a:bodyPr>
          <a:lstStyle/>
          <a:p>
            <a:pPr eaLnBrk="1" hangingPunct="1">
              <a:lnSpc>
                <a:spcPct val="90000"/>
              </a:lnSpc>
            </a:pPr>
            <a:r>
              <a:rPr lang="en-US" altLang="en-US" sz="4000" dirty="0"/>
              <a:t>Tradition (Agreement with Others)</a:t>
            </a:r>
          </a:p>
          <a:p>
            <a:pPr lvl="1" eaLnBrk="1" hangingPunct="1">
              <a:lnSpc>
                <a:spcPct val="90000"/>
              </a:lnSpc>
            </a:pPr>
            <a:r>
              <a:rPr lang="en-US" altLang="en-US" sz="3600" dirty="0"/>
              <a:t>Advice, rules, and approaches to handling problems are passed from year to year and accepted as truth</a:t>
            </a:r>
          </a:p>
          <a:p>
            <a:pPr lvl="1" eaLnBrk="1" hangingPunct="1">
              <a:lnSpc>
                <a:spcPct val="90000"/>
              </a:lnSpc>
            </a:pPr>
            <a:r>
              <a:rPr lang="en-US" altLang="en-US" sz="3600" dirty="0"/>
              <a:t>Reliance on tradition eliminates the need to search for knowledge, makes accepting new knowledge difficult, and mitigates our desire to question existing practice.</a:t>
            </a:r>
          </a:p>
          <a:p>
            <a:pPr marL="0" indent="0">
              <a:buNone/>
            </a:pPr>
            <a:endParaRPr lang="en-IE" dirty="0"/>
          </a:p>
        </p:txBody>
      </p:sp>
      <p:sp>
        <p:nvSpPr>
          <p:cNvPr id="7" name="TextBox 6">
            <a:extLst>
              <a:ext uri="{FF2B5EF4-FFF2-40B4-BE49-F238E27FC236}">
                <a16:creationId xmlns:a16="http://schemas.microsoft.com/office/drawing/2014/main" id="{0B809D95-70B2-1CA6-D3BD-895C5CE83E85}"/>
              </a:ext>
            </a:extLst>
          </p:cNvPr>
          <p:cNvSpPr txBox="1"/>
          <p:nvPr/>
        </p:nvSpPr>
        <p:spPr>
          <a:xfrm>
            <a:off x="10322859" y="5576339"/>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245037986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normAutofit fontScale="90000"/>
          </a:bodyPr>
          <a:lstStyle/>
          <a:p>
            <a:r>
              <a:rPr lang="en-US" b="1" dirty="0">
                <a:solidFill>
                  <a:schemeClr val="accent1"/>
                </a:solidFill>
              </a:rPr>
              <a:t>How do we know what we know and why do we do what we do?</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981199"/>
            <a:ext cx="10515600" cy="4195763"/>
          </a:xfrm>
        </p:spPr>
        <p:txBody>
          <a:bodyPr>
            <a:normAutofit/>
          </a:bodyPr>
          <a:lstStyle/>
          <a:p>
            <a:pPr eaLnBrk="1" hangingPunct="1"/>
            <a:r>
              <a:rPr lang="en-US" altLang="en-US" sz="4000" dirty="0"/>
              <a:t>Authority (Expert Opinion)</a:t>
            </a:r>
          </a:p>
          <a:p>
            <a:pPr lvl="1" eaLnBrk="1" hangingPunct="1"/>
            <a:r>
              <a:rPr lang="en-US" altLang="en-US" sz="3600" dirty="0"/>
              <a:t>Authorities can be wrong, and the public has a tendency to accept as fact what are actually opinions.</a:t>
            </a:r>
          </a:p>
          <a:p>
            <a:pPr lvl="1" eaLnBrk="1" hangingPunct="1"/>
            <a:r>
              <a:rPr lang="en-US" altLang="en-US" sz="3600" dirty="0"/>
              <a:t>Science “Best effort”</a:t>
            </a:r>
          </a:p>
        </p:txBody>
      </p:sp>
      <p:sp>
        <p:nvSpPr>
          <p:cNvPr id="7" name="TextBox 6">
            <a:extLst>
              <a:ext uri="{FF2B5EF4-FFF2-40B4-BE49-F238E27FC236}">
                <a16:creationId xmlns:a16="http://schemas.microsoft.com/office/drawing/2014/main" id="{13980F4A-53DD-F3E5-A5B9-009052596774}"/>
              </a:ext>
            </a:extLst>
          </p:cNvPr>
          <p:cNvSpPr txBox="1"/>
          <p:nvPr/>
        </p:nvSpPr>
        <p:spPr>
          <a:xfrm>
            <a:off x="10130118" y="5576339"/>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4260945626"/>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The Research Process</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eaLnBrk="1" hangingPunct="1">
              <a:lnSpc>
                <a:spcPct val="90000"/>
              </a:lnSpc>
            </a:pPr>
            <a:r>
              <a:rPr lang="en-US" altLang="en-US" dirty="0"/>
              <a:t>Selecting and defining the problem</a:t>
            </a:r>
          </a:p>
          <a:p>
            <a:pPr eaLnBrk="1" hangingPunct="1">
              <a:lnSpc>
                <a:spcPct val="90000"/>
              </a:lnSpc>
            </a:pPr>
            <a:r>
              <a:rPr lang="en-US" altLang="en-US" dirty="0"/>
              <a:t>Accumulating pertinent knowledge and information</a:t>
            </a:r>
          </a:p>
          <a:p>
            <a:pPr eaLnBrk="1" hangingPunct="1">
              <a:lnSpc>
                <a:spcPct val="90000"/>
              </a:lnSpc>
            </a:pPr>
            <a:r>
              <a:rPr lang="en-US" altLang="en-US" dirty="0"/>
              <a:t>Developing specific objectives</a:t>
            </a:r>
          </a:p>
          <a:p>
            <a:pPr eaLnBrk="1" hangingPunct="1">
              <a:lnSpc>
                <a:spcPct val="90000"/>
              </a:lnSpc>
            </a:pPr>
            <a:r>
              <a:rPr lang="en-US" altLang="en-US" dirty="0"/>
              <a:t>Designing the study, collecting and analyzing data</a:t>
            </a:r>
          </a:p>
          <a:p>
            <a:pPr eaLnBrk="1" hangingPunct="1">
              <a:lnSpc>
                <a:spcPct val="90000"/>
              </a:lnSpc>
            </a:pPr>
            <a:r>
              <a:rPr lang="en-US" altLang="en-US" dirty="0"/>
              <a:t>Interpreting data</a:t>
            </a:r>
          </a:p>
          <a:p>
            <a:pPr eaLnBrk="1" hangingPunct="1">
              <a:lnSpc>
                <a:spcPct val="90000"/>
              </a:lnSpc>
            </a:pPr>
            <a:r>
              <a:rPr lang="en-US" altLang="en-US" dirty="0"/>
              <a:t>Preparing the research report</a:t>
            </a:r>
          </a:p>
          <a:p>
            <a:pPr marL="0" indent="0">
              <a:buNone/>
            </a:pPr>
            <a:endParaRPr lang="en-IE" dirty="0"/>
          </a:p>
        </p:txBody>
      </p:sp>
      <p:sp>
        <p:nvSpPr>
          <p:cNvPr id="7" name="TextBox 6">
            <a:extLst>
              <a:ext uri="{FF2B5EF4-FFF2-40B4-BE49-F238E27FC236}">
                <a16:creationId xmlns:a16="http://schemas.microsoft.com/office/drawing/2014/main" id="{53FE3E5F-DF04-1B35-AAAE-0F1945B4C996}"/>
              </a:ext>
            </a:extLst>
          </p:cNvPr>
          <p:cNvSpPr txBox="1"/>
          <p:nvPr/>
        </p:nvSpPr>
        <p:spPr>
          <a:xfrm>
            <a:off x="9795363" y="5538618"/>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1020257494"/>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Why Conduct Research?</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eaLnBrk="1" hangingPunct="1">
              <a:lnSpc>
                <a:spcPct val="90000"/>
              </a:lnSpc>
            </a:pPr>
            <a:r>
              <a:rPr lang="en-US" altLang="en-US" dirty="0"/>
              <a:t>To better understand various phenomena</a:t>
            </a:r>
          </a:p>
          <a:p>
            <a:pPr eaLnBrk="1" hangingPunct="1">
              <a:lnSpc>
                <a:spcPct val="90000"/>
              </a:lnSpc>
            </a:pPr>
            <a:r>
              <a:rPr lang="en-US" altLang="en-US" dirty="0"/>
              <a:t>To disprove fraudulent claims</a:t>
            </a:r>
          </a:p>
          <a:p>
            <a:pPr eaLnBrk="1" hangingPunct="1">
              <a:lnSpc>
                <a:spcPct val="90000"/>
              </a:lnSpc>
            </a:pPr>
            <a:r>
              <a:rPr lang="en-US" altLang="en-US" dirty="0"/>
              <a:t>To improve education or your specific discipline</a:t>
            </a:r>
          </a:p>
          <a:p>
            <a:pPr marL="0" indent="0">
              <a:buNone/>
            </a:pPr>
            <a:endParaRPr lang="en-IE" dirty="0"/>
          </a:p>
        </p:txBody>
      </p:sp>
      <p:sp>
        <p:nvSpPr>
          <p:cNvPr id="7" name="TextBox 6">
            <a:extLst>
              <a:ext uri="{FF2B5EF4-FFF2-40B4-BE49-F238E27FC236}">
                <a16:creationId xmlns:a16="http://schemas.microsoft.com/office/drawing/2014/main" id="{D18EAB19-D163-A92C-FDD3-EEC146A28D37}"/>
              </a:ext>
            </a:extLst>
          </p:cNvPr>
          <p:cNvSpPr txBox="1"/>
          <p:nvPr/>
        </p:nvSpPr>
        <p:spPr>
          <a:xfrm>
            <a:off x="10086644" y="5465802"/>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193940131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What Is Research?</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GB" altLang="en-US" sz="2800" dirty="0"/>
              <a:t>The Higher Education Authority (HEA) defined research as:</a:t>
            </a:r>
          </a:p>
          <a:p>
            <a:pPr lvl="2" eaLnBrk="1" hangingPunct="1"/>
            <a:r>
              <a:rPr lang="en-GB" altLang="en-US" sz="2400" dirty="0"/>
              <a:t>‘original investigation undertaken in order to gain knowledge and understanding’.</a:t>
            </a:r>
          </a:p>
          <a:p>
            <a:pPr lvl="2" eaLnBrk="1" hangingPunct="1"/>
            <a:r>
              <a:rPr lang="en-GB" altLang="en-US" sz="2400" dirty="0"/>
              <a:t>Three key terms in this definition are worth exploring:</a:t>
            </a:r>
          </a:p>
          <a:p>
            <a:pPr lvl="3" eaLnBrk="1" hangingPunct="1"/>
            <a:r>
              <a:rPr lang="en-GB" altLang="en-US" sz="2000" dirty="0"/>
              <a:t>Original</a:t>
            </a:r>
          </a:p>
          <a:p>
            <a:pPr lvl="3" eaLnBrk="1" hangingPunct="1"/>
            <a:r>
              <a:rPr lang="en-GB" altLang="en-US" sz="2000" dirty="0"/>
              <a:t>Gain</a:t>
            </a:r>
          </a:p>
          <a:p>
            <a:pPr lvl="3" eaLnBrk="1" hangingPunct="1"/>
            <a:r>
              <a:rPr lang="en-GB" altLang="en-US" sz="2000" dirty="0"/>
              <a:t>Knowledge</a:t>
            </a:r>
          </a:p>
          <a:p>
            <a:pPr marL="0" indent="0">
              <a:buNone/>
            </a:pPr>
            <a:endParaRPr lang="en-IE" dirty="0"/>
          </a:p>
        </p:txBody>
      </p:sp>
      <p:sp>
        <p:nvSpPr>
          <p:cNvPr id="7" name="TextBox 6">
            <a:extLst>
              <a:ext uri="{FF2B5EF4-FFF2-40B4-BE49-F238E27FC236}">
                <a16:creationId xmlns:a16="http://schemas.microsoft.com/office/drawing/2014/main" id="{EA8AD5D8-40B6-D3B2-3CBE-64044DBBE480}"/>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2598488455"/>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Originality</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US" altLang="en-US" dirty="0"/>
              <a:t>… </a:t>
            </a:r>
            <a:r>
              <a:rPr lang="en-US" altLang="en-US" sz="2800" dirty="0"/>
              <a:t>doing or producing something that has not been done before. Simplistic! How does it relate to Applied Technology Group Projects?</a:t>
            </a:r>
          </a:p>
          <a:p>
            <a:pPr lvl="1" eaLnBrk="1" hangingPunct="1"/>
            <a:r>
              <a:rPr lang="en-US" altLang="en-US" sz="2800" dirty="0"/>
              <a:t>Cryer (1996) offers four ways in which a project may be original:</a:t>
            </a:r>
          </a:p>
          <a:p>
            <a:pPr lvl="2" eaLnBrk="1" hangingPunct="1"/>
            <a:r>
              <a:rPr lang="en-US" altLang="en-US" sz="2400" dirty="0"/>
              <a:t>Tools, techniques, procedures and methods:</a:t>
            </a:r>
          </a:p>
          <a:p>
            <a:pPr lvl="3" eaLnBrk="1" hangingPunct="1"/>
            <a:r>
              <a:rPr lang="en-US" altLang="en-US" sz="2000" dirty="0"/>
              <a:t>New tools and techniques applied to alternative problems.</a:t>
            </a:r>
          </a:p>
          <a:p>
            <a:pPr lvl="3" eaLnBrk="1" hangingPunct="1"/>
            <a:r>
              <a:rPr lang="en-US" altLang="en-US" sz="2000" dirty="0"/>
              <a:t>Trying new procedures and methods where they have not been applied before.</a:t>
            </a:r>
          </a:p>
        </p:txBody>
      </p:sp>
      <p:sp>
        <p:nvSpPr>
          <p:cNvPr id="7" name="TextBox 6">
            <a:extLst>
              <a:ext uri="{FF2B5EF4-FFF2-40B4-BE49-F238E27FC236}">
                <a16:creationId xmlns:a16="http://schemas.microsoft.com/office/drawing/2014/main" id="{D7830B3B-9E18-272C-89B5-F518F70CE6B9}"/>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3503729450"/>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Knowledge</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US" altLang="en-US" sz="2800" dirty="0"/>
              <a:t>Knowledge may be discussed relative to data, information, and wisdom. Post and Anderson (1997) describe these as:</a:t>
            </a:r>
          </a:p>
          <a:p>
            <a:pPr lvl="2" eaLnBrk="1" hangingPunct="1"/>
            <a:r>
              <a:rPr lang="en-US" altLang="en-US" sz="2400" dirty="0"/>
              <a:t>Data: factual elements that describe objects or events.</a:t>
            </a:r>
          </a:p>
          <a:p>
            <a:pPr lvl="2" eaLnBrk="1" hangingPunct="1"/>
            <a:r>
              <a:rPr lang="en-US" altLang="en-US" sz="2400" dirty="0"/>
              <a:t>Information: data that has been processed in order to provide some insight into their meaning. </a:t>
            </a:r>
          </a:p>
          <a:p>
            <a:pPr lvl="2" eaLnBrk="1" hangingPunct="1"/>
            <a:r>
              <a:rPr lang="en-US" altLang="en-US" sz="2400" dirty="0"/>
              <a:t>Knowledge: a higher level of understanding.</a:t>
            </a:r>
          </a:p>
          <a:p>
            <a:pPr lvl="2" eaLnBrk="1" hangingPunct="1"/>
            <a:r>
              <a:rPr lang="en-US" altLang="en-US" sz="2400" dirty="0"/>
              <a:t>Wisdom: an ability to put knowledge into practice. Apply skills and experiences to create new knowledge.</a:t>
            </a:r>
          </a:p>
          <a:p>
            <a:pPr marL="0" indent="0">
              <a:buNone/>
            </a:pPr>
            <a:endParaRPr lang="en-IE" dirty="0"/>
          </a:p>
        </p:txBody>
      </p:sp>
      <p:sp>
        <p:nvSpPr>
          <p:cNvPr id="8" name="Text Box 9">
            <a:extLst>
              <a:ext uri="{FF2B5EF4-FFF2-40B4-BE49-F238E27FC236}">
                <a16:creationId xmlns:a16="http://schemas.microsoft.com/office/drawing/2014/main" id="{3BFC0B73-C725-7B68-C16F-0352F5D1D66B}"/>
              </a:ext>
            </a:extLst>
          </p:cNvPr>
          <p:cNvSpPr txBox="1">
            <a:spLocks noChangeArrowheads="1"/>
          </p:cNvSpPr>
          <p:nvPr/>
        </p:nvSpPr>
        <p:spPr bwMode="auto">
          <a:xfrm>
            <a:off x="2422152" y="5426241"/>
            <a:ext cx="75152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10000"/>
              </a:lnSpc>
              <a:spcAft>
                <a:spcPct val="50000"/>
              </a:spcAft>
              <a:buFont typeface="Arial" panose="020B0604020202020204" pitchFamily="34" charset="0"/>
              <a:buNone/>
            </a:pPr>
            <a:r>
              <a:rPr lang="en-US" altLang="en-US" sz="1200" dirty="0"/>
              <a:t>Post G.V. and Anderson D.L. (1997)</a:t>
            </a:r>
            <a:r>
              <a:rPr lang="en-US" altLang="en-US" sz="1200" i="1" dirty="0"/>
              <a:t> Management Information Systems: Solving Business Problems with Information Technology. </a:t>
            </a:r>
            <a:r>
              <a:rPr lang="en-US" altLang="en-US" sz="1200" dirty="0"/>
              <a:t>London. Irwin</a:t>
            </a:r>
            <a:endParaRPr lang="en-GB" altLang="en-US" sz="1200" dirty="0"/>
          </a:p>
        </p:txBody>
      </p:sp>
    </p:spTree>
    <p:extLst>
      <p:ext uri="{BB962C8B-B14F-4D97-AF65-F5344CB8AC3E}">
        <p14:creationId xmlns:p14="http://schemas.microsoft.com/office/powerpoint/2010/main" val="277210211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What Is Research? </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GB" altLang="en-US" sz="2800" dirty="0"/>
              <a:t>Research is not intelligence gathering – ‘fact gathering’ </a:t>
            </a:r>
          </a:p>
          <a:p>
            <a:pPr lvl="1" eaLnBrk="1" hangingPunct="1"/>
            <a:r>
              <a:rPr lang="en-GB" altLang="en-US" sz="2800" dirty="0"/>
              <a:t>Facts are used to answer ‘what’ questions, for example:</a:t>
            </a:r>
          </a:p>
          <a:p>
            <a:pPr lvl="2" eaLnBrk="1" hangingPunct="1"/>
            <a:r>
              <a:rPr lang="en-GB" altLang="en-US" sz="2400" dirty="0"/>
              <a:t>What is the impact on competitive advantage of a misalignment between IT strategy and business strategy?</a:t>
            </a:r>
          </a:p>
          <a:p>
            <a:pPr marL="0" indent="0">
              <a:buNone/>
            </a:pPr>
            <a:endParaRPr lang="en-IE" dirty="0"/>
          </a:p>
        </p:txBody>
      </p:sp>
      <p:sp>
        <p:nvSpPr>
          <p:cNvPr id="7" name="TextBox 6">
            <a:extLst>
              <a:ext uri="{FF2B5EF4-FFF2-40B4-BE49-F238E27FC236}">
                <a16:creationId xmlns:a16="http://schemas.microsoft.com/office/drawing/2014/main" id="{4DE97FDD-8F09-CACD-A7F9-09E09F9DE3AF}"/>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54798398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What Is Research? </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GB" altLang="en-US" sz="2800" dirty="0"/>
              <a:t>Research looks for ‘explanations, relationships, comparisons, predictions, generalisations and theories’.</a:t>
            </a:r>
          </a:p>
          <a:p>
            <a:pPr lvl="1" eaLnBrk="1" hangingPunct="1"/>
            <a:r>
              <a:rPr lang="en-GB" altLang="en-US" sz="2800" dirty="0"/>
              <a:t>In other words, research addresses the ‘why’ question, for example:</a:t>
            </a:r>
          </a:p>
          <a:p>
            <a:pPr lvl="2" eaLnBrk="1" hangingPunct="1"/>
            <a:r>
              <a:rPr lang="en-GB" altLang="en-US" sz="2400" dirty="0"/>
              <a:t>Why is an organisation’s competitive advantage so dependent on close alignment of an organisation’s IT strategy and business strategy?</a:t>
            </a:r>
          </a:p>
          <a:p>
            <a:pPr marL="0" indent="0">
              <a:buNone/>
            </a:pPr>
            <a:endParaRPr lang="en-IE" dirty="0"/>
          </a:p>
        </p:txBody>
      </p:sp>
      <p:sp>
        <p:nvSpPr>
          <p:cNvPr id="7" name="Text Box 11">
            <a:extLst>
              <a:ext uri="{FF2B5EF4-FFF2-40B4-BE49-F238E27FC236}">
                <a16:creationId xmlns:a16="http://schemas.microsoft.com/office/drawing/2014/main" id="{ACD25457-CE6A-ABB0-B18B-C7AF16DBF279}"/>
              </a:ext>
            </a:extLst>
          </p:cNvPr>
          <p:cNvSpPr txBox="1">
            <a:spLocks noChangeArrowheads="1"/>
          </p:cNvSpPr>
          <p:nvPr/>
        </p:nvSpPr>
        <p:spPr bwMode="auto">
          <a:xfrm>
            <a:off x="2395538" y="5638800"/>
            <a:ext cx="758666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10000"/>
              </a:lnSpc>
              <a:spcAft>
                <a:spcPct val="75000"/>
              </a:spcAft>
            </a:pPr>
            <a:r>
              <a:rPr lang="en-US" altLang="en-US" sz="1200" i="1" dirty="0"/>
              <a:t>Phillips, E.M. and Pugh, D.S. (1994) How to get a PhD. (2nd Edition). Milton Keynes. Open University Press</a:t>
            </a:r>
            <a:endParaRPr lang="en-GB" altLang="en-US" sz="1200" dirty="0"/>
          </a:p>
        </p:txBody>
      </p:sp>
    </p:spTree>
    <p:extLst>
      <p:ext uri="{BB962C8B-B14F-4D97-AF65-F5344CB8AC3E}">
        <p14:creationId xmlns:p14="http://schemas.microsoft.com/office/powerpoint/2010/main" val="334362243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What Is Research </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US" altLang="en-US" dirty="0"/>
              <a:t>Research is not, therefore, undertaken in an informal fashion. </a:t>
            </a:r>
          </a:p>
          <a:p>
            <a:pPr lvl="1" eaLnBrk="1" hangingPunct="1"/>
            <a:r>
              <a:rPr lang="en-US" altLang="en-US" dirty="0"/>
              <a:t>It should be a planned activity, which is pursued in a considered way.</a:t>
            </a:r>
          </a:p>
          <a:p>
            <a:pPr lvl="1" eaLnBrk="1" hangingPunct="1"/>
            <a:r>
              <a:rPr lang="en-US" altLang="en-US" dirty="0"/>
              <a:t>Dawson (2005) draws all this together by succinctly stating:</a:t>
            </a:r>
          </a:p>
          <a:p>
            <a:pPr lvl="2" eaLnBrk="1" hangingPunct="1"/>
            <a:r>
              <a:rPr lang="en-US" altLang="en-US" dirty="0"/>
              <a:t>‘Research is a considered activity which aims to make an original contribution to knowledge’</a:t>
            </a:r>
          </a:p>
          <a:p>
            <a:pPr marL="0" indent="0">
              <a:buNone/>
            </a:pPr>
            <a:endParaRPr lang="en-IE" dirty="0"/>
          </a:p>
        </p:txBody>
      </p:sp>
      <p:sp>
        <p:nvSpPr>
          <p:cNvPr id="7" name="Text Box 11">
            <a:extLst>
              <a:ext uri="{FF2B5EF4-FFF2-40B4-BE49-F238E27FC236}">
                <a16:creationId xmlns:a16="http://schemas.microsoft.com/office/drawing/2014/main" id="{C932FD93-D952-D94A-2EAD-7E67A5DF2B4D}"/>
              </a:ext>
            </a:extLst>
          </p:cNvPr>
          <p:cNvSpPr txBox="1">
            <a:spLocks noChangeArrowheads="1"/>
          </p:cNvSpPr>
          <p:nvPr/>
        </p:nvSpPr>
        <p:spPr bwMode="auto">
          <a:xfrm>
            <a:off x="2525714" y="5410200"/>
            <a:ext cx="7456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200" dirty="0"/>
              <a:t>Sharp, J.A. and Howard, K. (1996)</a:t>
            </a:r>
            <a:r>
              <a:rPr lang="en-US" altLang="en-US" sz="1200" i="1" dirty="0"/>
              <a:t> The Management of a Student Project </a:t>
            </a:r>
            <a:r>
              <a:rPr lang="en-US" altLang="en-US" sz="1200" dirty="0"/>
              <a:t>(2nd Edition). </a:t>
            </a:r>
            <a:r>
              <a:rPr lang="en-US" altLang="en-US" sz="1200" dirty="0" err="1"/>
              <a:t>Aldershot</a:t>
            </a:r>
            <a:r>
              <a:rPr lang="en-US" altLang="en-US" sz="1200" dirty="0"/>
              <a:t>. Gower.</a:t>
            </a:r>
          </a:p>
          <a:p>
            <a:r>
              <a:rPr lang="en-US" altLang="en-US" sz="1200" dirty="0"/>
              <a:t>Dawson, C.W. (2005) </a:t>
            </a:r>
            <a:r>
              <a:rPr lang="en-US" altLang="en-US" sz="1200" i="1" dirty="0"/>
              <a:t>Projects in Computing and Information Systems: A Students Guide,</a:t>
            </a:r>
            <a:r>
              <a:rPr lang="en-US" altLang="en-US" sz="1200" dirty="0"/>
              <a:t> Prentice-Hall</a:t>
            </a:r>
            <a:endParaRPr lang="en-GB" altLang="en-US" sz="1200" dirty="0"/>
          </a:p>
        </p:txBody>
      </p:sp>
    </p:spTree>
    <p:extLst>
      <p:ext uri="{BB962C8B-B14F-4D97-AF65-F5344CB8AC3E}">
        <p14:creationId xmlns:p14="http://schemas.microsoft.com/office/powerpoint/2010/main" val="3959930501"/>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Theory</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US" altLang="en-US" sz="2800" dirty="0"/>
              <a:t>In research there is a further category to consider: Theory.</a:t>
            </a:r>
          </a:p>
          <a:p>
            <a:pPr lvl="2" eaLnBrk="1" hangingPunct="1"/>
            <a:r>
              <a:rPr lang="en-US" altLang="en-US" sz="2400" dirty="0"/>
              <a:t>Gill and Thompson (1997) define theory as:</a:t>
            </a:r>
          </a:p>
          <a:p>
            <a:pPr lvl="3" eaLnBrk="1" hangingPunct="1"/>
            <a:r>
              <a:rPr lang="en-US" altLang="en-US" sz="2000" dirty="0"/>
              <a:t>‘a formulation regarding the cause and effect relationship between two or more variables, which may or may not have been tested’.</a:t>
            </a:r>
          </a:p>
          <a:p>
            <a:pPr lvl="2" eaLnBrk="1" hangingPunct="1"/>
            <a:r>
              <a:rPr lang="en-US" altLang="en-US" sz="2400" dirty="0"/>
              <a:t>Theory therefore has a specific meaning. It refers to a situation where:</a:t>
            </a:r>
          </a:p>
          <a:p>
            <a:pPr lvl="3" eaLnBrk="1" hangingPunct="1"/>
            <a:r>
              <a:rPr lang="en-US" altLang="en-US" sz="2000" dirty="0"/>
              <a:t>if variable ‘A’ is introduced variable ‘B’ will be the consequence.</a:t>
            </a:r>
          </a:p>
          <a:p>
            <a:pPr lvl="2" eaLnBrk="1" hangingPunct="1"/>
            <a:r>
              <a:rPr lang="en-US" altLang="en-US" sz="2400" dirty="0"/>
              <a:t>Where, A is the </a:t>
            </a:r>
            <a:r>
              <a:rPr lang="en-US" altLang="en-US" sz="2400" dirty="0" err="1"/>
              <a:t>‘cause</a:t>
            </a:r>
            <a:r>
              <a:rPr lang="en-US" altLang="en-US" sz="2400" dirty="0"/>
              <a:t>’ and B the ‘effect’</a:t>
            </a:r>
          </a:p>
          <a:p>
            <a:pPr marL="0" indent="0">
              <a:buNone/>
            </a:pPr>
            <a:endParaRPr lang="en-IE" dirty="0"/>
          </a:p>
        </p:txBody>
      </p:sp>
      <p:sp>
        <p:nvSpPr>
          <p:cNvPr id="7" name="Text Box 9">
            <a:extLst>
              <a:ext uri="{FF2B5EF4-FFF2-40B4-BE49-F238E27FC236}">
                <a16:creationId xmlns:a16="http://schemas.microsoft.com/office/drawing/2014/main" id="{75A3E133-CDAF-E04B-CAD0-CA32C74956D2}"/>
              </a:ext>
            </a:extLst>
          </p:cNvPr>
          <p:cNvSpPr txBox="1">
            <a:spLocks noChangeArrowheads="1"/>
          </p:cNvSpPr>
          <p:nvPr/>
        </p:nvSpPr>
        <p:spPr bwMode="auto">
          <a:xfrm>
            <a:off x="2497138" y="5638800"/>
            <a:ext cx="72818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US" sz="1200" i="1" dirty="0"/>
              <a:t>Gill, J. and Johnson, P. (1997) Research Methods for Managers (2nd edition), London, Paul Chapman.</a:t>
            </a:r>
            <a:endParaRPr lang="en-GB" altLang="en-US" sz="1200" i="1" dirty="0"/>
          </a:p>
        </p:txBody>
      </p:sp>
    </p:spTree>
    <p:extLst>
      <p:ext uri="{BB962C8B-B14F-4D97-AF65-F5344CB8AC3E}">
        <p14:creationId xmlns:p14="http://schemas.microsoft.com/office/powerpoint/2010/main" val="3215306274"/>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Theory</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GB" altLang="en-US" dirty="0"/>
              <a:t>Saunders et al (2006) note that ‘every purposive decision we take is based on theory: that certain consequences will flow from a decision.’</a:t>
            </a:r>
          </a:p>
          <a:p>
            <a:pPr lvl="1" eaLnBrk="1" hangingPunct="1"/>
            <a:r>
              <a:rPr lang="en-GB" altLang="en-US" dirty="0"/>
              <a:t>As such, theory is rooted in our everyday lives, e.g., management decisions are implicitly theory dependent: we will do A because we want B to happen.</a:t>
            </a:r>
          </a:p>
          <a:p>
            <a:pPr lvl="1" eaLnBrk="1" hangingPunct="1"/>
            <a:r>
              <a:rPr lang="en-GB" altLang="en-US" dirty="0"/>
              <a:t>Kerlinger (1973) notes that the purpose of examining relationships between two or more variables is to explain and predict these relationships.	</a:t>
            </a:r>
          </a:p>
          <a:p>
            <a:pPr marL="0" indent="0">
              <a:buNone/>
            </a:pPr>
            <a:endParaRPr lang="en-IE" dirty="0"/>
          </a:p>
        </p:txBody>
      </p:sp>
      <p:sp>
        <p:nvSpPr>
          <p:cNvPr id="7" name="Text Box 12">
            <a:extLst>
              <a:ext uri="{FF2B5EF4-FFF2-40B4-BE49-F238E27FC236}">
                <a16:creationId xmlns:a16="http://schemas.microsoft.com/office/drawing/2014/main" id="{F85BB254-E4D5-F89D-31A3-7608A628B208}"/>
              </a:ext>
            </a:extLst>
          </p:cNvPr>
          <p:cNvSpPr txBox="1">
            <a:spLocks noChangeArrowheads="1"/>
          </p:cNvSpPr>
          <p:nvPr/>
        </p:nvSpPr>
        <p:spPr bwMode="auto">
          <a:xfrm>
            <a:off x="2682876" y="5143501"/>
            <a:ext cx="72993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GB" altLang="en-US" sz="1200" dirty="0"/>
              <a:t>Saunders, M. Lewis, P. and Thornhill, A. (2006) </a:t>
            </a:r>
            <a:r>
              <a:rPr lang="en-GB" altLang="en-US" sz="1200" i="1" dirty="0"/>
              <a:t>Research Methods for Business Students</a:t>
            </a:r>
            <a:r>
              <a:rPr lang="en-GB" altLang="en-US" sz="1200" dirty="0"/>
              <a:t> (4th Edition) London. FT Prentice-Hall.	</a:t>
            </a:r>
            <a:r>
              <a:rPr lang="en-GB" altLang="en-US" sz="1200" i="1" dirty="0"/>
              <a:t> </a:t>
            </a:r>
          </a:p>
          <a:p>
            <a:r>
              <a:rPr lang="en-GB" altLang="en-US" sz="1200" dirty="0"/>
              <a:t>Kerlinger, F. (1973) </a:t>
            </a:r>
            <a:r>
              <a:rPr lang="en-GB" altLang="en-US" sz="1200" i="1" dirty="0"/>
              <a:t>Foundations of Behavioural Research</a:t>
            </a:r>
            <a:r>
              <a:rPr lang="en-GB" altLang="en-US" sz="1200" dirty="0"/>
              <a:t> </a:t>
            </a:r>
            <a:r>
              <a:rPr lang="en-GB" altLang="en-US" sz="1200" i="1" dirty="0"/>
              <a:t>(</a:t>
            </a:r>
            <a:r>
              <a:rPr lang="en-GB" altLang="en-US" sz="1200" dirty="0"/>
              <a:t>2nd Edition) New York, Holt Rinehart and Winston.</a:t>
            </a:r>
          </a:p>
        </p:txBody>
      </p:sp>
    </p:spTree>
    <p:extLst>
      <p:ext uri="{BB962C8B-B14F-4D97-AF65-F5344CB8AC3E}">
        <p14:creationId xmlns:p14="http://schemas.microsoft.com/office/powerpoint/2010/main" val="2085768564"/>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Theory</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GB" altLang="en-US" sz="2800" dirty="0"/>
              <a:t>Gill and Thompson (1997) makes this explicit by stating:</a:t>
            </a:r>
          </a:p>
          <a:p>
            <a:pPr lvl="2" eaLnBrk="1" hangingPunct="1"/>
            <a:r>
              <a:rPr lang="en-GB" altLang="en-US" sz="2400" dirty="0"/>
              <a:t>‘… it is also evident that if we have the expectation that by doing A, B will happen, then by manipulating the occurrence of A we can begin to predict and influence the occurrence of B. In other words, theory is clearly enmeshed in practice since explanation enables prediction which in turn enables control.’</a:t>
            </a:r>
          </a:p>
          <a:p>
            <a:pPr marL="0" indent="0">
              <a:buNone/>
            </a:pPr>
            <a:endParaRPr lang="en-IE" dirty="0"/>
          </a:p>
        </p:txBody>
      </p:sp>
      <p:sp>
        <p:nvSpPr>
          <p:cNvPr id="7" name="Text Box 8">
            <a:extLst>
              <a:ext uri="{FF2B5EF4-FFF2-40B4-BE49-F238E27FC236}">
                <a16:creationId xmlns:a16="http://schemas.microsoft.com/office/drawing/2014/main" id="{FBB60DC4-EE39-EC1C-09E0-761F03D8A13D}"/>
              </a:ext>
            </a:extLst>
          </p:cNvPr>
          <p:cNvSpPr txBox="1">
            <a:spLocks noChangeArrowheads="1"/>
          </p:cNvSpPr>
          <p:nvPr/>
        </p:nvSpPr>
        <p:spPr bwMode="auto">
          <a:xfrm>
            <a:off x="2768600" y="5638800"/>
            <a:ext cx="721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US" sz="1200" dirty="0"/>
              <a:t>Gill, J. and Johnson, P. (1997)</a:t>
            </a:r>
            <a:r>
              <a:rPr lang="en-US" altLang="en-US" sz="1200" i="1" dirty="0"/>
              <a:t> Research Methods for Managers </a:t>
            </a:r>
            <a:r>
              <a:rPr lang="en-US" altLang="en-US" sz="1200" dirty="0"/>
              <a:t>(2nd edition), London, Paul Chapman.</a:t>
            </a:r>
            <a:endParaRPr lang="en-GB" altLang="en-US" sz="1200" dirty="0"/>
          </a:p>
        </p:txBody>
      </p:sp>
    </p:spTree>
    <p:extLst>
      <p:ext uri="{BB962C8B-B14F-4D97-AF65-F5344CB8AC3E}">
        <p14:creationId xmlns:p14="http://schemas.microsoft.com/office/powerpoint/2010/main" val="2270222702"/>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Research Process </a:t>
            </a:r>
            <a:endParaRPr lang="en-IE" dirty="0">
              <a:solidFill>
                <a:schemeClr val="accent1"/>
              </a:solidFill>
            </a:endParaRPr>
          </a:p>
        </p:txBody>
      </p:sp>
      <p:sp>
        <p:nvSpPr>
          <p:cNvPr id="7" name="Rectangle 3">
            <a:extLst>
              <a:ext uri="{FF2B5EF4-FFF2-40B4-BE49-F238E27FC236}">
                <a16:creationId xmlns:a16="http://schemas.microsoft.com/office/drawing/2014/main" id="{8B3F9CF7-30B9-CDBB-1819-28DD2DDDE006}"/>
              </a:ext>
            </a:extLst>
          </p:cNvPr>
          <p:cNvSpPr txBox="1">
            <a:spLocks/>
          </p:cNvSpPr>
          <p:nvPr/>
        </p:nvSpPr>
        <p:spPr>
          <a:xfrm>
            <a:off x="1803400" y="1435101"/>
            <a:ext cx="7493000" cy="396875"/>
          </a:xfrm>
          <a:prstGeom prst="rect">
            <a:avLst/>
          </a:prstGeom>
          <a:noFill/>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Font typeface="Arial" panose="020B0604020202020204" pitchFamily="34" charset="0"/>
              <a:buNone/>
            </a:pPr>
            <a:r>
              <a:rPr lang="en-US" altLang="en-US" sz="1800"/>
              <a:t>Orna and Stevens (1995) offer this model of the ‘real’ research process:</a:t>
            </a:r>
            <a:endParaRPr lang="en-US" altLang="en-US" sz="1800" dirty="0"/>
          </a:p>
        </p:txBody>
      </p:sp>
      <p:sp>
        <p:nvSpPr>
          <p:cNvPr id="8" name="Freeform 8">
            <a:extLst>
              <a:ext uri="{FF2B5EF4-FFF2-40B4-BE49-F238E27FC236}">
                <a16:creationId xmlns:a16="http://schemas.microsoft.com/office/drawing/2014/main" id="{021619FC-9953-63F2-ED0E-EFEBBE421671}"/>
              </a:ext>
            </a:extLst>
          </p:cNvPr>
          <p:cNvSpPr>
            <a:spLocks noChangeAspect="1"/>
          </p:cNvSpPr>
          <p:nvPr/>
        </p:nvSpPr>
        <p:spPr bwMode="auto">
          <a:xfrm rot="19659377">
            <a:off x="2810717" y="3741738"/>
            <a:ext cx="401637" cy="515938"/>
          </a:xfrm>
          <a:custGeom>
            <a:avLst/>
            <a:gdLst>
              <a:gd name="T0" fmla="*/ 2147483646 w 572"/>
              <a:gd name="T1" fmla="*/ 2147483646 h 754"/>
              <a:gd name="T2" fmla="*/ 2147483646 w 572"/>
              <a:gd name="T3" fmla="*/ 2147483646 h 754"/>
              <a:gd name="T4" fmla="*/ 2147483646 w 572"/>
              <a:gd name="T5" fmla="*/ 2147483646 h 754"/>
              <a:gd name="T6" fmla="*/ 2147483646 w 572"/>
              <a:gd name="T7" fmla="*/ 2147483646 h 754"/>
              <a:gd name="T8" fmla="*/ 2147483646 w 572"/>
              <a:gd name="T9" fmla="*/ 2147483646 h 754"/>
              <a:gd name="T10" fmla="*/ 2147483646 w 572"/>
              <a:gd name="T11" fmla="*/ 2147483646 h 754"/>
              <a:gd name="T12" fmla="*/ 2147483646 w 572"/>
              <a:gd name="T13" fmla="*/ 2147483646 h 754"/>
              <a:gd name="T14" fmla="*/ 2147483646 w 572"/>
              <a:gd name="T15" fmla="*/ 2147483646 h 754"/>
              <a:gd name="T16" fmla="*/ 2147483646 w 572"/>
              <a:gd name="T17" fmla="*/ 2147483646 h 754"/>
              <a:gd name="T18" fmla="*/ 2147483646 w 572"/>
              <a:gd name="T19" fmla="*/ 2147483646 h 754"/>
              <a:gd name="T20" fmla="*/ 2147483646 w 572"/>
              <a:gd name="T21" fmla="*/ 2147483646 h 75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72"/>
              <a:gd name="T34" fmla="*/ 0 h 754"/>
              <a:gd name="T35" fmla="*/ 572 w 572"/>
              <a:gd name="T36" fmla="*/ 754 h 75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72" h="754">
                <a:moveTo>
                  <a:pt x="540" y="21"/>
                </a:moveTo>
                <a:cubicBezTo>
                  <a:pt x="412" y="0"/>
                  <a:pt x="454" y="3"/>
                  <a:pt x="220" y="21"/>
                </a:cubicBezTo>
                <a:cubicBezTo>
                  <a:pt x="203" y="22"/>
                  <a:pt x="172" y="37"/>
                  <a:pt x="172" y="37"/>
                </a:cubicBezTo>
                <a:cubicBezTo>
                  <a:pt x="152" y="67"/>
                  <a:pt x="131" y="64"/>
                  <a:pt x="108" y="93"/>
                </a:cubicBezTo>
                <a:cubicBezTo>
                  <a:pt x="37" y="184"/>
                  <a:pt x="97" y="107"/>
                  <a:pt x="68" y="165"/>
                </a:cubicBezTo>
                <a:cubicBezTo>
                  <a:pt x="64" y="174"/>
                  <a:pt x="56" y="180"/>
                  <a:pt x="52" y="189"/>
                </a:cubicBezTo>
                <a:cubicBezTo>
                  <a:pt x="45" y="204"/>
                  <a:pt x="41" y="221"/>
                  <a:pt x="36" y="237"/>
                </a:cubicBezTo>
                <a:cubicBezTo>
                  <a:pt x="33" y="245"/>
                  <a:pt x="28" y="261"/>
                  <a:pt x="28" y="261"/>
                </a:cubicBezTo>
                <a:cubicBezTo>
                  <a:pt x="29" y="284"/>
                  <a:pt x="0" y="554"/>
                  <a:pt x="76" y="605"/>
                </a:cubicBezTo>
                <a:cubicBezTo>
                  <a:pt x="89" y="644"/>
                  <a:pt x="123" y="655"/>
                  <a:pt x="156" y="677"/>
                </a:cubicBezTo>
                <a:cubicBezTo>
                  <a:pt x="271" y="754"/>
                  <a:pt x="433" y="677"/>
                  <a:pt x="572" y="677"/>
                </a:cubicBezTo>
              </a:path>
            </a:pathLst>
          </a:custGeom>
          <a:blipFill dpi="0" rotWithShape="0">
            <a:blip r:embed="rId4"/>
            <a:srcRect/>
            <a:tile tx="0" ty="0" sx="100000" sy="100000" flip="none" algn="tl"/>
          </a:blipFill>
          <a:ln w="12700" cap="flat">
            <a:solidFill>
              <a:schemeClr val="tx1"/>
            </a:solidFill>
            <a:prstDash val="dash"/>
            <a:round/>
            <a:headEnd/>
            <a:tailEnd/>
          </a:ln>
        </p:spPr>
        <p:txBody>
          <a:bodyPr/>
          <a:lstStyle/>
          <a:p>
            <a:endParaRPr lang="en-US"/>
          </a:p>
        </p:txBody>
      </p:sp>
      <p:sp>
        <p:nvSpPr>
          <p:cNvPr id="9" name="Text Box 7">
            <a:extLst>
              <a:ext uri="{FF2B5EF4-FFF2-40B4-BE49-F238E27FC236}">
                <a16:creationId xmlns:a16="http://schemas.microsoft.com/office/drawing/2014/main" id="{3ADFFE0C-A2AB-D84E-A62E-1F7818550694}"/>
              </a:ext>
            </a:extLst>
          </p:cNvPr>
          <p:cNvSpPr txBox="1">
            <a:spLocks noChangeArrowheads="1"/>
          </p:cNvSpPr>
          <p:nvPr/>
        </p:nvSpPr>
        <p:spPr bwMode="auto">
          <a:xfrm>
            <a:off x="2104278" y="4251326"/>
            <a:ext cx="1081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200"/>
              <a:t>Contribution to knowledge</a:t>
            </a:r>
          </a:p>
        </p:txBody>
      </p:sp>
      <p:sp>
        <p:nvSpPr>
          <p:cNvPr id="10" name="Cloud">
            <a:extLst>
              <a:ext uri="{FF2B5EF4-FFF2-40B4-BE49-F238E27FC236}">
                <a16:creationId xmlns:a16="http://schemas.microsoft.com/office/drawing/2014/main" id="{4A0B3517-DD07-F6E4-DB5F-EEB047AE4233}"/>
              </a:ext>
            </a:extLst>
          </p:cNvPr>
          <p:cNvSpPr>
            <a:spLocks noChangeAspect="1" noEditPoints="1" noChangeArrowheads="1"/>
          </p:cNvSpPr>
          <p:nvPr/>
        </p:nvSpPr>
        <p:spPr bwMode="auto">
          <a:xfrm>
            <a:off x="2972642" y="2246314"/>
            <a:ext cx="3336925" cy="217646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solidFill>
          <a:ln w="12700">
            <a:solidFill>
              <a:srgbClr val="000000"/>
            </a:solidFill>
            <a:miter lim="800000"/>
            <a:headEnd/>
            <a:tailEnd/>
          </a:ln>
          <a:effectLst>
            <a:outerShdw dist="107763" dir="2700000" algn="ctr" rotWithShape="0">
              <a:srgbClr val="808080"/>
            </a:outerShdw>
          </a:effectLst>
        </p:spPr>
        <p:txBody>
          <a:bodyPr/>
          <a:lstStyle/>
          <a:p>
            <a:endParaRPr lang="en-US"/>
          </a:p>
        </p:txBody>
      </p:sp>
      <p:sp>
        <p:nvSpPr>
          <p:cNvPr id="11" name="Text Box 10">
            <a:extLst>
              <a:ext uri="{FF2B5EF4-FFF2-40B4-BE49-F238E27FC236}">
                <a16:creationId xmlns:a16="http://schemas.microsoft.com/office/drawing/2014/main" id="{1F6A355E-9D27-F1A5-4B72-F3D13CFA9BFB}"/>
              </a:ext>
            </a:extLst>
          </p:cNvPr>
          <p:cNvSpPr txBox="1">
            <a:spLocks noChangeArrowheads="1"/>
          </p:cNvSpPr>
          <p:nvPr/>
        </p:nvSpPr>
        <p:spPr bwMode="auto">
          <a:xfrm>
            <a:off x="2299542" y="2551113"/>
            <a:ext cx="104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200"/>
              <a:t> World knowledge</a:t>
            </a:r>
          </a:p>
        </p:txBody>
      </p:sp>
      <p:grpSp>
        <p:nvGrpSpPr>
          <p:cNvPr id="12" name="Group 19">
            <a:extLst>
              <a:ext uri="{FF2B5EF4-FFF2-40B4-BE49-F238E27FC236}">
                <a16:creationId xmlns:a16="http://schemas.microsoft.com/office/drawing/2014/main" id="{C3A332BC-DD5F-CDB8-2F11-44A163193F3F}"/>
              </a:ext>
            </a:extLst>
          </p:cNvPr>
          <p:cNvGrpSpPr>
            <a:grpSpLocks noChangeAspect="1"/>
          </p:cNvGrpSpPr>
          <p:nvPr/>
        </p:nvGrpSpPr>
        <p:grpSpPr bwMode="auto">
          <a:xfrm>
            <a:off x="7430341" y="4441826"/>
            <a:ext cx="900112" cy="901700"/>
            <a:chOff x="4367" y="2791"/>
            <a:chExt cx="960" cy="961"/>
          </a:xfrm>
        </p:grpSpPr>
        <p:sp>
          <p:nvSpPr>
            <p:cNvPr id="13" name="AutoShape 16">
              <a:extLst>
                <a:ext uri="{FF2B5EF4-FFF2-40B4-BE49-F238E27FC236}">
                  <a16:creationId xmlns:a16="http://schemas.microsoft.com/office/drawing/2014/main" id="{A4CF0D52-9D4E-D417-A437-3F49A505C460}"/>
                </a:ext>
              </a:extLst>
            </p:cNvPr>
            <p:cNvSpPr>
              <a:spLocks noChangeAspect="1" noChangeArrowheads="1"/>
            </p:cNvSpPr>
            <p:nvPr/>
          </p:nvSpPr>
          <p:spPr bwMode="auto">
            <a:xfrm>
              <a:off x="4367" y="2800"/>
              <a:ext cx="960" cy="94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5898240 60000 65536"/>
                <a:gd name="T10" fmla="*/ 11796480 60000 65536"/>
                <a:gd name="T11" fmla="*/ 17694720 60000 65536"/>
                <a:gd name="T12" fmla="*/ 2588 w 21600"/>
                <a:gd name="T13" fmla="*/ 9722 h 21600"/>
                <a:gd name="T14" fmla="*/ 19013 w 21600"/>
                <a:gd name="T15" fmla="*/ 11878 h 21600"/>
              </a:gdLst>
              <a:ahLst/>
              <a:cxnLst>
                <a:cxn ang="T8">
                  <a:pos x="T0" y="T1"/>
                </a:cxn>
                <a:cxn ang="T9">
                  <a:pos x="T2" y="T3"/>
                </a:cxn>
                <a:cxn ang="T10">
                  <a:pos x="T4" y="T5"/>
                </a:cxn>
                <a:cxn ang="T11">
                  <a:pos x="T6" y="T7"/>
                </a:cxn>
              </a:cxnLst>
              <a:rect l="T12" t="T13" r="T14" b="T15"/>
              <a:pathLst>
                <a:path w="21600" h="21600">
                  <a:moveTo>
                    <a:pt x="10800" y="0"/>
                  </a:moveTo>
                  <a:lnTo>
                    <a:pt x="9000" y="4311"/>
                  </a:lnTo>
                  <a:lnTo>
                    <a:pt x="9720" y="4311"/>
                  </a:lnTo>
                  <a:lnTo>
                    <a:pt x="9720" y="9720"/>
                  </a:lnTo>
                  <a:lnTo>
                    <a:pt x="4311" y="9720"/>
                  </a:lnTo>
                  <a:lnTo>
                    <a:pt x="4311" y="9000"/>
                  </a:lnTo>
                  <a:lnTo>
                    <a:pt x="0" y="10800"/>
                  </a:lnTo>
                  <a:lnTo>
                    <a:pt x="4311" y="12600"/>
                  </a:lnTo>
                  <a:lnTo>
                    <a:pt x="4311" y="11880"/>
                  </a:lnTo>
                  <a:lnTo>
                    <a:pt x="9720" y="11880"/>
                  </a:lnTo>
                  <a:lnTo>
                    <a:pt x="9720" y="17289"/>
                  </a:lnTo>
                  <a:lnTo>
                    <a:pt x="9000" y="17289"/>
                  </a:lnTo>
                  <a:lnTo>
                    <a:pt x="10800" y="21600"/>
                  </a:lnTo>
                  <a:lnTo>
                    <a:pt x="12600" y="17289"/>
                  </a:lnTo>
                  <a:lnTo>
                    <a:pt x="11880" y="17289"/>
                  </a:lnTo>
                  <a:lnTo>
                    <a:pt x="11880" y="11880"/>
                  </a:lnTo>
                  <a:lnTo>
                    <a:pt x="17289" y="11880"/>
                  </a:lnTo>
                  <a:lnTo>
                    <a:pt x="17289" y="12600"/>
                  </a:lnTo>
                  <a:lnTo>
                    <a:pt x="21600" y="10800"/>
                  </a:lnTo>
                  <a:lnTo>
                    <a:pt x="17289" y="9000"/>
                  </a:lnTo>
                  <a:lnTo>
                    <a:pt x="17289" y="9720"/>
                  </a:lnTo>
                  <a:lnTo>
                    <a:pt x="11880" y="9720"/>
                  </a:lnTo>
                  <a:lnTo>
                    <a:pt x="11880" y="4311"/>
                  </a:lnTo>
                  <a:lnTo>
                    <a:pt x="12600" y="4311"/>
                  </a:lnTo>
                  <a:lnTo>
                    <a:pt x="10800"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4" name="AutoShape 17">
              <a:extLst>
                <a:ext uri="{FF2B5EF4-FFF2-40B4-BE49-F238E27FC236}">
                  <a16:creationId xmlns:a16="http://schemas.microsoft.com/office/drawing/2014/main" id="{286CA9D6-53D8-91C1-CF5F-14E66EA65FF7}"/>
                </a:ext>
              </a:extLst>
            </p:cNvPr>
            <p:cNvSpPr>
              <a:spLocks noChangeAspect="1" noChangeArrowheads="1"/>
            </p:cNvSpPr>
            <p:nvPr/>
          </p:nvSpPr>
          <p:spPr bwMode="auto">
            <a:xfrm rot="2700000">
              <a:off x="4367" y="2800"/>
              <a:ext cx="961" cy="94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5898240 60000 65536"/>
                <a:gd name="T10" fmla="*/ 11796480 60000 65536"/>
                <a:gd name="T11" fmla="*/ 17694720 60000 65536"/>
                <a:gd name="T12" fmla="*/ 2585 w 21600"/>
                <a:gd name="T13" fmla="*/ 9712 h 21600"/>
                <a:gd name="T14" fmla="*/ 19015 w 21600"/>
                <a:gd name="T15" fmla="*/ 11888 h 21600"/>
              </a:gdLst>
              <a:ahLst/>
              <a:cxnLst>
                <a:cxn ang="T8">
                  <a:pos x="T0" y="T1"/>
                </a:cxn>
                <a:cxn ang="T9">
                  <a:pos x="T2" y="T3"/>
                </a:cxn>
                <a:cxn ang="T10">
                  <a:pos x="T4" y="T5"/>
                </a:cxn>
                <a:cxn ang="T11">
                  <a:pos x="T6" y="T7"/>
                </a:cxn>
              </a:cxnLst>
              <a:rect l="T12" t="T13" r="T14" b="T15"/>
              <a:pathLst>
                <a:path w="21600" h="21600">
                  <a:moveTo>
                    <a:pt x="10800" y="0"/>
                  </a:moveTo>
                  <a:lnTo>
                    <a:pt x="9000" y="4311"/>
                  </a:lnTo>
                  <a:lnTo>
                    <a:pt x="9720" y="4311"/>
                  </a:lnTo>
                  <a:lnTo>
                    <a:pt x="9720" y="9720"/>
                  </a:lnTo>
                  <a:lnTo>
                    <a:pt x="4311" y="9720"/>
                  </a:lnTo>
                  <a:lnTo>
                    <a:pt x="4311" y="9000"/>
                  </a:lnTo>
                  <a:lnTo>
                    <a:pt x="0" y="10800"/>
                  </a:lnTo>
                  <a:lnTo>
                    <a:pt x="4311" y="12600"/>
                  </a:lnTo>
                  <a:lnTo>
                    <a:pt x="4311" y="11880"/>
                  </a:lnTo>
                  <a:lnTo>
                    <a:pt x="9720" y="11880"/>
                  </a:lnTo>
                  <a:lnTo>
                    <a:pt x="9720" y="17289"/>
                  </a:lnTo>
                  <a:lnTo>
                    <a:pt x="9000" y="17289"/>
                  </a:lnTo>
                  <a:lnTo>
                    <a:pt x="10800" y="21600"/>
                  </a:lnTo>
                  <a:lnTo>
                    <a:pt x="12600" y="17289"/>
                  </a:lnTo>
                  <a:lnTo>
                    <a:pt x="11880" y="17289"/>
                  </a:lnTo>
                  <a:lnTo>
                    <a:pt x="11880" y="11880"/>
                  </a:lnTo>
                  <a:lnTo>
                    <a:pt x="17289" y="11880"/>
                  </a:lnTo>
                  <a:lnTo>
                    <a:pt x="17289" y="12600"/>
                  </a:lnTo>
                  <a:lnTo>
                    <a:pt x="21600" y="10800"/>
                  </a:lnTo>
                  <a:lnTo>
                    <a:pt x="17289" y="9000"/>
                  </a:lnTo>
                  <a:lnTo>
                    <a:pt x="17289" y="9720"/>
                  </a:lnTo>
                  <a:lnTo>
                    <a:pt x="11880" y="9720"/>
                  </a:lnTo>
                  <a:lnTo>
                    <a:pt x="11880" y="4311"/>
                  </a:lnTo>
                  <a:lnTo>
                    <a:pt x="12600" y="4311"/>
                  </a:lnTo>
                  <a:lnTo>
                    <a:pt x="10800"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5" name="Oval 18">
              <a:extLst>
                <a:ext uri="{FF2B5EF4-FFF2-40B4-BE49-F238E27FC236}">
                  <a16:creationId xmlns:a16="http://schemas.microsoft.com/office/drawing/2014/main" id="{9EA340E3-4375-B4F5-60D3-2BEE04273ECD}"/>
                </a:ext>
              </a:extLst>
            </p:cNvPr>
            <p:cNvSpPr>
              <a:spLocks noChangeAspect="1" noChangeArrowheads="1"/>
            </p:cNvSpPr>
            <p:nvPr/>
          </p:nvSpPr>
          <p:spPr bwMode="auto">
            <a:xfrm>
              <a:off x="4728" y="3152"/>
              <a:ext cx="238" cy="238"/>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a:p>
          </p:txBody>
        </p:sp>
      </p:grpSp>
      <p:sp>
        <p:nvSpPr>
          <p:cNvPr id="16" name="AutoShape 11">
            <a:extLst>
              <a:ext uri="{FF2B5EF4-FFF2-40B4-BE49-F238E27FC236}">
                <a16:creationId xmlns:a16="http://schemas.microsoft.com/office/drawing/2014/main" id="{0F565BE4-E573-28A0-4C9C-16217004236E}"/>
              </a:ext>
            </a:extLst>
          </p:cNvPr>
          <p:cNvSpPr>
            <a:spLocks noChangeAspect="1" noChangeArrowheads="1"/>
          </p:cNvSpPr>
          <p:nvPr/>
        </p:nvSpPr>
        <p:spPr bwMode="auto">
          <a:xfrm>
            <a:off x="7187453" y="2132013"/>
            <a:ext cx="1346200" cy="1397000"/>
          </a:xfrm>
          <a:prstGeom prst="star16">
            <a:avLst>
              <a:gd name="adj" fmla="val 37500"/>
            </a:avLst>
          </a:prstGeom>
          <a:solidFill>
            <a:srgbClr val="FFBE7D"/>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a:p>
        </p:txBody>
      </p:sp>
      <p:sp>
        <p:nvSpPr>
          <p:cNvPr id="17" name="Oval 13">
            <a:extLst>
              <a:ext uri="{FF2B5EF4-FFF2-40B4-BE49-F238E27FC236}">
                <a16:creationId xmlns:a16="http://schemas.microsoft.com/office/drawing/2014/main" id="{1B54346D-187A-2147-714C-5A4201188381}"/>
              </a:ext>
            </a:extLst>
          </p:cNvPr>
          <p:cNvSpPr>
            <a:spLocks noChangeAspect="1" noChangeArrowheads="1"/>
          </p:cNvSpPr>
          <p:nvPr/>
        </p:nvSpPr>
        <p:spPr bwMode="auto">
          <a:xfrm>
            <a:off x="7443042" y="2414589"/>
            <a:ext cx="835025" cy="830263"/>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a:p>
        </p:txBody>
      </p:sp>
      <p:sp>
        <p:nvSpPr>
          <p:cNvPr id="18" name="Text Box 21">
            <a:extLst>
              <a:ext uri="{FF2B5EF4-FFF2-40B4-BE49-F238E27FC236}">
                <a16:creationId xmlns:a16="http://schemas.microsoft.com/office/drawing/2014/main" id="{88A6F375-749A-6ECA-DA22-FFCF1D919793}"/>
              </a:ext>
            </a:extLst>
          </p:cNvPr>
          <p:cNvSpPr txBox="1">
            <a:spLocks noChangeArrowheads="1"/>
          </p:cNvSpPr>
          <p:nvPr/>
        </p:nvSpPr>
        <p:spPr bwMode="auto">
          <a:xfrm>
            <a:off x="7473203" y="2692402"/>
            <a:ext cx="825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200" b="1">
                <a:solidFill>
                  <a:srgbClr val="974F8E"/>
                </a:solidFill>
              </a:rPr>
              <a:t>Discover</a:t>
            </a:r>
          </a:p>
        </p:txBody>
      </p:sp>
      <p:sp>
        <p:nvSpPr>
          <p:cNvPr id="19" name="Text Box 22">
            <a:extLst>
              <a:ext uri="{FF2B5EF4-FFF2-40B4-BE49-F238E27FC236}">
                <a16:creationId xmlns:a16="http://schemas.microsoft.com/office/drawing/2014/main" id="{E9F85188-87B5-3533-91D7-516FC94B3BBC}"/>
              </a:ext>
            </a:extLst>
          </p:cNvPr>
          <p:cNvSpPr txBox="1">
            <a:spLocks noChangeArrowheads="1"/>
          </p:cNvSpPr>
          <p:nvPr/>
        </p:nvSpPr>
        <p:spPr bwMode="auto">
          <a:xfrm>
            <a:off x="8292354" y="4543427"/>
            <a:ext cx="11969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200"/>
              <a:t>Communicate what you have discovered</a:t>
            </a:r>
          </a:p>
        </p:txBody>
      </p:sp>
      <p:sp>
        <p:nvSpPr>
          <p:cNvPr id="20" name="Line 24">
            <a:extLst>
              <a:ext uri="{FF2B5EF4-FFF2-40B4-BE49-F238E27FC236}">
                <a16:creationId xmlns:a16="http://schemas.microsoft.com/office/drawing/2014/main" id="{0FCA22A7-EDD1-F983-78F6-C0EDC856AEC4}"/>
              </a:ext>
            </a:extLst>
          </p:cNvPr>
          <p:cNvSpPr>
            <a:spLocks noChangeShapeType="1"/>
          </p:cNvSpPr>
          <p:nvPr/>
        </p:nvSpPr>
        <p:spPr bwMode="auto">
          <a:xfrm rot="5400000" flipH="1">
            <a:off x="3148853" y="4276726"/>
            <a:ext cx="609600" cy="60960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21" name="Line 25">
            <a:extLst>
              <a:ext uri="{FF2B5EF4-FFF2-40B4-BE49-F238E27FC236}">
                <a16:creationId xmlns:a16="http://schemas.microsoft.com/office/drawing/2014/main" id="{EFFB6986-EA0A-C2EB-F39B-3FE76C8D809D}"/>
              </a:ext>
            </a:extLst>
          </p:cNvPr>
          <p:cNvSpPr>
            <a:spLocks noChangeShapeType="1"/>
          </p:cNvSpPr>
          <p:nvPr/>
        </p:nvSpPr>
        <p:spPr bwMode="auto">
          <a:xfrm>
            <a:off x="3745753" y="4886326"/>
            <a:ext cx="36337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26">
            <a:extLst>
              <a:ext uri="{FF2B5EF4-FFF2-40B4-BE49-F238E27FC236}">
                <a16:creationId xmlns:a16="http://schemas.microsoft.com/office/drawing/2014/main" id="{11E531CD-3FDD-B9A8-EDA9-50EB13638835}"/>
              </a:ext>
            </a:extLst>
          </p:cNvPr>
          <p:cNvSpPr>
            <a:spLocks noChangeShapeType="1"/>
          </p:cNvSpPr>
          <p:nvPr/>
        </p:nvSpPr>
        <p:spPr bwMode="auto">
          <a:xfrm>
            <a:off x="7870078" y="3579814"/>
            <a:ext cx="0" cy="842963"/>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23" name="Arc 32">
            <a:extLst>
              <a:ext uri="{FF2B5EF4-FFF2-40B4-BE49-F238E27FC236}">
                <a16:creationId xmlns:a16="http://schemas.microsoft.com/office/drawing/2014/main" id="{BDEEAD57-1377-8EF8-0CDD-7A63022617F8}"/>
              </a:ext>
            </a:extLst>
          </p:cNvPr>
          <p:cNvSpPr>
            <a:spLocks noChangeAspect="1"/>
          </p:cNvSpPr>
          <p:nvPr/>
        </p:nvSpPr>
        <p:spPr bwMode="auto">
          <a:xfrm rot="15468981">
            <a:off x="3648916" y="3038476"/>
            <a:ext cx="622300" cy="596900"/>
          </a:xfrm>
          <a:custGeom>
            <a:avLst/>
            <a:gdLst>
              <a:gd name="T0" fmla="*/ 2147483646 w 41913"/>
              <a:gd name="T1" fmla="*/ 2147483646 h 43200"/>
              <a:gd name="T2" fmla="*/ 0 w 41913"/>
              <a:gd name="T3" fmla="*/ 2147483646 h 43200"/>
              <a:gd name="T4" fmla="*/ 2147483646 w 41913"/>
              <a:gd name="T5" fmla="*/ 2147483646 h 43200"/>
              <a:gd name="T6" fmla="*/ 0 60000 65536"/>
              <a:gd name="T7" fmla="*/ 0 60000 65536"/>
              <a:gd name="T8" fmla="*/ 0 60000 65536"/>
              <a:gd name="T9" fmla="*/ 0 w 41913"/>
              <a:gd name="T10" fmla="*/ 0 h 43200"/>
              <a:gd name="T11" fmla="*/ 41913 w 41913"/>
              <a:gd name="T12" fmla="*/ 43200 h 43200"/>
            </a:gdLst>
            <a:ahLst/>
            <a:cxnLst>
              <a:cxn ang="T6">
                <a:pos x="T0" y="T1"/>
              </a:cxn>
              <a:cxn ang="T7">
                <a:pos x="T2" y="T3"/>
              </a:cxn>
              <a:cxn ang="T8">
                <a:pos x="T4" y="T5"/>
              </a:cxn>
            </a:cxnLst>
            <a:rect l="T9" t="T10" r="T11" b="T12"/>
            <a:pathLst>
              <a:path w="41913" h="43200" fill="none" extrusionOk="0">
                <a:moveTo>
                  <a:pt x="12905" y="1309"/>
                </a:moveTo>
                <a:cubicBezTo>
                  <a:pt x="15279" y="443"/>
                  <a:pt x="17786" y="-1"/>
                  <a:pt x="20313" y="0"/>
                </a:cubicBezTo>
                <a:cubicBezTo>
                  <a:pt x="32242" y="0"/>
                  <a:pt x="41913" y="9670"/>
                  <a:pt x="41913" y="21600"/>
                </a:cubicBezTo>
                <a:cubicBezTo>
                  <a:pt x="41913" y="33529"/>
                  <a:pt x="32242" y="43200"/>
                  <a:pt x="20313" y="43200"/>
                </a:cubicBezTo>
                <a:cubicBezTo>
                  <a:pt x="11215" y="43200"/>
                  <a:pt x="3093" y="37500"/>
                  <a:pt x="0" y="28944"/>
                </a:cubicBezTo>
              </a:path>
              <a:path w="41913" h="43200" stroke="0" extrusionOk="0">
                <a:moveTo>
                  <a:pt x="12905" y="1309"/>
                </a:moveTo>
                <a:cubicBezTo>
                  <a:pt x="15279" y="443"/>
                  <a:pt x="17786" y="-1"/>
                  <a:pt x="20313" y="0"/>
                </a:cubicBezTo>
                <a:cubicBezTo>
                  <a:pt x="32242" y="0"/>
                  <a:pt x="41913" y="9670"/>
                  <a:pt x="41913" y="21600"/>
                </a:cubicBezTo>
                <a:cubicBezTo>
                  <a:pt x="41913" y="33529"/>
                  <a:pt x="32242" y="43200"/>
                  <a:pt x="20313" y="43200"/>
                </a:cubicBezTo>
                <a:cubicBezTo>
                  <a:pt x="11215" y="43200"/>
                  <a:pt x="3093" y="37500"/>
                  <a:pt x="0" y="28944"/>
                </a:cubicBezTo>
                <a:lnTo>
                  <a:pt x="20313" y="21600"/>
                </a:lnTo>
                <a:lnTo>
                  <a:pt x="12905" y="130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Arc 34">
            <a:extLst>
              <a:ext uri="{FF2B5EF4-FFF2-40B4-BE49-F238E27FC236}">
                <a16:creationId xmlns:a16="http://schemas.microsoft.com/office/drawing/2014/main" id="{6286677E-1463-701A-46F1-751C4AE7641B}"/>
              </a:ext>
            </a:extLst>
          </p:cNvPr>
          <p:cNvSpPr>
            <a:spLocks noChangeAspect="1"/>
          </p:cNvSpPr>
          <p:nvPr/>
        </p:nvSpPr>
        <p:spPr bwMode="auto">
          <a:xfrm rot="4382644">
            <a:off x="3746548" y="3145633"/>
            <a:ext cx="414337" cy="409575"/>
          </a:xfrm>
          <a:custGeom>
            <a:avLst/>
            <a:gdLst>
              <a:gd name="T0" fmla="*/ 2147483646 w 41913"/>
              <a:gd name="T1" fmla="*/ 2147483646 h 43200"/>
              <a:gd name="T2" fmla="*/ 0 w 41913"/>
              <a:gd name="T3" fmla="*/ 2147483646 h 43200"/>
              <a:gd name="T4" fmla="*/ 2147483646 w 41913"/>
              <a:gd name="T5" fmla="*/ 2147483646 h 43200"/>
              <a:gd name="T6" fmla="*/ 0 60000 65536"/>
              <a:gd name="T7" fmla="*/ 0 60000 65536"/>
              <a:gd name="T8" fmla="*/ 0 60000 65536"/>
              <a:gd name="T9" fmla="*/ 0 w 41913"/>
              <a:gd name="T10" fmla="*/ 0 h 43200"/>
              <a:gd name="T11" fmla="*/ 41913 w 41913"/>
              <a:gd name="T12" fmla="*/ 43200 h 43200"/>
            </a:gdLst>
            <a:ahLst/>
            <a:cxnLst>
              <a:cxn ang="T6">
                <a:pos x="T0" y="T1"/>
              </a:cxn>
              <a:cxn ang="T7">
                <a:pos x="T2" y="T3"/>
              </a:cxn>
              <a:cxn ang="T8">
                <a:pos x="T4" y="T5"/>
              </a:cxn>
            </a:cxnLst>
            <a:rect l="T9" t="T10" r="T11" b="T12"/>
            <a:pathLst>
              <a:path w="41913" h="43200" fill="none" extrusionOk="0">
                <a:moveTo>
                  <a:pt x="12905" y="1309"/>
                </a:moveTo>
                <a:cubicBezTo>
                  <a:pt x="15279" y="443"/>
                  <a:pt x="17786" y="-1"/>
                  <a:pt x="20313" y="0"/>
                </a:cubicBezTo>
                <a:cubicBezTo>
                  <a:pt x="32242" y="0"/>
                  <a:pt x="41913" y="9670"/>
                  <a:pt x="41913" y="21600"/>
                </a:cubicBezTo>
                <a:cubicBezTo>
                  <a:pt x="41913" y="33529"/>
                  <a:pt x="32242" y="43200"/>
                  <a:pt x="20313" y="43200"/>
                </a:cubicBezTo>
                <a:cubicBezTo>
                  <a:pt x="11215" y="43200"/>
                  <a:pt x="3093" y="37500"/>
                  <a:pt x="0" y="28944"/>
                </a:cubicBezTo>
              </a:path>
              <a:path w="41913" h="43200" stroke="0" extrusionOk="0">
                <a:moveTo>
                  <a:pt x="12905" y="1309"/>
                </a:moveTo>
                <a:cubicBezTo>
                  <a:pt x="15279" y="443"/>
                  <a:pt x="17786" y="-1"/>
                  <a:pt x="20313" y="0"/>
                </a:cubicBezTo>
                <a:cubicBezTo>
                  <a:pt x="32242" y="0"/>
                  <a:pt x="41913" y="9670"/>
                  <a:pt x="41913" y="21600"/>
                </a:cubicBezTo>
                <a:cubicBezTo>
                  <a:pt x="41913" y="33529"/>
                  <a:pt x="32242" y="43200"/>
                  <a:pt x="20313" y="43200"/>
                </a:cubicBezTo>
                <a:cubicBezTo>
                  <a:pt x="11215" y="43200"/>
                  <a:pt x="3093" y="37500"/>
                  <a:pt x="0" y="28944"/>
                </a:cubicBezTo>
                <a:lnTo>
                  <a:pt x="20313" y="21600"/>
                </a:lnTo>
                <a:lnTo>
                  <a:pt x="12905" y="1309"/>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Arc 35">
            <a:extLst>
              <a:ext uri="{FF2B5EF4-FFF2-40B4-BE49-F238E27FC236}">
                <a16:creationId xmlns:a16="http://schemas.microsoft.com/office/drawing/2014/main" id="{A009A33C-51C2-4F03-9E36-0B90E2113163}"/>
              </a:ext>
            </a:extLst>
          </p:cNvPr>
          <p:cNvSpPr>
            <a:spLocks/>
          </p:cNvSpPr>
          <p:nvPr/>
        </p:nvSpPr>
        <p:spPr bwMode="auto">
          <a:xfrm rot="9567335">
            <a:off x="3531442" y="2892426"/>
            <a:ext cx="873125" cy="842962"/>
          </a:xfrm>
          <a:custGeom>
            <a:avLst/>
            <a:gdLst>
              <a:gd name="T0" fmla="*/ 0 w 42286"/>
              <a:gd name="T1" fmla="*/ 2147483646 h 43200"/>
              <a:gd name="T2" fmla="*/ 2147483646 w 42286"/>
              <a:gd name="T3" fmla="*/ 2147483646 h 43200"/>
              <a:gd name="T4" fmla="*/ 2147483646 w 42286"/>
              <a:gd name="T5" fmla="*/ 2147483646 h 43200"/>
              <a:gd name="T6" fmla="*/ 0 60000 65536"/>
              <a:gd name="T7" fmla="*/ 0 60000 65536"/>
              <a:gd name="T8" fmla="*/ 0 60000 65536"/>
              <a:gd name="T9" fmla="*/ 0 w 42286"/>
              <a:gd name="T10" fmla="*/ 0 h 43200"/>
              <a:gd name="T11" fmla="*/ 42286 w 42286"/>
              <a:gd name="T12" fmla="*/ 43200 h 43200"/>
            </a:gdLst>
            <a:ahLst/>
            <a:cxnLst>
              <a:cxn ang="T6">
                <a:pos x="T0" y="T1"/>
              </a:cxn>
              <a:cxn ang="T7">
                <a:pos x="T2" y="T3"/>
              </a:cxn>
              <a:cxn ang="T8">
                <a:pos x="T4" y="T5"/>
              </a:cxn>
            </a:cxnLst>
            <a:rect l="T9" t="T10" r="T11" b="T12"/>
            <a:pathLst>
              <a:path w="42286" h="43200" fill="none" extrusionOk="0">
                <a:moveTo>
                  <a:pt x="0" y="15382"/>
                </a:moveTo>
                <a:cubicBezTo>
                  <a:pt x="2744" y="6251"/>
                  <a:pt x="11151" y="-1"/>
                  <a:pt x="20686" y="0"/>
                </a:cubicBezTo>
                <a:cubicBezTo>
                  <a:pt x="32615" y="0"/>
                  <a:pt x="42286" y="9670"/>
                  <a:pt x="42286" y="21600"/>
                </a:cubicBezTo>
                <a:cubicBezTo>
                  <a:pt x="42286" y="33529"/>
                  <a:pt x="32615" y="43200"/>
                  <a:pt x="20686" y="43200"/>
                </a:cubicBezTo>
                <a:cubicBezTo>
                  <a:pt x="17862" y="43200"/>
                  <a:pt x="15067" y="42646"/>
                  <a:pt x="12456" y="41571"/>
                </a:cubicBezTo>
              </a:path>
              <a:path w="42286" h="43200" stroke="0" extrusionOk="0">
                <a:moveTo>
                  <a:pt x="0" y="15382"/>
                </a:moveTo>
                <a:cubicBezTo>
                  <a:pt x="2744" y="6251"/>
                  <a:pt x="11151" y="-1"/>
                  <a:pt x="20686" y="0"/>
                </a:cubicBezTo>
                <a:cubicBezTo>
                  <a:pt x="32615" y="0"/>
                  <a:pt x="42286" y="9670"/>
                  <a:pt x="42286" y="21600"/>
                </a:cubicBezTo>
                <a:cubicBezTo>
                  <a:pt x="42286" y="33529"/>
                  <a:pt x="32615" y="43200"/>
                  <a:pt x="20686" y="43200"/>
                </a:cubicBezTo>
                <a:cubicBezTo>
                  <a:pt x="17862" y="43200"/>
                  <a:pt x="15067" y="42646"/>
                  <a:pt x="12456" y="41571"/>
                </a:cubicBezTo>
                <a:lnTo>
                  <a:pt x="20686" y="21600"/>
                </a:lnTo>
                <a:lnTo>
                  <a:pt x="0" y="1538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rc 40">
            <a:extLst>
              <a:ext uri="{FF2B5EF4-FFF2-40B4-BE49-F238E27FC236}">
                <a16:creationId xmlns:a16="http://schemas.microsoft.com/office/drawing/2014/main" id="{31B21AD1-AC06-3B17-B040-BEE5E6B54424}"/>
              </a:ext>
            </a:extLst>
          </p:cNvPr>
          <p:cNvSpPr>
            <a:spLocks/>
          </p:cNvSpPr>
          <p:nvPr/>
        </p:nvSpPr>
        <p:spPr bwMode="auto">
          <a:xfrm rot="5400000" flipH="1" flipV="1">
            <a:off x="4609354" y="2687639"/>
            <a:ext cx="450850" cy="835025"/>
          </a:xfrm>
          <a:custGeom>
            <a:avLst/>
            <a:gdLst>
              <a:gd name="T0" fmla="*/ 0 w 24481"/>
              <a:gd name="T1" fmla="*/ 2147483646 h 24309"/>
              <a:gd name="T2" fmla="*/ 2147483646 w 24481"/>
              <a:gd name="T3" fmla="*/ 2147483646 h 24309"/>
              <a:gd name="T4" fmla="*/ 2147483646 w 24481"/>
              <a:gd name="T5" fmla="*/ 2147483646 h 24309"/>
              <a:gd name="T6" fmla="*/ 0 60000 65536"/>
              <a:gd name="T7" fmla="*/ 0 60000 65536"/>
              <a:gd name="T8" fmla="*/ 0 60000 65536"/>
              <a:gd name="T9" fmla="*/ 0 w 24481"/>
              <a:gd name="T10" fmla="*/ 0 h 24309"/>
              <a:gd name="T11" fmla="*/ 24481 w 24481"/>
              <a:gd name="T12" fmla="*/ 24309 h 24309"/>
            </a:gdLst>
            <a:ahLst/>
            <a:cxnLst>
              <a:cxn ang="T6">
                <a:pos x="T0" y="T1"/>
              </a:cxn>
              <a:cxn ang="T7">
                <a:pos x="T2" y="T3"/>
              </a:cxn>
              <a:cxn ang="T8">
                <a:pos x="T4" y="T5"/>
              </a:cxn>
            </a:cxnLst>
            <a:rect l="T9" t="T10" r="T11" b="T12"/>
            <a:pathLst>
              <a:path w="24481" h="24309" fill="none" extrusionOk="0">
                <a:moveTo>
                  <a:pt x="-1" y="192"/>
                </a:moveTo>
                <a:cubicBezTo>
                  <a:pt x="954" y="64"/>
                  <a:pt x="1917" y="-1"/>
                  <a:pt x="2881" y="0"/>
                </a:cubicBezTo>
                <a:cubicBezTo>
                  <a:pt x="14810" y="0"/>
                  <a:pt x="24481" y="9670"/>
                  <a:pt x="24481" y="21600"/>
                </a:cubicBezTo>
                <a:cubicBezTo>
                  <a:pt x="24481" y="22505"/>
                  <a:pt x="24424" y="23410"/>
                  <a:pt x="24310" y="24309"/>
                </a:cubicBezTo>
              </a:path>
              <a:path w="24481" h="24309" stroke="0" extrusionOk="0">
                <a:moveTo>
                  <a:pt x="-1" y="192"/>
                </a:moveTo>
                <a:cubicBezTo>
                  <a:pt x="954" y="64"/>
                  <a:pt x="1917" y="-1"/>
                  <a:pt x="2881" y="0"/>
                </a:cubicBezTo>
                <a:cubicBezTo>
                  <a:pt x="14810" y="0"/>
                  <a:pt x="24481" y="9670"/>
                  <a:pt x="24481" y="21600"/>
                </a:cubicBezTo>
                <a:cubicBezTo>
                  <a:pt x="24481" y="22505"/>
                  <a:pt x="24424" y="23410"/>
                  <a:pt x="24310" y="24309"/>
                </a:cubicBezTo>
                <a:lnTo>
                  <a:pt x="2881" y="21600"/>
                </a:lnTo>
                <a:lnTo>
                  <a:pt x="-1" y="192"/>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Line 41">
            <a:extLst>
              <a:ext uri="{FF2B5EF4-FFF2-40B4-BE49-F238E27FC236}">
                <a16:creationId xmlns:a16="http://schemas.microsoft.com/office/drawing/2014/main" id="{BFE0FE5A-EFA8-2BD0-1AD7-AF44FBA4FC01}"/>
              </a:ext>
            </a:extLst>
          </p:cNvPr>
          <p:cNvSpPr>
            <a:spLocks noChangeShapeType="1"/>
          </p:cNvSpPr>
          <p:nvPr/>
        </p:nvSpPr>
        <p:spPr bwMode="auto">
          <a:xfrm>
            <a:off x="5226891" y="2884488"/>
            <a:ext cx="1935162"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28" name="Line 44">
            <a:extLst>
              <a:ext uri="{FF2B5EF4-FFF2-40B4-BE49-F238E27FC236}">
                <a16:creationId xmlns:a16="http://schemas.microsoft.com/office/drawing/2014/main" id="{0A8803AC-3770-60D4-7A42-4CC7B47A36B0}"/>
              </a:ext>
            </a:extLst>
          </p:cNvPr>
          <p:cNvSpPr>
            <a:spLocks noChangeShapeType="1"/>
          </p:cNvSpPr>
          <p:nvPr/>
        </p:nvSpPr>
        <p:spPr bwMode="auto">
          <a:xfrm rot="3406098" flipH="1">
            <a:off x="3703685" y="2926558"/>
            <a:ext cx="0" cy="122237"/>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29" name="Line 45">
            <a:extLst>
              <a:ext uri="{FF2B5EF4-FFF2-40B4-BE49-F238E27FC236}">
                <a16:creationId xmlns:a16="http://schemas.microsoft.com/office/drawing/2014/main" id="{451501B0-54F6-A36D-10C4-A588E709284B}"/>
              </a:ext>
            </a:extLst>
          </p:cNvPr>
          <p:cNvSpPr>
            <a:spLocks noChangeShapeType="1"/>
          </p:cNvSpPr>
          <p:nvPr/>
        </p:nvSpPr>
        <p:spPr bwMode="auto">
          <a:xfrm rot="5539596" flipH="1">
            <a:off x="3946572" y="2966244"/>
            <a:ext cx="0" cy="122238"/>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0" name="Line 46">
            <a:extLst>
              <a:ext uri="{FF2B5EF4-FFF2-40B4-BE49-F238E27FC236}">
                <a16:creationId xmlns:a16="http://schemas.microsoft.com/office/drawing/2014/main" id="{FC4AAD5D-C441-9BA1-B2C5-AA98C70DDB7F}"/>
              </a:ext>
            </a:extLst>
          </p:cNvPr>
          <p:cNvSpPr>
            <a:spLocks noChangeShapeType="1"/>
          </p:cNvSpPr>
          <p:nvPr/>
        </p:nvSpPr>
        <p:spPr bwMode="auto">
          <a:xfrm rot="16011920">
            <a:off x="3961653" y="3487738"/>
            <a:ext cx="1588" cy="122238"/>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1" name="Line 47">
            <a:extLst>
              <a:ext uri="{FF2B5EF4-FFF2-40B4-BE49-F238E27FC236}">
                <a16:creationId xmlns:a16="http://schemas.microsoft.com/office/drawing/2014/main" id="{8A902F56-38E9-0D30-5C89-684D195E5C74}"/>
              </a:ext>
            </a:extLst>
          </p:cNvPr>
          <p:cNvSpPr>
            <a:spLocks noChangeShapeType="1"/>
          </p:cNvSpPr>
          <p:nvPr/>
        </p:nvSpPr>
        <p:spPr bwMode="auto">
          <a:xfrm rot="16200000">
            <a:off x="5195141" y="2824164"/>
            <a:ext cx="1588" cy="122237"/>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2" name="Text Box 48">
            <a:extLst>
              <a:ext uri="{FF2B5EF4-FFF2-40B4-BE49-F238E27FC236}">
                <a16:creationId xmlns:a16="http://schemas.microsoft.com/office/drawing/2014/main" id="{553BCCD7-728F-A057-954A-D9971BB2300B}"/>
              </a:ext>
            </a:extLst>
          </p:cNvPr>
          <p:cNvSpPr txBox="1">
            <a:spLocks noChangeArrowheads="1"/>
          </p:cNvSpPr>
          <p:nvPr/>
        </p:nvSpPr>
        <p:spPr bwMode="auto">
          <a:xfrm>
            <a:off x="3531442" y="2617788"/>
            <a:ext cx="14430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200"/>
              <a:t>Search/Investigate</a:t>
            </a:r>
          </a:p>
        </p:txBody>
      </p:sp>
      <p:sp>
        <p:nvSpPr>
          <p:cNvPr id="33" name="Text Box 49">
            <a:extLst>
              <a:ext uri="{FF2B5EF4-FFF2-40B4-BE49-F238E27FC236}">
                <a16:creationId xmlns:a16="http://schemas.microsoft.com/office/drawing/2014/main" id="{C2ED15B0-D2DA-EAF7-8A94-CBCD8286F57E}"/>
              </a:ext>
            </a:extLst>
          </p:cNvPr>
          <p:cNvSpPr txBox="1">
            <a:spLocks noChangeArrowheads="1"/>
          </p:cNvSpPr>
          <p:nvPr/>
        </p:nvSpPr>
        <p:spPr bwMode="auto">
          <a:xfrm>
            <a:off x="1613741" y="1831976"/>
            <a:ext cx="950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200"/>
              <a:t>Define the search</a:t>
            </a:r>
          </a:p>
        </p:txBody>
      </p:sp>
      <p:sp>
        <p:nvSpPr>
          <p:cNvPr id="34" name="Line 50">
            <a:extLst>
              <a:ext uri="{FF2B5EF4-FFF2-40B4-BE49-F238E27FC236}">
                <a16:creationId xmlns:a16="http://schemas.microsoft.com/office/drawing/2014/main" id="{9A94D232-870A-9457-57C5-C170DC141F10}"/>
              </a:ext>
            </a:extLst>
          </p:cNvPr>
          <p:cNvSpPr>
            <a:spLocks noChangeShapeType="1"/>
          </p:cNvSpPr>
          <p:nvPr/>
        </p:nvSpPr>
        <p:spPr bwMode="auto">
          <a:xfrm>
            <a:off x="8546353" y="2879726"/>
            <a:ext cx="5969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5" name="Line 51">
            <a:extLst>
              <a:ext uri="{FF2B5EF4-FFF2-40B4-BE49-F238E27FC236}">
                <a16:creationId xmlns:a16="http://schemas.microsoft.com/office/drawing/2014/main" id="{42913E7D-2FE0-87D6-BAE9-CF25A26E5F70}"/>
              </a:ext>
            </a:extLst>
          </p:cNvPr>
          <p:cNvSpPr>
            <a:spLocks noChangeShapeType="1"/>
          </p:cNvSpPr>
          <p:nvPr/>
        </p:nvSpPr>
        <p:spPr bwMode="auto">
          <a:xfrm flipV="1">
            <a:off x="9130553" y="1971676"/>
            <a:ext cx="0" cy="9080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52">
            <a:extLst>
              <a:ext uri="{FF2B5EF4-FFF2-40B4-BE49-F238E27FC236}">
                <a16:creationId xmlns:a16="http://schemas.microsoft.com/office/drawing/2014/main" id="{E868CBCD-4954-FDE2-0724-E3E80BFF46D4}"/>
              </a:ext>
            </a:extLst>
          </p:cNvPr>
          <p:cNvSpPr>
            <a:spLocks noChangeShapeType="1"/>
          </p:cNvSpPr>
          <p:nvPr/>
        </p:nvSpPr>
        <p:spPr bwMode="auto">
          <a:xfrm flipH="1">
            <a:off x="2564653" y="1984376"/>
            <a:ext cx="65659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7" name="Line 53">
            <a:extLst>
              <a:ext uri="{FF2B5EF4-FFF2-40B4-BE49-F238E27FC236}">
                <a16:creationId xmlns:a16="http://schemas.microsoft.com/office/drawing/2014/main" id="{A8D4F46F-1CB2-45DF-2BC7-F765D0643259}"/>
              </a:ext>
            </a:extLst>
          </p:cNvPr>
          <p:cNvSpPr>
            <a:spLocks noChangeShapeType="1"/>
          </p:cNvSpPr>
          <p:nvPr/>
        </p:nvSpPr>
        <p:spPr bwMode="auto">
          <a:xfrm>
            <a:off x="2061416" y="2289177"/>
            <a:ext cx="0" cy="955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54">
            <a:extLst>
              <a:ext uri="{FF2B5EF4-FFF2-40B4-BE49-F238E27FC236}">
                <a16:creationId xmlns:a16="http://schemas.microsoft.com/office/drawing/2014/main" id="{06A7D16B-76D5-820C-D14F-180DB303F696}"/>
              </a:ext>
            </a:extLst>
          </p:cNvPr>
          <p:cNvSpPr>
            <a:spLocks noChangeShapeType="1"/>
          </p:cNvSpPr>
          <p:nvPr/>
        </p:nvSpPr>
        <p:spPr bwMode="auto">
          <a:xfrm>
            <a:off x="2061417" y="3244851"/>
            <a:ext cx="1444625"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9" name="Text Box 55">
            <a:extLst>
              <a:ext uri="{FF2B5EF4-FFF2-40B4-BE49-F238E27FC236}">
                <a16:creationId xmlns:a16="http://schemas.microsoft.com/office/drawing/2014/main" id="{810B69C2-96EF-3245-4DD1-F6F56749461A}"/>
              </a:ext>
            </a:extLst>
          </p:cNvPr>
          <p:cNvSpPr txBox="1">
            <a:spLocks noChangeArrowheads="1"/>
          </p:cNvSpPr>
          <p:nvPr/>
        </p:nvSpPr>
        <p:spPr bwMode="auto">
          <a:xfrm>
            <a:off x="2605929" y="5402264"/>
            <a:ext cx="68929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000"/>
              <a:t>Adapted from Orna, E. and Stevens, G. (1995) </a:t>
            </a:r>
            <a:r>
              <a:rPr lang="en-US" altLang="en-US" sz="1000" i="1"/>
              <a:t>Managing Information for Research</a:t>
            </a:r>
            <a:r>
              <a:rPr lang="en-US" altLang="en-US" sz="1000"/>
              <a:t>, Buckingham. Open University Press</a:t>
            </a:r>
          </a:p>
        </p:txBody>
      </p:sp>
    </p:spTree>
    <p:extLst>
      <p:ext uri="{BB962C8B-B14F-4D97-AF65-F5344CB8AC3E}">
        <p14:creationId xmlns:p14="http://schemas.microsoft.com/office/powerpoint/2010/main" val="3448285982"/>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Research Process </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US" altLang="en-US" sz="2600" dirty="0"/>
              <a:t>The </a:t>
            </a:r>
            <a:r>
              <a:rPr lang="en-US" altLang="en-US" sz="2600" dirty="0" err="1"/>
              <a:t>Orna</a:t>
            </a:r>
            <a:r>
              <a:rPr lang="en-US" altLang="en-US" sz="2600" dirty="0"/>
              <a:t> and Stevens model includes two views of the research process:</a:t>
            </a:r>
          </a:p>
          <a:p>
            <a:pPr lvl="2" eaLnBrk="1" hangingPunct="1"/>
            <a:r>
              <a:rPr lang="en-US" altLang="en-US" dirty="0"/>
              <a:t>Circulatory, which </a:t>
            </a:r>
            <a:r>
              <a:rPr lang="en-US" altLang="en-US" dirty="0" err="1"/>
              <a:t>recognises</a:t>
            </a:r>
            <a:r>
              <a:rPr lang="en-US" altLang="en-US" dirty="0"/>
              <a:t> that any research is part of a continuous cycle of discovery and investigation.</a:t>
            </a:r>
          </a:p>
          <a:p>
            <a:pPr lvl="1" eaLnBrk="1" hangingPunct="1"/>
            <a:r>
              <a:rPr lang="en-US" altLang="en-US" sz="2600" dirty="0"/>
              <a:t>In the model, this commences with ‘define the search’ and seeks to answer the following questions:</a:t>
            </a:r>
          </a:p>
          <a:p>
            <a:pPr lvl="2" eaLnBrk="1" hangingPunct="1"/>
            <a:r>
              <a:rPr lang="en-US" altLang="en-US" dirty="0"/>
              <a:t>What am I looking for?</a:t>
            </a:r>
          </a:p>
          <a:p>
            <a:pPr lvl="2" eaLnBrk="1" hangingPunct="1"/>
            <a:r>
              <a:rPr lang="en-US" altLang="en-US" dirty="0"/>
              <a:t>Why am I looking for it?</a:t>
            </a:r>
          </a:p>
          <a:p>
            <a:pPr lvl="2" eaLnBrk="1" hangingPunct="1"/>
            <a:r>
              <a:rPr lang="en-US" altLang="en-US" dirty="0"/>
              <a:t>How shall I set about it?</a:t>
            </a:r>
          </a:p>
          <a:p>
            <a:pPr lvl="2" eaLnBrk="1" hangingPunct="1"/>
            <a:r>
              <a:rPr lang="en-US" altLang="en-US" dirty="0"/>
              <a:t>Where shall I start looking?</a:t>
            </a:r>
          </a:p>
          <a:p>
            <a:pPr marL="0" indent="0">
              <a:buNone/>
            </a:pPr>
            <a:endParaRPr lang="en-IE" dirty="0"/>
          </a:p>
        </p:txBody>
      </p:sp>
      <p:sp>
        <p:nvSpPr>
          <p:cNvPr id="7" name="TextBox 6">
            <a:extLst>
              <a:ext uri="{FF2B5EF4-FFF2-40B4-BE49-F238E27FC236}">
                <a16:creationId xmlns:a16="http://schemas.microsoft.com/office/drawing/2014/main" id="{0AB3D577-932A-F5D9-7A8B-008EC56A96F5}"/>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193071468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Deductive Approach</a:t>
            </a:r>
            <a:endParaRPr lang="en-IE" dirty="0">
              <a:solidFill>
                <a:schemeClr val="accent1"/>
              </a:solidFill>
            </a:endParaRPr>
          </a:p>
        </p:txBody>
      </p:sp>
      <p:graphicFrame>
        <p:nvGraphicFramePr>
          <p:cNvPr id="7" name="Group 59">
            <a:extLst>
              <a:ext uri="{FF2B5EF4-FFF2-40B4-BE49-F238E27FC236}">
                <a16:creationId xmlns:a16="http://schemas.microsoft.com/office/drawing/2014/main" id="{940C2AD5-697F-F7E9-5D42-73B1310452DC}"/>
              </a:ext>
            </a:extLst>
          </p:cNvPr>
          <p:cNvGraphicFramePr>
            <a:graphicFrameLocks noGrp="1"/>
          </p:cNvGraphicFramePr>
          <p:nvPr>
            <p:extLst>
              <p:ext uri="{D42A27DB-BD31-4B8C-83A1-F6EECF244321}">
                <p14:modId xmlns:p14="http://schemas.microsoft.com/office/powerpoint/2010/main" val="1133116021"/>
              </p:ext>
            </p:extLst>
          </p:nvPr>
        </p:nvGraphicFramePr>
        <p:xfrm>
          <a:off x="4056600" y="1852995"/>
          <a:ext cx="4078799" cy="3902731"/>
        </p:xfrm>
        <a:graphic>
          <a:graphicData uri="http://schemas.openxmlformats.org/drawingml/2006/table">
            <a:tbl>
              <a:tblPr/>
              <a:tblGrid>
                <a:gridCol w="4078799">
                  <a:extLst>
                    <a:ext uri="{9D8B030D-6E8A-4147-A177-3AD203B41FA5}">
                      <a16:colId xmlns:a16="http://schemas.microsoft.com/office/drawing/2014/main" val="20000"/>
                    </a:ext>
                  </a:extLst>
                </a:gridCol>
              </a:tblGrid>
              <a:tr h="422700">
                <a:tc>
                  <a:txBody>
                    <a:bodyPr/>
                    <a:lstStyle/>
                    <a:p>
                      <a:pPr marL="177800" marR="0" lvl="0" indent="-177800" algn="ctr" defTabSz="914400" rtl="0" eaLnBrk="1" fontAlgn="base" latinLnBrk="0" hangingPunct="1">
                        <a:lnSpc>
                          <a:spcPct val="110000"/>
                        </a:lnSpc>
                        <a:spcBef>
                          <a:spcPct val="0"/>
                        </a:spcBef>
                        <a:spcAft>
                          <a:spcPct val="0"/>
                        </a:spcAft>
                        <a:buClrTx/>
                        <a:buSzTx/>
                        <a:buFont typeface="Arial" charset="0"/>
                        <a:buNone/>
                        <a:tabLst/>
                      </a:pPr>
                      <a:r>
                        <a:rPr kumimoji="0" lang="en-US" sz="1400" b="1" i="0" u="none" strike="noStrike" cap="none" normalizeH="0" baseline="0" dirty="0">
                          <a:ln>
                            <a:noFill/>
                          </a:ln>
                          <a:solidFill>
                            <a:srgbClr val="974F8E"/>
                          </a:solidFill>
                          <a:effectLst/>
                          <a:latin typeface="Arial" charset="0"/>
                          <a:ea typeface="ＭＳ Ｐゴシック" pitchFamily="34" charset="-128"/>
                        </a:rPr>
                        <a:t>Deduction</a:t>
                      </a:r>
                    </a:p>
                  </a:txBody>
                  <a:tcPr marL="90000" marR="90000" marT="18000" marB="18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D1E4"/>
                    </a:solidFill>
                  </a:tcPr>
                </a:tc>
                <a:extLst>
                  <a:ext uri="{0D108BD9-81ED-4DB2-BD59-A6C34878D82A}">
                    <a16:rowId xmlns:a16="http://schemas.microsoft.com/office/drawing/2014/main" val="10000"/>
                  </a:ext>
                </a:extLst>
              </a:tr>
              <a:tr h="700639">
                <a:tc>
                  <a:txBody>
                    <a:bodyPr/>
                    <a:lstStyle/>
                    <a:p>
                      <a:pPr marL="177800" marR="0" lvl="0" indent="-177800" algn="l" defTabSz="914400" rtl="0" eaLnBrk="1" fontAlgn="base" latinLnBrk="0" hangingPunct="1">
                        <a:lnSpc>
                          <a:spcPct val="110000"/>
                        </a:lnSpc>
                        <a:spcBef>
                          <a:spcPct val="0"/>
                        </a:spcBef>
                        <a:spcAft>
                          <a:spcPct val="0"/>
                        </a:spcAft>
                        <a:buClrTx/>
                        <a:buSzTx/>
                        <a:buFont typeface="Arial" charset="0"/>
                        <a:buNone/>
                        <a:tabLst/>
                      </a:pPr>
                      <a:r>
                        <a:rPr kumimoji="0" lang="en-US" sz="1400" b="0" i="0" u="none" strike="noStrike" cap="none" normalizeH="0" baseline="0" dirty="0">
                          <a:ln>
                            <a:noFill/>
                          </a:ln>
                          <a:solidFill>
                            <a:srgbClr val="974F8E"/>
                          </a:solidFill>
                          <a:effectLst/>
                          <a:latin typeface="Arial" charset="0"/>
                          <a:ea typeface="ＭＳ Ｐゴシック" pitchFamily="34" charset="-128"/>
                        </a:rPr>
                        <a:t>Moving from theory to data</a:t>
                      </a:r>
                    </a:p>
                  </a:txBody>
                  <a:tcPr marL="90000" marR="90000" marT="18000" marB="18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D1E4"/>
                    </a:solidFill>
                  </a:tcPr>
                </a:tc>
                <a:extLst>
                  <a:ext uri="{0D108BD9-81ED-4DB2-BD59-A6C34878D82A}">
                    <a16:rowId xmlns:a16="http://schemas.microsoft.com/office/drawing/2014/main" val="10001"/>
                  </a:ext>
                </a:extLst>
              </a:tr>
              <a:tr h="694848">
                <a:tc>
                  <a:txBody>
                    <a:bodyPr/>
                    <a:lstStyle/>
                    <a:p>
                      <a:pPr marL="177800" marR="0" lvl="0" indent="-177800" algn="l" defTabSz="914400" rtl="0" eaLnBrk="1" fontAlgn="base" latinLnBrk="0" hangingPunct="1">
                        <a:lnSpc>
                          <a:spcPct val="110000"/>
                        </a:lnSpc>
                        <a:spcBef>
                          <a:spcPct val="0"/>
                        </a:spcBef>
                        <a:spcAft>
                          <a:spcPct val="0"/>
                        </a:spcAft>
                        <a:buClrTx/>
                        <a:buSzTx/>
                        <a:buFont typeface="Arial" charset="0"/>
                        <a:buNone/>
                        <a:tabLst/>
                      </a:pPr>
                      <a:r>
                        <a:rPr kumimoji="0" lang="en-US" sz="1400" b="0" i="0" u="none" strike="noStrike" cap="none" normalizeH="0" baseline="0" dirty="0">
                          <a:ln>
                            <a:noFill/>
                          </a:ln>
                          <a:solidFill>
                            <a:srgbClr val="974F8E"/>
                          </a:solidFill>
                          <a:effectLst/>
                          <a:latin typeface="Arial" charset="0"/>
                          <a:ea typeface="ＭＳ Ｐゴシック" pitchFamily="34" charset="-128"/>
                        </a:rPr>
                        <a:t>Common with natural sciences</a:t>
                      </a:r>
                    </a:p>
                  </a:txBody>
                  <a:tcPr marL="90000" marR="90000" marT="18000" marB="18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D1E4"/>
                    </a:solidFill>
                  </a:tcPr>
                </a:tc>
                <a:extLst>
                  <a:ext uri="{0D108BD9-81ED-4DB2-BD59-A6C34878D82A}">
                    <a16:rowId xmlns:a16="http://schemas.microsoft.com/office/drawing/2014/main" val="10002"/>
                  </a:ext>
                </a:extLst>
              </a:tr>
              <a:tr h="694848">
                <a:tc>
                  <a:txBody>
                    <a:bodyPr/>
                    <a:lstStyle/>
                    <a:p>
                      <a:pPr marL="177800" marR="0" lvl="0" indent="-177800" algn="l" defTabSz="914400" rtl="0" eaLnBrk="1" fontAlgn="base" latinLnBrk="0" hangingPunct="1">
                        <a:lnSpc>
                          <a:spcPct val="110000"/>
                        </a:lnSpc>
                        <a:spcBef>
                          <a:spcPct val="0"/>
                        </a:spcBef>
                        <a:spcAft>
                          <a:spcPct val="0"/>
                        </a:spcAft>
                        <a:buClrTx/>
                        <a:buSzTx/>
                        <a:buFont typeface="Arial" charset="0"/>
                        <a:buNone/>
                        <a:tabLst/>
                      </a:pPr>
                      <a:r>
                        <a:rPr kumimoji="0" lang="en-US" sz="1400" b="0" i="0" u="none" strike="noStrike" cap="none" normalizeH="0" baseline="0">
                          <a:ln>
                            <a:noFill/>
                          </a:ln>
                          <a:solidFill>
                            <a:srgbClr val="974F8E"/>
                          </a:solidFill>
                          <a:effectLst/>
                          <a:latin typeface="Arial" charset="0"/>
                          <a:ea typeface="ＭＳ Ｐゴシック" pitchFamily="34" charset="-128"/>
                        </a:rPr>
                        <a:t>A highly structured approach</a:t>
                      </a:r>
                    </a:p>
                  </a:txBody>
                  <a:tcPr marL="90000" marR="90000" marT="18000" marB="18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D1E4"/>
                    </a:solidFill>
                  </a:tcPr>
                </a:tc>
                <a:extLst>
                  <a:ext uri="{0D108BD9-81ED-4DB2-BD59-A6C34878D82A}">
                    <a16:rowId xmlns:a16="http://schemas.microsoft.com/office/drawing/2014/main" val="10003"/>
                  </a:ext>
                </a:extLst>
              </a:tr>
              <a:tr h="694848">
                <a:tc>
                  <a:txBody>
                    <a:bodyPr/>
                    <a:lstStyle/>
                    <a:p>
                      <a:pPr marL="177800" marR="0" lvl="0" indent="-177800" algn="l" defTabSz="914400" rtl="0" eaLnBrk="1" fontAlgn="base" latinLnBrk="0" hangingPunct="1">
                        <a:lnSpc>
                          <a:spcPct val="110000"/>
                        </a:lnSpc>
                        <a:spcBef>
                          <a:spcPct val="0"/>
                        </a:spcBef>
                        <a:spcAft>
                          <a:spcPct val="0"/>
                        </a:spcAft>
                        <a:buClrTx/>
                        <a:buSzTx/>
                        <a:buFont typeface="Arial" charset="0"/>
                        <a:buNone/>
                        <a:tabLst/>
                      </a:pPr>
                      <a:r>
                        <a:rPr kumimoji="0" lang="en-US" sz="1400" b="0" i="0" u="none" strike="noStrike" cap="none" normalizeH="0" baseline="0">
                          <a:ln>
                            <a:noFill/>
                          </a:ln>
                          <a:solidFill>
                            <a:srgbClr val="974F8E"/>
                          </a:solidFill>
                          <a:effectLst/>
                          <a:latin typeface="Arial" charset="0"/>
                          <a:ea typeface="ＭＳ Ｐゴシック" pitchFamily="34" charset="-128"/>
                        </a:rPr>
                        <a:t>Explain causal relationships between variables</a:t>
                      </a:r>
                    </a:p>
                  </a:txBody>
                  <a:tcPr marL="90000" marR="90000" marT="18000" marB="18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D1E4"/>
                    </a:solidFill>
                  </a:tcPr>
                </a:tc>
                <a:extLst>
                  <a:ext uri="{0D108BD9-81ED-4DB2-BD59-A6C34878D82A}">
                    <a16:rowId xmlns:a16="http://schemas.microsoft.com/office/drawing/2014/main" val="10004"/>
                  </a:ext>
                </a:extLst>
              </a:tr>
              <a:tr h="694848">
                <a:tc>
                  <a:txBody>
                    <a:bodyPr/>
                    <a:lstStyle/>
                    <a:p>
                      <a:pPr marL="177800" marR="0" lvl="0" indent="-177800" algn="l" defTabSz="914400" rtl="0" eaLnBrk="1" fontAlgn="base" latinLnBrk="0" hangingPunct="1">
                        <a:lnSpc>
                          <a:spcPct val="110000"/>
                        </a:lnSpc>
                        <a:spcBef>
                          <a:spcPct val="0"/>
                        </a:spcBef>
                        <a:spcAft>
                          <a:spcPct val="0"/>
                        </a:spcAft>
                        <a:buClrTx/>
                        <a:buSzTx/>
                        <a:buFont typeface="Arial" charset="0"/>
                        <a:buNone/>
                        <a:tabLst/>
                      </a:pPr>
                      <a:r>
                        <a:rPr kumimoji="0" lang="en-US" sz="1400" b="0" i="0" u="none" strike="noStrike" cap="none" normalizeH="0" baseline="0" dirty="0">
                          <a:ln>
                            <a:noFill/>
                          </a:ln>
                          <a:solidFill>
                            <a:srgbClr val="974F8E"/>
                          </a:solidFill>
                          <a:effectLst/>
                          <a:latin typeface="Arial" charset="0"/>
                          <a:ea typeface="ＭＳ Ｐゴシック" pitchFamily="34" charset="-128"/>
                        </a:rPr>
                        <a:t>Select samples of sufficient size to </a:t>
                      </a:r>
                      <a:r>
                        <a:rPr kumimoji="0" lang="en-US" sz="1400" b="0" i="0" u="none" strike="noStrike" cap="none" normalizeH="0" baseline="0" dirty="0" err="1">
                          <a:ln>
                            <a:noFill/>
                          </a:ln>
                          <a:solidFill>
                            <a:srgbClr val="974F8E"/>
                          </a:solidFill>
                          <a:effectLst/>
                          <a:latin typeface="Arial" charset="0"/>
                          <a:ea typeface="ＭＳ Ｐゴシック" pitchFamily="34" charset="-128"/>
                        </a:rPr>
                        <a:t>generalise</a:t>
                      </a:r>
                      <a:r>
                        <a:rPr kumimoji="0" lang="en-US" sz="1400" b="0" i="0" u="none" strike="noStrike" cap="none" normalizeH="0" baseline="0" dirty="0">
                          <a:ln>
                            <a:noFill/>
                          </a:ln>
                          <a:solidFill>
                            <a:srgbClr val="974F8E"/>
                          </a:solidFill>
                          <a:effectLst/>
                          <a:latin typeface="Arial" charset="0"/>
                          <a:ea typeface="ＭＳ Ｐゴシック" pitchFamily="34" charset="-128"/>
                        </a:rPr>
                        <a:t> conclusions</a:t>
                      </a:r>
                    </a:p>
                  </a:txBody>
                  <a:tcPr marL="90000" marR="90000" marT="18000" marB="18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7D1E4"/>
                    </a:solidFill>
                  </a:tcPr>
                </a:tc>
                <a:extLst>
                  <a:ext uri="{0D108BD9-81ED-4DB2-BD59-A6C34878D82A}">
                    <a16:rowId xmlns:a16="http://schemas.microsoft.com/office/drawing/2014/main" val="10005"/>
                  </a:ext>
                </a:extLst>
              </a:tr>
            </a:tbl>
          </a:graphicData>
        </a:graphic>
      </p:graphicFrame>
      <p:sp>
        <p:nvSpPr>
          <p:cNvPr id="8" name="Text Box 60">
            <a:extLst>
              <a:ext uri="{FF2B5EF4-FFF2-40B4-BE49-F238E27FC236}">
                <a16:creationId xmlns:a16="http://schemas.microsoft.com/office/drawing/2014/main" id="{DBCB5177-B7A0-FBF0-1A8D-9FB7085C6C90}"/>
              </a:ext>
            </a:extLst>
          </p:cNvPr>
          <p:cNvSpPr txBox="1">
            <a:spLocks noChangeArrowheads="1"/>
          </p:cNvSpPr>
          <p:nvPr/>
        </p:nvSpPr>
        <p:spPr bwMode="auto">
          <a:xfrm>
            <a:off x="1890714" y="5735639"/>
            <a:ext cx="82121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000" dirty="0"/>
              <a:t>Adapted from: </a:t>
            </a:r>
            <a:r>
              <a:rPr lang="en-GB" altLang="en-US" sz="1000" dirty="0"/>
              <a:t>Saunders, M. Lewis, P. and Thornhill, A. (2006) </a:t>
            </a:r>
            <a:r>
              <a:rPr lang="en-GB" altLang="en-US" sz="1000" i="1" dirty="0"/>
              <a:t>Research Methods for Business Students</a:t>
            </a:r>
            <a:r>
              <a:rPr lang="en-GB" altLang="en-US" sz="1000" dirty="0"/>
              <a:t> (4th Edition) London. FT Prentice-Hall.</a:t>
            </a:r>
            <a:endParaRPr lang="en-US" altLang="en-US" sz="1000" dirty="0"/>
          </a:p>
        </p:txBody>
      </p:sp>
    </p:spTree>
    <p:extLst>
      <p:ext uri="{BB962C8B-B14F-4D97-AF65-F5344CB8AC3E}">
        <p14:creationId xmlns:p14="http://schemas.microsoft.com/office/powerpoint/2010/main" val="1900563569"/>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Deductive Approach </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0" indent="0">
              <a:buNone/>
            </a:pPr>
            <a:r>
              <a:rPr lang="en-US" altLang="en-US" sz="2800" dirty="0"/>
              <a:t>To Collis and Hussey (2003), deduction is the dominant research approach in the natural sciences, where laws present the basis of explanation, allow the anticipation of events, predict their occurrence and therefore permit them to be controlled</a:t>
            </a:r>
            <a:r>
              <a:rPr lang="en-US" altLang="en-US" dirty="0"/>
              <a:t>. </a:t>
            </a:r>
          </a:p>
          <a:p>
            <a:pPr marL="0" indent="0">
              <a:buNone/>
            </a:pPr>
            <a:endParaRPr lang="en-IE" dirty="0"/>
          </a:p>
        </p:txBody>
      </p:sp>
      <p:sp>
        <p:nvSpPr>
          <p:cNvPr id="7" name="Text Box 8">
            <a:extLst>
              <a:ext uri="{FF2B5EF4-FFF2-40B4-BE49-F238E27FC236}">
                <a16:creationId xmlns:a16="http://schemas.microsoft.com/office/drawing/2014/main" id="{A7F178A1-F313-44FB-8C60-63FA8951939B}"/>
              </a:ext>
            </a:extLst>
          </p:cNvPr>
          <p:cNvSpPr txBox="1">
            <a:spLocks noChangeArrowheads="1"/>
          </p:cNvSpPr>
          <p:nvPr/>
        </p:nvSpPr>
        <p:spPr bwMode="auto">
          <a:xfrm>
            <a:off x="2466976" y="5516564"/>
            <a:ext cx="75152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000" dirty="0"/>
              <a:t>Collis, J and Hussey, R., (2003), </a:t>
            </a:r>
            <a:r>
              <a:rPr lang="en-US" altLang="en-US" sz="1000" i="1" dirty="0"/>
              <a:t>Business research: A practical guide for undergraduate and postgraduate students</a:t>
            </a:r>
            <a:r>
              <a:rPr lang="en-US" altLang="en-US" sz="1000" dirty="0"/>
              <a:t>, 2nd Edition. Basingstoke. McMillan</a:t>
            </a:r>
          </a:p>
        </p:txBody>
      </p:sp>
    </p:spTree>
    <p:extLst>
      <p:ext uri="{BB962C8B-B14F-4D97-AF65-F5344CB8AC3E}">
        <p14:creationId xmlns:p14="http://schemas.microsoft.com/office/powerpoint/2010/main" val="2624802932"/>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Research Process </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lvl="1" eaLnBrk="1" hangingPunct="1"/>
            <a:r>
              <a:rPr lang="en-US" altLang="en-US" dirty="0"/>
              <a:t>And Robson (1993) proposes sequential five stages of deductive research</a:t>
            </a:r>
          </a:p>
          <a:p>
            <a:pPr lvl="2" eaLnBrk="1" hangingPunct="1"/>
            <a:r>
              <a:rPr lang="en-US" altLang="en-US" dirty="0"/>
              <a:t>Deducing a hypothesis from the theory</a:t>
            </a:r>
          </a:p>
          <a:p>
            <a:pPr lvl="2" eaLnBrk="1" hangingPunct="1"/>
            <a:r>
              <a:rPr lang="en-US" altLang="en-US" dirty="0"/>
              <a:t>Expressing the hypothesis in operational terms </a:t>
            </a:r>
          </a:p>
          <a:p>
            <a:pPr lvl="2" eaLnBrk="1" hangingPunct="1"/>
            <a:r>
              <a:rPr lang="en-US" altLang="en-US" dirty="0"/>
              <a:t>Testing the operational hypothesis</a:t>
            </a:r>
          </a:p>
          <a:p>
            <a:pPr lvl="2" eaLnBrk="1" hangingPunct="1"/>
            <a:r>
              <a:rPr lang="en-US" altLang="en-US" dirty="0"/>
              <a:t>Examining the specific outcome of the inquiry</a:t>
            </a:r>
          </a:p>
          <a:p>
            <a:pPr lvl="2" eaLnBrk="1" hangingPunct="1"/>
            <a:r>
              <a:rPr lang="en-US" altLang="en-US" dirty="0"/>
              <a:t>If necessary, modifying the theory. And possibly repeating the cycle.</a:t>
            </a:r>
          </a:p>
          <a:p>
            <a:pPr marL="0" indent="0">
              <a:buNone/>
            </a:pPr>
            <a:endParaRPr lang="en-IE" dirty="0"/>
          </a:p>
        </p:txBody>
      </p:sp>
      <p:sp>
        <p:nvSpPr>
          <p:cNvPr id="7" name="Text Box 8">
            <a:extLst>
              <a:ext uri="{FF2B5EF4-FFF2-40B4-BE49-F238E27FC236}">
                <a16:creationId xmlns:a16="http://schemas.microsoft.com/office/drawing/2014/main" id="{9E673EDB-0BF6-61F5-1148-FD18EB0F89A9}"/>
              </a:ext>
            </a:extLst>
          </p:cNvPr>
          <p:cNvSpPr txBox="1">
            <a:spLocks noChangeArrowheads="1"/>
          </p:cNvSpPr>
          <p:nvPr/>
        </p:nvSpPr>
        <p:spPr bwMode="auto">
          <a:xfrm>
            <a:off x="6434138" y="5656263"/>
            <a:ext cx="366236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prstDash val="dash"/>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000" dirty="0"/>
              <a:t>Robson, C. (2003) </a:t>
            </a:r>
            <a:r>
              <a:rPr lang="en-US" altLang="en-US" sz="1000" i="1" dirty="0"/>
              <a:t>Real World Research</a:t>
            </a:r>
            <a:r>
              <a:rPr lang="en-US" altLang="en-US" sz="1000" dirty="0"/>
              <a:t>. Oxford. Blackwell.</a:t>
            </a:r>
            <a:endParaRPr lang="en-GB" altLang="en-US" sz="1000" dirty="0"/>
          </a:p>
        </p:txBody>
      </p:sp>
    </p:spTree>
    <p:extLst>
      <p:ext uri="{BB962C8B-B14F-4D97-AF65-F5344CB8AC3E}">
        <p14:creationId xmlns:p14="http://schemas.microsoft.com/office/powerpoint/2010/main" val="2908920129"/>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CITING AND REFERENCING</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0" indent="0">
              <a:buNone/>
            </a:pPr>
            <a:endParaRPr lang="en-IE" dirty="0"/>
          </a:p>
        </p:txBody>
      </p:sp>
    </p:spTree>
    <p:extLst>
      <p:ext uri="{BB962C8B-B14F-4D97-AF65-F5344CB8AC3E}">
        <p14:creationId xmlns:p14="http://schemas.microsoft.com/office/powerpoint/2010/main" val="2073173710"/>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CITING AND REFERENCING</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342900" indent="-342900">
              <a:buClr>
                <a:srgbClr val="0070C0"/>
              </a:buClr>
              <a:buSzPts val="3200"/>
              <a:buFont typeface="Arial"/>
              <a:buChar char="•"/>
            </a:pPr>
            <a:r>
              <a:rPr lang="en-US" sz="2800" dirty="0">
                <a:solidFill>
                  <a:schemeClr val="dk1"/>
                </a:solidFill>
                <a:latin typeface="Arial"/>
                <a:ea typeface="Arial"/>
                <a:cs typeface="Arial"/>
                <a:sym typeface="Arial"/>
              </a:rPr>
              <a:t>Overview of when and why we need to reference</a:t>
            </a:r>
            <a:endParaRPr lang="en-US" sz="1200" dirty="0">
              <a:solidFill>
                <a:srgbClr val="000000"/>
              </a:solidFill>
              <a:latin typeface="Arial"/>
              <a:ea typeface="Arial"/>
              <a:cs typeface="Arial"/>
              <a:sym typeface="Arial"/>
            </a:endParaRPr>
          </a:p>
          <a:p>
            <a:pPr marL="342900" indent="-342900">
              <a:spcBef>
                <a:spcPts val="640"/>
              </a:spcBef>
              <a:buClr>
                <a:srgbClr val="0070C0"/>
              </a:buClr>
              <a:buSzPts val="3200"/>
              <a:buFont typeface="Arial"/>
              <a:buChar char="•"/>
            </a:pPr>
            <a:r>
              <a:rPr lang="en-US" sz="2800" dirty="0">
                <a:solidFill>
                  <a:schemeClr val="dk1"/>
                </a:solidFill>
                <a:latin typeface="Arial"/>
                <a:ea typeface="Arial"/>
                <a:cs typeface="Arial"/>
                <a:sym typeface="Arial"/>
              </a:rPr>
              <a:t>Guidelines for referencing on this </a:t>
            </a:r>
            <a:r>
              <a:rPr lang="en-US" sz="2800" dirty="0" err="1">
                <a:solidFill>
                  <a:schemeClr val="dk1"/>
                </a:solidFill>
                <a:latin typeface="Arial"/>
                <a:ea typeface="Arial"/>
                <a:cs typeface="Arial"/>
                <a:sym typeface="Arial"/>
              </a:rPr>
              <a:t>programme</a:t>
            </a:r>
            <a:endParaRPr lang="en-US" sz="1200" dirty="0">
              <a:solidFill>
                <a:srgbClr val="000000"/>
              </a:solidFill>
              <a:latin typeface="Arial"/>
              <a:ea typeface="Arial"/>
              <a:cs typeface="Arial"/>
              <a:sym typeface="Arial"/>
            </a:endParaRPr>
          </a:p>
          <a:p>
            <a:pPr marL="342900" indent="-342900">
              <a:spcBef>
                <a:spcPts val="640"/>
              </a:spcBef>
              <a:buClr>
                <a:srgbClr val="0070C0"/>
              </a:buClr>
              <a:buSzPts val="3200"/>
              <a:buFont typeface="Arial"/>
              <a:buChar char="•"/>
            </a:pPr>
            <a:r>
              <a:rPr lang="en-US" sz="2800" dirty="0">
                <a:solidFill>
                  <a:schemeClr val="dk1"/>
                </a:solidFill>
                <a:latin typeface="Arial"/>
                <a:ea typeface="Arial"/>
                <a:cs typeface="Arial"/>
                <a:sym typeface="Arial"/>
              </a:rPr>
              <a:t>Tips on introducing references into the text</a:t>
            </a:r>
            <a:endParaRPr lang="en-US" sz="1200" dirty="0">
              <a:solidFill>
                <a:srgbClr val="000000"/>
              </a:solidFill>
              <a:latin typeface="Arial"/>
              <a:ea typeface="Arial"/>
              <a:cs typeface="Arial"/>
              <a:sym typeface="Arial"/>
            </a:endParaRPr>
          </a:p>
          <a:p>
            <a:pPr marL="342900" indent="-342900">
              <a:spcBef>
                <a:spcPts val="640"/>
              </a:spcBef>
              <a:buClr>
                <a:srgbClr val="0070C0"/>
              </a:buClr>
              <a:buSzPts val="3200"/>
              <a:buFont typeface="Arial"/>
              <a:buChar char="•"/>
            </a:pPr>
            <a:r>
              <a:rPr lang="en-US" sz="2800" dirty="0">
                <a:solidFill>
                  <a:schemeClr val="dk1"/>
                </a:solidFill>
                <a:latin typeface="Arial"/>
                <a:ea typeface="Arial"/>
                <a:cs typeface="Arial"/>
                <a:sym typeface="Arial"/>
              </a:rPr>
              <a:t>Paraphrasing and avoiding plagiarism</a:t>
            </a:r>
            <a:endParaRPr lang="en-US" sz="1200" dirty="0">
              <a:solidFill>
                <a:srgbClr val="000000"/>
              </a:solidFill>
              <a:latin typeface="Arial"/>
              <a:ea typeface="Arial"/>
              <a:cs typeface="Arial"/>
              <a:sym typeface="Arial"/>
            </a:endParaRPr>
          </a:p>
          <a:p>
            <a:pPr marL="0" indent="0">
              <a:buNone/>
            </a:pPr>
            <a:endParaRPr lang="en-IE" dirty="0"/>
          </a:p>
        </p:txBody>
      </p:sp>
      <p:sp>
        <p:nvSpPr>
          <p:cNvPr id="7" name="TextBox 6">
            <a:extLst>
              <a:ext uri="{FF2B5EF4-FFF2-40B4-BE49-F238E27FC236}">
                <a16:creationId xmlns:a16="http://schemas.microsoft.com/office/drawing/2014/main" id="{62C35079-2E17-CB6A-CCD5-363F84B1EF9C}"/>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3145414710"/>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Why / When Reference?</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82562">
              <a:lnSpc>
                <a:spcPct val="100000"/>
              </a:lnSpc>
              <a:spcBef>
                <a:spcPts val="0"/>
              </a:spcBef>
              <a:buClr>
                <a:srgbClr val="0070C0"/>
              </a:buClr>
              <a:buSzPts val="2550"/>
              <a:buFont typeface="Arial"/>
              <a:buChar char="•"/>
            </a:pPr>
            <a:r>
              <a:rPr lang="en-US" sz="3000" dirty="0">
                <a:solidFill>
                  <a:schemeClr val="dk1"/>
                </a:solidFill>
                <a:latin typeface="Arial"/>
                <a:ea typeface="Arial"/>
                <a:cs typeface="Arial"/>
                <a:sym typeface="Arial"/>
              </a:rPr>
              <a:t>Why do you have to reference?</a:t>
            </a:r>
            <a:endParaRPr lang="en-US" sz="2400" dirty="0">
              <a:solidFill>
                <a:schemeClr val="dk1"/>
              </a:solidFill>
              <a:latin typeface="Arial"/>
              <a:ea typeface="Arial"/>
              <a:cs typeface="Arial"/>
              <a:sym typeface="Arial"/>
            </a:endParaRPr>
          </a:p>
          <a:p>
            <a:pPr marL="457200" lvl="1" indent="-182561">
              <a:lnSpc>
                <a:spcPct val="100000"/>
              </a:lnSpc>
              <a:spcBef>
                <a:spcPts val="400"/>
              </a:spcBef>
              <a:buClr>
                <a:srgbClr val="0070C0"/>
              </a:buClr>
              <a:buSzPts val="1700"/>
              <a:buFont typeface="Arial"/>
              <a:buChar char="•"/>
            </a:pPr>
            <a:r>
              <a:rPr lang="en-US" sz="2000" dirty="0">
                <a:solidFill>
                  <a:schemeClr val="dk1"/>
                </a:solidFill>
                <a:latin typeface="Arial"/>
                <a:ea typeface="Arial"/>
                <a:cs typeface="Arial"/>
                <a:sym typeface="Arial"/>
              </a:rPr>
              <a:t>To provide evidence to support ideas that you draw upon in your writing</a:t>
            </a:r>
            <a:endParaRPr lang="en-US" dirty="0"/>
          </a:p>
          <a:p>
            <a:pPr marL="457200" lvl="1" indent="-182561">
              <a:lnSpc>
                <a:spcPct val="100000"/>
              </a:lnSpc>
              <a:spcBef>
                <a:spcPts val="400"/>
              </a:spcBef>
              <a:buClr>
                <a:srgbClr val="0070C0"/>
              </a:buClr>
              <a:buSzPts val="1700"/>
              <a:buFont typeface="Arial"/>
              <a:buChar char="•"/>
            </a:pPr>
            <a:r>
              <a:rPr lang="en-US" sz="2000" dirty="0">
                <a:solidFill>
                  <a:schemeClr val="dk1"/>
                </a:solidFill>
                <a:latin typeface="Arial"/>
                <a:ea typeface="Arial"/>
                <a:cs typeface="Arial"/>
                <a:sym typeface="Arial"/>
              </a:rPr>
              <a:t>To credit another writer</a:t>
            </a:r>
            <a:endParaRPr lang="en-US" dirty="0"/>
          </a:p>
          <a:p>
            <a:pPr marL="457200" lvl="1" indent="-182561">
              <a:lnSpc>
                <a:spcPct val="100000"/>
              </a:lnSpc>
              <a:spcBef>
                <a:spcPts val="400"/>
              </a:spcBef>
              <a:buClr>
                <a:srgbClr val="0070C0"/>
              </a:buClr>
              <a:buSzPts val="1700"/>
              <a:buFont typeface="Arial"/>
              <a:buChar char="•"/>
            </a:pPr>
            <a:r>
              <a:rPr lang="en-US" sz="2000" dirty="0">
                <a:solidFill>
                  <a:schemeClr val="dk1"/>
                </a:solidFill>
                <a:latin typeface="Arial"/>
                <a:ea typeface="Arial"/>
                <a:cs typeface="Arial"/>
                <a:sym typeface="Arial"/>
              </a:rPr>
              <a:t>To allow reader to follow-up the reference</a:t>
            </a:r>
            <a:endParaRPr lang="en-US" dirty="0"/>
          </a:p>
          <a:p>
            <a:pPr marL="182562" indent="0">
              <a:lnSpc>
                <a:spcPct val="100000"/>
              </a:lnSpc>
              <a:spcBef>
                <a:spcPts val="600"/>
              </a:spcBef>
              <a:buSzPts val="1530"/>
              <a:buNone/>
            </a:pPr>
            <a:endParaRPr lang="en-US" sz="3000" dirty="0"/>
          </a:p>
          <a:p>
            <a:pPr marL="182562" indent="-182562">
              <a:lnSpc>
                <a:spcPct val="100000"/>
              </a:lnSpc>
              <a:spcBef>
                <a:spcPts val="600"/>
              </a:spcBef>
              <a:buClr>
                <a:srgbClr val="0070C0"/>
              </a:buClr>
              <a:buSzPts val="2550"/>
              <a:buFont typeface="Arial"/>
              <a:buChar char="•"/>
            </a:pPr>
            <a:r>
              <a:rPr lang="en-US" sz="3000" dirty="0">
                <a:solidFill>
                  <a:schemeClr val="dk1"/>
                </a:solidFill>
                <a:latin typeface="Arial"/>
                <a:ea typeface="Arial"/>
                <a:cs typeface="Arial"/>
                <a:sym typeface="Arial"/>
              </a:rPr>
              <a:t>When should you reference?</a:t>
            </a:r>
            <a:endParaRPr lang="en-US" dirty="0"/>
          </a:p>
          <a:p>
            <a:pPr marL="457200" lvl="1" indent="-182561">
              <a:lnSpc>
                <a:spcPct val="100000"/>
              </a:lnSpc>
              <a:spcBef>
                <a:spcPts val="400"/>
              </a:spcBef>
              <a:buClr>
                <a:srgbClr val="0070C0"/>
              </a:buClr>
              <a:buSzPts val="1700"/>
              <a:buFont typeface="Arial"/>
              <a:buChar char="•"/>
            </a:pPr>
            <a:r>
              <a:rPr lang="en-US" sz="2000" dirty="0">
                <a:solidFill>
                  <a:schemeClr val="dk1"/>
                </a:solidFill>
                <a:latin typeface="Arial"/>
                <a:ea typeface="Arial"/>
                <a:cs typeface="Arial"/>
                <a:sym typeface="Arial"/>
              </a:rPr>
              <a:t>When draw upon idea that is not your own, e.g.</a:t>
            </a:r>
            <a:endParaRPr lang="en-US" dirty="0"/>
          </a:p>
          <a:p>
            <a:pPr marL="730250" lvl="2" indent="-182562">
              <a:lnSpc>
                <a:spcPct val="100000"/>
              </a:lnSpc>
              <a:spcBef>
                <a:spcPts val="520"/>
              </a:spcBef>
              <a:buClr>
                <a:srgbClr val="0070C0"/>
              </a:buClr>
              <a:buSzPts val="2340"/>
              <a:buFont typeface="Arial"/>
              <a:buChar char="•"/>
            </a:pPr>
            <a:r>
              <a:rPr lang="en-US" sz="2600" dirty="0">
                <a:solidFill>
                  <a:schemeClr val="dk1"/>
                </a:solidFill>
                <a:latin typeface="Arial"/>
                <a:ea typeface="Arial"/>
                <a:cs typeface="Arial"/>
                <a:sym typeface="Arial"/>
              </a:rPr>
              <a:t>Point of view/argument</a:t>
            </a:r>
            <a:endParaRPr lang="en-US" dirty="0"/>
          </a:p>
          <a:p>
            <a:pPr marL="730250" lvl="2" indent="-182562">
              <a:lnSpc>
                <a:spcPct val="100000"/>
              </a:lnSpc>
              <a:spcBef>
                <a:spcPts val="520"/>
              </a:spcBef>
              <a:buClr>
                <a:srgbClr val="0070C0"/>
              </a:buClr>
              <a:buSzPts val="2340"/>
              <a:buFont typeface="Arial"/>
              <a:buChar char="•"/>
            </a:pPr>
            <a:r>
              <a:rPr lang="en-US" sz="2600" dirty="0">
                <a:solidFill>
                  <a:schemeClr val="dk1"/>
                </a:solidFill>
                <a:latin typeface="Arial"/>
                <a:ea typeface="Arial"/>
                <a:cs typeface="Arial"/>
                <a:sym typeface="Arial"/>
              </a:rPr>
              <a:t>Statistical information</a:t>
            </a:r>
            <a:endParaRPr lang="en-US" dirty="0"/>
          </a:p>
          <a:p>
            <a:pPr marL="730250" lvl="2" indent="-182562">
              <a:lnSpc>
                <a:spcPct val="100000"/>
              </a:lnSpc>
              <a:spcBef>
                <a:spcPts val="520"/>
              </a:spcBef>
              <a:buClr>
                <a:srgbClr val="0070C0"/>
              </a:buClr>
              <a:buSzPts val="2340"/>
              <a:buFont typeface="Arial"/>
              <a:buChar char="•"/>
            </a:pPr>
            <a:r>
              <a:rPr lang="en-US" sz="2600" dirty="0">
                <a:solidFill>
                  <a:schemeClr val="dk1"/>
                </a:solidFill>
                <a:latin typeface="Arial"/>
                <a:ea typeface="Arial"/>
                <a:cs typeface="Arial"/>
                <a:sym typeface="Arial"/>
              </a:rPr>
              <a:t>Published evidence</a:t>
            </a:r>
            <a:endParaRPr lang="en-US" dirty="0"/>
          </a:p>
          <a:p>
            <a:pPr marL="0" indent="0">
              <a:buNone/>
            </a:pPr>
            <a:endParaRPr lang="en-IE" dirty="0"/>
          </a:p>
        </p:txBody>
      </p:sp>
      <p:sp>
        <p:nvSpPr>
          <p:cNvPr id="7" name="TextBox 6">
            <a:extLst>
              <a:ext uri="{FF2B5EF4-FFF2-40B4-BE49-F238E27FC236}">
                <a16:creationId xmlns:a16="http://schemas.microsoft.com/office/drawing/2014/main" id="{EDEE8A02-DDB4-F2C1-73B3-6F11887B7377}"/>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170906596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CITING AND REFERENCING</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82562">
              <a:lnSpc>
                <a:spcPct val="100000"/>
              </a:lnSpc>
              <a:spcBef>
                <a:spcPts val="0"/>
              </a:spcBef>
              <a:buClr>
                <a:srgbClr val="0070C0"/>
              </a:buClr>
              <a:buSzPts val="2550"/>
              <a:buFont typeface="Arial"/>
              <a:buChar char="•"/>
            </a:pPr>
            <a:r>
              <a:rPr lang="en-US" sz="3000" dirty="0">
                <a:solidFill>
                  <a:schemeClr val="dk1"/>
                </a:solidFill>
                <a:latin typeface="Arial"/>
                <a:ea typeface="Arial"/>
                <a:cs typeface="Arial"/>
                <a:sym typeface="Arial"/>
              </a:rPr>
              <a:t>Without references ideas lack credibility, e.g.</a:t>
            </a:r>
            <a:endParaRPr lang="en-US" dirty="0"/>
          </a:p>
          <a:p>
            <a:pPr marL="182562" indent="-128587">
              <a:lnSpc>
                <a:spcPct val="100000"/>
              </a:lnSpc>
              <a:spcBef>
                <a:spcPts val="200"/>
              </a:spcBef>
              <a:buClr>
                <a:srgbClr val="0070C0"/>
              </a:buClr>
              <a:buSzPts val="850"/>
              <a:buNone/>
            </a:pPr>
            <a:endParaRPr lang="en-US" sz="1000" dirty="0">
              <a:solidFill>
                <a:schemeClr val="dk1"/>
              </a:solidFill>
              <a:latin typeface="Arial"/>
              <a:ea typeface="Arial"/>
              <a:cs typeface="Arial"/>
              <a:sym typeface="Arial"/>
            </a:endParaRPr>
          </a:p>
          <a:p>
            <a:pPr marL="457200" lvl="1" indent="-182562">
              <a:lnSpc>
                <a:spcPct val="100000"/>
              </a:lnSpc>
              <a:spcBef>
                <a:spcPts val="580"/>
              </a:spcBef>
              <a:buClr>
                <a:srgbClr val="0070C0"/>
              </a:buClr>
              <a:buSzPts val="2465"/>
              <a:buFont typeface="Arial"/>
              <a:buChar char="•"/>
            </a:pPr>
            <a:r>
              <a:rPr lang="en-US" sz="2900" i="1" dirty="0">
                <a:solidFill>
                  <a:schemeClr val="dk1"/>
                </a:solidFill>
                <a:latin typeface="Arial"/>
                <a:ea typeface="Arial"/>
                <a:cs typeface="Arial"/>
                <a:sym typeface="Arial"/>
              </a:rPr>
              <a:t>Some health professionals burn out due to the emotional strain of the job</a:t>
            </a:r>
            <a:endParaRPr lang="en-US" dirty="0"/>
          </a:p>
          <a:p>
            <a:pPr marL="457200" lvl="1" indent="-96201">
              <a:lnSpc>
                <a:spcPct val="100000"/>
              </a:lnSpc>
              <a:spcBef>
                <a:spcPts val="320"/>
              </a:spcBef>
              <a:buClr>
                <a:srgbClr val="0070C0"/>
              </a:buClr>
              <a:buSzPts val="1360"/>
              <a:buNone/>
            </a:pPr>
            <a:endParaRPr lang="en-US" sz="1600" i="1" dirty="0">
              <a:solidFill>
                <a:schemeClr val="dk1"/>
              </a:solidFill>
              <a:latin typeface="Arial"/>
              <a:ea typeface="Arial"/>
              <a:cs typeface="Arial"/>
              <a:sym typeface="Arial"/>
            </a:endParaRPr>
          </a:p>
          <a:p>
            <a:pPr marL="182562" indent="-182562">
              <a:lnSpc>
                <a:spcPct val="100000"/>
              </a:lnSpc>
              <a:spcBef>
                <a:spcPts val="600"/>
              </a:spcBef>
              <a:buClr>
                <a:srgbClr val="0070C0"/>
              </a:buClr>
              <a:buSzPts val="2550"/>
              <a:buFont typeface="Arial"/>
              <a:buChar char="•"/>
            </a:pPr>
            <a:r>
              <a:rPr lang="en-US" sz="3000" dirty="0">
                <a:solidFill>
                  <a:schemeClr val="dk1"/>
                </a:solidFill>
                <a:latin typeface="Arial"/>
                <a:ea typeface="Arial"/>
                <a:cs typeface="Arial"/>
                <a:sym typeface="Arial"/>
              </a:rPr>
              <a:t>Compare this with:</a:t>
            </a:r>
            <a:endParaRPr lang="en-US" dirty="0"/>
          </a:p>
          <a:p>
            <a:pPr marL="182562" indent="-128587">
              <a:lnSpc>
                <a:spcPct val="100000"/>
              </a:lnSpc>
              <a:spcBef>
                <a:spcPts val="200"/>
              </a:spcBef>
              <a:buClr>
                <a:srgbClr val="0070C0"/>
              </a:buClr>
              <a:buSzPts val="850"/>
              <a:buNone/>
            </a:pPr>
            <a:endParaRPr lang="en-US" sz="1000" i="1" dirty="0">
              <a:solidFill>
                <a:schemeClr val="dk1"/>
              </a:solidFill>
              <a:latin typeface="Arial"/>
              <a:ea typeface="Arial"/>
              <a:cs typeface="Arial"/>
              <a:sym typeface="Arial"/>
            </a:endParaRPr>
          </a:p>
          <a:p>
            <a:pPr marL="457200" lvl="1" indent="-182562">
              <a:lnSpc>
                <a:spcPct val="100000"/>
              </a:lnSpc>
              <a:spcBef>
                <a:spcPts val="580"/>
              </a:spcBef>
              <a:buClr>
                <a:srgbClr val="0070C0"/>
              </a:buClr>
              <a:buSzPts val="2465"/>
              <a:buFont typeface="Arial"/>
              <a:buChar char="•"/>
            </a:pPr>
            <a:r>
              <a:rPr lang="en-US" sz="2900" i="1" dirty="0">
                <a:solidFill>
                  <a:schemeClr val="dk1"/>
                </a:solidFill>
                <a:latin typeface="Arial"/>
                <a:ea typeface="Arial"/>
                <a:cs typeface="Arial"/>
                <a:sym typeface="Arial"/>
              </a:rPr>
              <a:t>Steele (2016) explains that due to the client-</a:t>
            </a:r>
            <a:r>
              <a:rPr lang="en-US" sz="2900" i="1" dirty="0" err="1">
                <a:solidFill>
                  <a:schemeClr val="dk1"/>
                </a:solidFill>
                <a:latin typeface="Arial"/>
                <a:ea typeface="Arial"/>
                <a:cs typeface="Arial"/>
                <a:sym typeface="Arial"/>
              </a:rPr>
              <a:t>centred</a:t>
            </a:r>
            <a:r>
              <a:rPr lang="en-US" sz="2900" i="1" dirty="0">
                <a:solidFill>
                  <a:schemeClr val="dk1"/>
                </a:solidFill>
                <a:latin typeface="Arial"/>
                <a:ea typeface="Arial"/>
                <a:cs typeface="Arial"/>
                <a:sym typeface="Arial"/>
              </a:rPr>
              <a:t> nature of healthcare, service providers might become emotionally drained</a:t>
            </a:r>
            <a:endParaRPr lang="en-US" dirty="0"/>
          </a:p>
          <a:p>
            <a:pPr marL="0" indent="0">
              <a:buNone/>
            </a:pPr>
            <a:endParaRPr lang="en-IE" dirty="0"/>
          </a:p>
        </p:txBody>
      </p:sp>
      <p:sp>
        <p:nvSpPr>
          <p:cNvPr id="7" name="TextBox 6">
            <a:extLst>
              <a:ext uri="{FF2B5EF4-FFF2-40B4-BE49-F238E27FC236}">
                <a16:creationId xmlns:a16="http://schemas.microsoft.com/office/drawing/2014/main" id="{2654D713-4F31-9BF8-2862-B807C7DA7015}"/>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1137588720"/>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Typical sources of references</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0" indent="0">
              <a:lnSpc>
                <a:spcPct val="100000"/>
              </a:lnSpc>
              <a:spcBef>
                <a:spcPts val="0"/>
              </a:spcBef>
              <a:buClr>
                <a:schemeClr val="accent1"/>
              </a:buClr>
              <a:buSzPts val="2380"/>
              <a:buNone/>
            </a:pPr>
            <a:r>
              <a:rPr lang="en-US" b="1" dirty="0">
                <a:solidFill>
                  <a:schemeClr val="dk1"/>
                </a:solidFill>
                <a:latin typeface="Arial"/>
                <a:ea typeface="Arial"/>
                <a:cs typeface="Arial"/>
                <a:sym typeface="Arial"/>
              </a:rPr>
              <a:t>Main sources are</a:t>
            </a:r>
            <a:r>
              <a:rPr lang="en-US" dirty="0">
                <a:solidFill>
                  <a:schemeClr val="dk1"/>
                </a:solidFill>
                <a:latin typeface="Arial"/>
                <a:ea typeface="Arial"/>
                <a:cs typeface="Arial"/>
                <a:sym typeface="Arial"/>
              </a:rPr>
              <a:t>:</a:t>
            </a:r>
            <a:endParaRPr lang="en-US" dirty="0"/>
          </a:p>
          <a:p>
            <a:pPr marL="0" indent="-151130">
              <a:lnSpc>
                <a:spcPct val="100000"/>
              </a:lnSpc>
              <a:spcBef>
                <a:spcPts val="560"/>
              </a:spcBef>
              <a:buClr>
                <a:srgbClr val="0070C0"/>
              </a:buClr>
              <a:buSzPts val="2380"/>
              <a:buFont typeface="Arial"/>
              <a:buChar char="•"/>
            </a:pPr>
            <a:r>
              <a:rPr lang="en-US" dirty="0">
                <a:solidFill>
                  <a:schemeClr val="dk1"/>
                </a:solidFill>
                <a:latin typeface="Arial"/>
                <a:ea typeface="Arial"/>
                <a:cs typeface="Arial"/>
                <a:sym typeface="Arial"/>
              </a:rPr>
              <a:t>Books</a:t>
            </a:r>
            <a:endParaRPr lang="en-US" dirty="0"/>
          </a:p>
          <a:p>
            <a:pPr marL="0" indent="-151130">
              <a:lnSpc>
                <a:spcPct val="100000"/>
              </a:lnSpc>
              <a:spcBef>
                <a:spcPts val="560"/>
              </a:spcBef>
              <a:buClr>
                <a:srgbClr val="0070C0"/>
              </a:buClr>
              <a:buSzPts val="2380"/>
              <a:buFont typeface="Arial"/>
              <a:buChar char="•"/>
            </a:pPr>
            <a:r>
              <a:rPr lang="en-US" dirty="0">
                <a:solidFill>
                  <a:schemeClr val="dk1"/>
                </a:solidFill>
                <a:latin typeface="Arial"/>
                <a:ea typeface="Arial"/>
                <a:cs typeface="Arial"/>
                <a:sym typeface="Arial"/>
              </a:rPr>
              <a:t>Journal articles</a:t>
            </a:r>
            <a:endParaRPr lang="en-US" dirty="0"/>
          </a:p>
          <a:p>
            <a:pPr marL="0" indent="-151130">
              <a:lnSpc>
                <a:spcPct val="100000"/>
              </a:lnSpc>
              <a:spcBef>
                <a:spcPts val="560"/>
              </a:spcBef>
              <a:buClr>
                <a:srgbClr val="0070C0"/>
              </a:buClr>
              <a:buSzPts val="2380"/>
              <a:buFont typeface="Arial"/>
              <a:buChar char="•"/>
            </a:pPr>
            <a:r>
              <a:rPr lang="en-US" dirty="0">
                <a:solidFill>
                  <a:schemeClr val="dk1"/>
                </a:solidFill>
                <a:latin typeface="Arial"/>
                <a:ea typeface="Arial"/>
                <a:cs typeface="Arial"/>
                <a:sym typeface="Arial"/>
              </a:rPr>
              <a:t>Electronic databases</a:t>
            </a:r>
            <a:endParaRPr lang="en-US" dirty="0"/>
          </a:p>
          <a:p>
            <a:pPr marL="0" indent="-151130">
              <a:lnSpc>
                <a:spcPct val="100000"/>
              </a:lnSpc>
              <a:spcBef>
                <a:spcPts val="560"/>
              </a:spcBef>
              <a:buClr>
                <a:srgbClr val="0070C0"/>
              </a:buClr>
              <a:buSzPts val="2380"/>
              <a:buFont typeface="Arial"/>
              <a:buChar char="•"/>
            </a:pPr>
            <a:r>
              <a:rPr lang="en-US" dirty="0">
                <a:solidFill>
                  <a:schemeClr val="dk1"/>
                </a:solidFill>
                <a:latin typeface="Arial"/>
                <a:ea typeface="Arial"/>
                <a:cs typeface="Arial"/>
                <a:sym typeface="Arial"/>
              </a:rPr>
              <a:t>What about the internet?</a:t>
            </a:r>
            <a:endParaRPr lang="en-US" dirty="0"/>
          </a:p>
          <a:p>
            <a:pPr marL="457200" lvl="1" indent="-182561">
              <a:lnSpc>
                <a:spcPct val="100000"/>
              </a:lnSpc>
              <a:spcBef>
                <a:spcPts val="400"/>
              </a:spcBef>
              <a:buClr>
                <a:srgbClr val="0070C0"/>
              </a:buClr>
              <a:buSzPts val="1700"/>
              <a:buFont typeface="Arial"/>
              <a:buChar char="•"/>
            </a:pPr>
            <a:r>
              <a:rPr lang="en-US" sz="2000" dirty="0">
                <a:solidFill>
                  <a:schemeClr val="dk1"/>
                </a:solidFill>
                <a:latin typeface="Arial"/>
                <a:ea typeface="Arial"/>
                <a:cs typeface="Arial"/>
                <a:sym typeface="Arial"/>
              </a:rPr>
              <a:t>May not be reliable, look for author name, contact details, </a:t>
            </a:r>
          </a:p>
          <a:p>
            <a:pPr marL="457200" indent="0">
              <a:lnSpc>
                <a:spcPct val="100000"/>
              </a:lnSpc>
              <a:spcBef>
                <a:spcPts val="400"/>
              </a:spcBef>
              <a:buSzPts val="1530"/>
              <a:buNone/>
            </a:pPr>
            <a:r>
              <a:rPr lang="en-US" sz="2000" dirty="0">
                <a:solidFill>
                  <a:schemeClr val="dk1"/>
                </a:solidFill>
                <a:latin typeface="Arial"/>
                <a:ea typeface="Arial"/>
                <a:cs typeface="Arial"/>
                <a:sym typeface="Arial"/>
              </a:rPr>
              <a:t>date of publication</a:t>
            </a:r>
            <a:endParaRPr lang="en-US" sz="2000" dirty="0">
              <a:solidFill>
                <a:schemeClr val="lt1"/>
              </a:solidFill>
              <a:latin typeface="Arial"/>
              <a:ea typeface="Arial"/>
              <a:cs typeface="Arial"/>
              <a:sym typeface="Arial"/>
            </a:endParaRPr>
          </a:p>
          <a:p>
            <a:pPr marL="0" indent="0">
              <a:buNone/>
            </a:pPr>
            <a:endParaRPr lang="en-IE" dirty="0"/>
          </a:p>
        </p:txBody>
      </p:sp>
      <p:sp>
        <p:nvSpPr>
          <p:cNvPr id="7" name="TextBox 6">
            <a:extLst>
              <a:ext uri="{FF2B5EF4-FFF2-40B4-BE49-F238E27FC236}">
                <a16:creationId xmlns:a16="http://schemas.microsoft.com/office/drawing/2014/main" id="{77A3B23E-78FF-0B92-85B7-0A43B2C2F95D}"/>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1100178430"/>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CCT Citation Guidelines</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82562">
              <a:lnSpc>
                <a:spcPct val="100000"/>
              </a:lnSpc>
              <a:spcBef>
                <a:spcPts val="0"/>
              </a:spcBef>
              <a:buClr>
                <a:srgbClr val="0070C0"/>
              </a:buClr>
              <a:buSzPts val="2040"/>
              <a:buFont typeface="Arial"/>
              <a:buChar char="•"/>
            </a:pPr>
            <a:r>
              <a:rPr lang="en-US" sz="2800" dirty="0">
                <a:solidFill>
                  <a:schemeClr val="dk1"/>
                </a:solidFill>
                <a:latin typeface="Arial"/>
                <a:ea typeface="Arial"/>
                <a:cs typeface="Arial"/>
                <a:sym typeface="Arial"/>
              </a:rPr>
              <a:t>There are different systems for referencing</a:t>
            </a:r>
          </a:p>
          <a:p>
            <a:pPr marL="182562" indent="0">
              <a:lnSpc>
                <a:spcPct val="100000"/>
              </a:lnSpc>
              <a:spcBef>
                <a:spcPts val="0"/>
              </a:spcBef>
              <a:buSzPts val="1530"/>
              <a:buNone/>
            </a:pPr>
            <a:endParaRPr lang="en-US" dirty="0"/>
          </a:p>
          <a:p>
            <a:pPr marL="182562" indent="-182562">
              <a:lnSpc>
                <a:spcPct val="100000"/>
              </a:lnSpc>
              <a:spcBef>
                <a:spcPts val="480"/>
              </a:spcBef>
              <a:buClr>
                <a:srgbClr val="0070C0"/>
              </a:buClr>
              <a:buSzPts val="2040"/>
              <a:buFont typeface="Arial"/>
              <a:buChar char="•"/>
            </a:pPr>
            <a:r>
              <a:rPr lang="en-US" sz="2800" dirty="0">
                <a:solidFill>
                  <a:schemeClr val="dk1"/>
                </a:solidFill>
                <a:latin typeface="Arial"/>
                <a:ea typeface="Arial"/>
                <a:cs typeface="Arial"/>
                <a:sym typeface="Arial"/>
              </a:rPr>
              <a:t>CCT generally uses the </a:t>
            </a:r>
            <a:r>
              <a:rPr lang="en-US" sz="2800" b="1" dirty="0">
                <a:solidFill>
                  <a:srgbClr val="0070C0"/>
                </a:solidFill>
                <a:latin typeface="Arial"/>
                <a:ea typeface="Arial"/>
                <a:cs typeface="Arial"/>
                <a:sym typeface="Arial"/>
              </a:rPr>
              <a:t>Harvard</a:t>
            </a:r>
            <a:r>
              <a:rPr lang="en-US" sz="2800" dirty="0">
                <a:solidFill>
                  <a:schemeClr val="dk1"/>
                </a:solidFill>
                <a:latin typeface="Arial"/>
                <a:ea typeface="Arial"/>
                <a:cs typeface="Arial"/>
                <a:sym typeface="Arial"/>
              </a:rPr>
              <a:t> system of referencing</a:t>
            </a:r>
          </a:p>
          <a:p>
            <a:pPr marL="182562" indent="0">
              <a:lnSpc>
                <a:spcPct val="100000"/>
              </a:lnSpc>
              <a:spcBef>
                <a:spcPts val="480"/>
              </a:spcBef>
              <a:buSzPts val="1530"/>
              <a:buNone/>
            </a:pPr>
            <a:endParaRPr lang="en-US" dirty="0"/>
          </a:p>
          <a:p>
            <a:pPr marL="182562" indent="-182562">
              <a:lnSpc>
                <a:spcPct val="100000"/>
              </a:lnSpc>
              <a:spcBef>
                <a:spcPts val="480"/>
              </a:spcBef>
              <a:buClr>
                <a:srgbClr val="0070C0"/>
              </a:buClr>
              <a:buSzPts val="2040"/>
              <a:buFont typeface="Arial"/>
              <a:buChar char="•"/>
            </a:pPr>
            <a:r>
              <a:rPr lang="en-US" sz="2800" dirty="0">
                <a:solidFill>
                  <a:schemeClr val="dk1"/>
                </a:solidFill>
                <a:latin typeface="Arial"/>
                <a:ea typeface="Arial"/>
                <a:cs typeface="Arial"/>
                <a:sym typeface="Arial"/>
              </a:rPr>
              <a:t>Always follow CCT or Lecturer specific guidelines; don’t follow other guidelines (e.g. others found on internet)</a:t>
            </a:r>
          </a:p>
          <a:p>
            <a:pPr marL="182562" indent="0">
              <a:lnSpc>
                <a:spcPct val="100000"/>
              </a:lnSpc>
              <a:spcBef>
                <a:spcPts val="480"/>
              </a:spcBef>
              <a:buSzPts val="1530"/>
              <a:buNone/>
            </a:pPr>
            <a:endParaRPr lang="en-US" dirty="0"/>
          </a:p>
          <a:p>
            <a:pPr marL="182562" indent="-182562">
              <a:lnSpc>
                <a:spcPct val="100000"/>
              </a:lnSpc>
              <a:spcBef>
                <a:spcPts val="480"/>
              </a:spcBef>
              <a:buClr>
                <a:srgbClr val="0070C0"/>
              </a:buClr>
              <a:buSzPts val="2040"/>
              <a:buFont typeface="Arial"/>
              <a:buChar char="•"/>
            </a:pPr>
            <a:r>
              <a:rPr lang="en-US" sz="2800" dirty="0">
                <a:solidFill>
                  <a:schemeClr val="dk1"/>
                </a:solidFill>
                <a:latin typeface="Arial"/>
                <a:ea typeface="Arial"/>
                <a:cs typeface="Arial"/>
                <a:sym typeface="Arial"/>
              </a:rPr>
              <a:t>Don’t try to learn it; sit it in front of you when writing – practice makes perfect!</a:t>
            </a:r>
            <a:endParaRPr lang="en-US" dirty="0"/>
          </a:p>
        </p:txBody>
      </p:sp>
      <p:sp>
        <p:nvSpPr>
          <p:cNvPr id="7" name="TextBox 6">
            <a:extLst>
              <a:ext uri="{FF2B5EF4-FFF2-40B4-BE49-F238E27FC236}">
                <a16:creationId xmlns:a16="http://schemas.microsoft.com/office/drawing/2014/main" id="{E7573CDC-1FD9-0371-4ECB-FABE0CBE2A11}"/>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3304701056"/>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Referencing components</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82562">
              <a:lnSpc>
                <a:spcPct val="100000"/>
              </a:lnSpc>
              <a:spcBef>
                <a:spcPts val="0"/>
              </a:spcBef>
              <a:buClr>
                <a:srgbClr val="0070C0"/>
              </a:buClr>
              <a:buSzPts val="2635"/>
              <a:buFont typeface="Arial"/>
              <a:buChar char="•"/>
            </a:pPr>
            <a:r>
              <a:rPr lang="en-US" sz="3100" dirty="0">
                <a:solidFill>
                  <a:schemeClr val="dk1"/>
                </a:solidFill>
                <a:latin typeface="Arial"/>
                <a:ea typeface="Arial"/>
                <a:cs typeface="Arial"/>
                <a:sym typeface="Arial"/>
              </a:rPr>
              <a:t>There are 2 components to a reference:</a:t>
            </a:r>
            <a:endParaRPr lang="en-US" dirty="0"/>
          </a:p>
          <a:p>
            <a:pPr marL="182562" indent="-85407">
              <a:lnSpc>
                <a:spcPct val="100000"/>
              </a:lnSpc>
              <a:spcBef>
                <a:spcPts val="360"/>
              </a:spcBef>
              <a:buClr>
                <a:srgbClr val="0070C0"/>
              </a:buClr>
              <a:buSzPts val="1530"/>
              <a:buNone/>
            </a:pPr>
            <a:endParaRPr lang="en-US" sz="1800" dirty="0">
              <a:solidFill>
                <a:schemeClr val="dk1"/>
              </a:solidFill>
              <a:latin typeface="Arial"/>
              <a:ea typeface="Arial"/>
              <a:cs typeface="Arial"/>
              <a:sym typeface="Arial"/>
            </a:endParaRPr>
          </a:p>
          <a:p>
            <a:pPr marL="971550" lvl="1" indent="-514350">
              <a:lnSpc>
                <a:spcPct val="100000"/>
              </a:lnSpc>
              <a:spcBef>
                <a:spcPts val="620"/>
              </a:spcBef>
              <a:buClr>
                <a:srgbClr val="0070C0"/>
              </a:buClr>
              <a:buSzPts val="2635"/>
              <a:buFont typeface="Calibri"/>
              <a:buAutoNum type="arabicPeriod"/>
            </a:pPr>
            <a:r>
              <a:rPr lang="en-US" sz="3100" dirty="0">
                <a:solidFill>
                  <a:schemeClr val="dk1"/>
                </a:solidFill>
                <a:latin typeface="Arial"/>
                <a:ea typeface="Arial"/>
                <a:cs typeface="Arial"/>
                <a:sym typeface="Arial"/>
              </a:rPr>
              <a:t>In text citation, e.g. (HETAC, 2019)</a:t>
            </a:r>
            <a:endParaRPr lang="en-US" dirty="0"/>
          </a:p>
          <a:p>
            <a:pPr marL="971550" lvl="1" indent="-417194">
              <a:lnSpc>
                <a:spcPct val="100000"/>
              </a:lnSpc>
              <a:spcBef>
                <a:spcPts val="360"/>
              </a:spcBef>
              <a:buClr>
                <a:srgbClr val="0070C0"/>
              </a:buClr>
              <a:buSzPts val="1530"/>
              <a:buNone/>
            </a:pPr>
            <a:endParaRPr lang="en-US" sz="1800" dirty="0">
              <a:solidFill>
                <a:schemeClr val="dk1"/>
              </a:solidFill>
              <a:latin typeface="Arial"/>
              <a:ea typeface="Arial"/>
              <a:cs typeface="Arial"/>
              <a:sym typeface="Arial"/>
            </a:endParaRPr>
          </a:p>
          <a:p>
            <a:pPr marL="971550" lvl="1" indent="-514350">
              <a:lnSpc>
                <a:spcPct val="100000"/>
              </a:lnSpc>
              <a:spcBef>
                <a:spcPts val="620"/>
              </a:spcBef>
              <a:buClr>
                <a:srgbClr val="0070C0"/>
              </a:buClr>
              <a:buSzPts val="2635"/>
              <a:buFont typeface="Calibri"/>
              <a:buAutoNum type="arabicPeriod"/>
            </a:pPr>
            <a:r>
              <a:rPr lang="en-US" sz="3100" dirty="0">
                <a:solidFill>
                  <a:schemeClr val="dk1"/>
                </a:solidFill>
                <a:latin typeface="Arial"/>
                <a:ea typeface="Arial"/>
                <a:cs typeface="Arial"/>
                <a:sym typeface="Arial"/>
              </a:rPr>
              <a:t>Full reference details (at the back) – e.g.</a:t>
            </a:r>
            <a:endParaRPr lang="en-US" dirty="0"/>
          </a:p>
          <a:p>
            <a:pPr marL="971550" lvl="1" indent="-514350">
              <a:lnSpc>
                <a:spcPct val="100000"/>
              </a:lnSpc>
              <a:spcBef>
                <a:spcPts val="200"/>
              </a:spcBef>
              <a:buClr>
                <a:schemeClr val="accent1"/>
              </a:buClr>
              <a:buSzPts val="850"/>
              <a:buNone/>
            </a:pPr>
            <a:endParaRPr lang="en-US" sz="1000" dirty="0">
              <a:solidFill>
                <a:schemeClr val="dk1"/>
              </a:solidFill>
              <a:latin typeface="Arial"/>
              <a:ea typeface="Arial"/>
              <a:cs typeface="Arial"/>
              <a:sym typeface="Arial"/>
            </a:endParaRPr>
          </a:p>
          <a:p>
            <a:pPr marL="971550" lvl="1" indent="-514350">
              <a:lnSpc>
                <a:spcPct val="100000"/>
              </a:lnSpc>
              <a:spcBef>
                <a:spcPts val="620"/>
              </a:spcBef>
              <a:buClr>
                <a:schemeClr val="accent1"/>
              </a:buClr>
              <a:buSzPts val="2635"/>
              <a:buNone/>
            </a:pPr>
            <a:r>
              <a:rPr lang="en-US" sz="3100" dirty="0">
                <a:solidFill>
                  <a:schemeClr val="dk1"/>
                </a:solidFill>
                <a:latin typeface="Arial"/>
                <a:ea typeface="Arial"/>
                <a:cs typeface="Arial"/>
                <a:sym typeface="Arial"/>
              </a:rPr>
              <a:t>	HETAC (2019). </a:t>
            </a:r>
            <a:r>
              <a:rPr lang="en-US" sz="3100" i="1" dirty="0">
                <a:solidFill>
                  <a:schemeClr val="dk1"/>
                </a:solidFill>
                <a:latin typeface="Arial"/>
                <a:ea typeface="Arial"/>
                <a:cs typeface="Arial"/>
                <a:sym typeface="Arial"/>
              </a:rPr>
              <a:t>Education for the Future</a:t>
            </a:r>
            <a:r>
              <a:rPr lang="en-US" sz="3100" dirty="0">
                <a:solidFill>
                  <a:schemeClr val="dk1"/>
                </a:solidFill>
                <a:latin typeface="Arial"/>
                <a:ea typeface="Arial"/>
                <a:cs typeface="Arial"/>
                <a:sym typeface="Arial"/>
              </a:rPr>
              <a:t>. Dublin: HETAC.</a:t>
            </a:r>
            <a:endParaRPr lang="en-US" dirty="0"/>
          </a:p>
          <a:p>
            <a:pPr marL="0" indent="0">
              <a:buNone/>
            </a:pPr>
            <a:endParaRPr lang="en-IE" dirty="0"/>
          </a:p>
        </p:txBody>
      </p:sp>
      <p:sp>
        <p:nvSpPr>
          <p:cNvPr id="7" name="TextBox 6">
            <a:extLst>
              <a:ext uri="{FF2B5EF4-FFF2-40B4-BE49-F238E27FC236}">
                <a16:creationId xmlns:a16="http://schemas.microsoft.com/office/drawing/2014/main" id="{C7C4DE1C-A514-F970-DEC5-C37E4C7D1D0F}"/>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168902100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Text citations</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82562">
              <a:lnSpc>
                <a:spcPct val="100000"/>
              </a:lnSpc>
              <a:spcBef>
                <a:spcPts val="0"/>
              </a:spcBef>
              <a:buClr>
                <a:srgbClr val="0070C0"/>
              </a:buClr>
              <a:buSzPts val="2210"/>
              <a:buFont typeface="Arial"/>
              <a:buChar char="•"/>
            </a:pPr>
            <a:r>
              <a:rPr lang="en-US" sz="2600" dirty="0">
                <a:solidFill>
                  <a:schemeClr val="dk1"/>
                </a:solidFill>
                <a:latin typeface="Arial"/>
                <a:ea typeface="Arial"/>
                <a:cs typeface="Arial"/>
                <a:sym typeface="Arial"/>
              </a:rPr>
              <a:t>Give the author(s) surname and publication year in the text of your work and the full reference at the back.</a:t>
            </a:r>
            <a:endParaRPr lang="en-US" dirty="0"/>
          </a:p>
          <a:p>
            <a:pPr marL="182562" indent="-128587">
              <a:lnSpc>
                <a:spcPct val="100000"/>
              </a:lnSpc>
              <a:spcBef>
                <a:spcPts val="200"/>
              </a:spcBef>
              <a:buClr>
                <a:srgbClr val="0070C0"/>
              </a:buClr>
              <a:buSzPts val="850"/>
              <a:buNone/>
            </a:pPr>
            <a:endParaRPr lang="en-US" sz="1000" b="1" dirty="0">
              <a:solidFill>
                <a:schemeClr val="dk1"/>
              </a:solidFill>
              <a:latin typeface="Arial"/>
              <a:ea typeface="Arial"/>
              <a:cs typeface="Arial"/>
              <a:sym typeface="Arial"/>
            </a:endParaRPr>
          </a:p>
          <a:p>
            <a:pPr marL="182562" indent="-182562">
              <a:lnSpc>
                <a:spcPct val="100000"/>
              </a:lnSpc>
              <a:spcBef>
                <a:spcPts val="520"/>
              </a:spcBef>
              <a:buClr>
                <a:srgbClr val="0070C0"/>
              </a:buClr>
              <a:buSzPts val="2210"/>
              <a:buFont typeface="Arial"/>
              <a:buChar char="•"/>
            </a:pPr>
            <a:r>
              <a:rPr lang="en-US" sz="2600" dirty="0">
                <a:solidFill>
                  <a:schemeClr val="dk1"/>
                </a:solidFill>
                <a:latin typeface="Arial"/>
                <a:ea typeface="Arial"/>
                <a:cs typeface="Arial"/>
                <a:sym typeface="Arial"/>
              </a:rPr>
              <a:t>1 author: surname and date (Anderson, 2005)</a:t>
            </a:r>
            <a:endParaRPr lang="en-US" dirty="0"/>
          </a:p>
          <a:p>
            <a:pPr marL="182562" indent="-128587">
              <a:lnSpc>
                <a:spcPct val="100000"/>
              </a:lnSpc>
              <a:spcBef>
                <a:spcPts val="200"/>
              </a:spcBef>
              <a:buClr>
                <a:srgbClr val="0070C0"/>
              </a:buClr>
              <a:buSzPts val="850"/>
              <a:buNone/>
            </a:pPr>
            <a:endParaRPr lang="en-US" sz="1000" dirty="0">
              <a:solidFill>
                <a:schemeClr val="dk1"/>
              </a:solidFill>
              <a:latin typeface="Arial"/>
              <a:ea typeface="Arial"/>
              <a:cs typeface="Arial"/>
              <a:sym typeface="Arial"/>
            </a:endParaRPr>
          </a:p>
          <a:p>
            <a:pPr marL="182562" indent="-182562">
              <a:lnSpc>
                <a:spcPct val="100000"/>
              </a:lnSpc>
              <a:spcBef>
                <a:spcPts val="520"/>
              </a:spcBef>
              <a:buClr>
                <a:srgbClr val="0070C0"/>
              </a:buClr>
              <a:buSzPts val="2210"/>
              <a:buFont typeface="Arial"/>
              <a:buChar char="•"/>
            </a:pPr>
            <a:r>
              <a:rPr lang="en-US" sz="2600" dirty="0">
                <a:solidFill>
                  <a:schemeClr val="dk1"/>
                </a:solidFill>
                <a:latin typeface="Arial"/>
                <a:ea typeface="Arial"/>
                <a:cs typeface="Arial"/>
                <a:sym typeface="Arial"/>
              </a:rPr>
              <a:t>2 authors: surnames and date (Anderson &amp; Smith, 2005)</a:t>
            </a:r>
          </a:p>
          <a:p>
            <a:pPr marL="182562" indent="0">
              <a:lnSpc>
                <a:spcPct val="100000"/>
              </a:lnSpc>
              <a:spcBef>
                <a:spcPts val="520"/>
              </a:spcBef>
              <a:buSzPts val="1530"/>
              <a:buNone/>
            </a:pPr>
            <a:endParaRPr lang="en-US" sz="2600" dirty="0"/>
          </a:p>
          <a:p>
            <a:pPr marL="457200" lvl="1" indent="-182561">
              <a:lnSpc>
                <a:spcPct val="100000"/>
              </a:lnSpc>
              <a:spcBef>
                <a:spcPts val="520"/>
              </a:spcBef>
              <a:buClr>
                <a:srgbClr val="0070C0"/>
              </a:buClr>
              <a:buSzPts val="2210"/>
              <a:buFont typeface="Arial"/>
              <a:buChar char="•"/>
            </a:pPr>
            <a:r>
              <a:rPr lang="en-US" sz="2600" dirty="0">
                <a:solidFill>
                  <a:schemeClr val="dk1"/>
                </a:solidFill>
                <a:latin typeface="Arial"/>
                <a:ea typeface="Arial"/>
                <a:cs typeface="Arial"/>
                <a:sym typeface="Arial"/>
              </a:rPr>
              <a:t>If no brackets use ‘and’ rather than ‘&amp;’ </a:t>
            </a:r>
            <a:r>
              <a:rPr lang="en-US" sz="2600" dirty="0" err="1">
                <a:solidFill>
                  <a:schemeClr val="dk1"/>
                </a:solidFill>
                <a:latin typeface="Arial"/>
                <a:ea typeface="Arial"/>
                <a:cs typeface="Arial"/>
                <a:sym typeface="Arial"/>
              </a:rPr>
              <a:t>e.g</a:t>
            </a:r>
            <a:r>
              <a:rPr lang="en-US" sz="2600" dirty="0">
                <a:solidFill>
                  <a:schemeClr val="dk1"/>
                </a:solidFill>
                <a:latin typeface="Arial"/>
                <a:ea typeface="Arial"/>
                <a:cs typeface="Arial"/>
                <a:sym typeface="Arial"/>
              </a:rPr>
              <a:t>: Anderson and Smith (2005) reported that….</a:t>
            </a:r>
            <a:endParaRPr lang="en-US" dirty="0"/>
          </a:p>
          <a:p>
            <a:pPr marL="0" indent="0">
              <a:buNone/>
            </a:pPr>
            <a:endParaRPr lang="en-IE" dirty="0"/>
          </a:p>
        </p:txBody>
      </p:sp>
      <p:sp>
        <p:nvSpPr>
          <p:cNvPr id="7" name="TextBox 6">
            <a:extLst>
              <a:ext uri="{FF2B5EF4-FFF2-40B4-BE49-F238E27FC236}">
                <a16:creationId xmlns:a16="http://schemas.microsoft.com/office/drawing/2014/main" id="{4FF2B084-A374-69EB-FF8F-393BAAEB6161}"/>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2241321319"/>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Text citations</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82562">
              <a:lnSpc>
                <a:spcPct val="100000"/>
              </a:lnSpc>
              <a:spcBef>
                <a:spcPts val="0"/>
              </a:spcBef>
              <a:buClr>
                <a:srgbClr val="0070C0"/>
              </a:buClr>
              <a:buSzPts val="2380"/>
              <a:buFont typeface="Arial"/>
              <a:buChar char="•"/>
            </a:pPr>
            <a:r>
              <a:rPr lang="en-US" dirty="0">
                <a:solidFill>
                  <a:schemeClr val="dk1"/>
                </a:solidFill>
                <a:latin typeface="Arial"/>
                <a:ea typeface="Arial"/>
                <a:cs typeface="Arial"/>
                <a:sym typeface="Arial"/>
              </a:rPr>
              <a:t>If more than </a:t>
            </a:r>
            <a:r>
              <a:rPr lang="en-US" b="1" dirty="0">
                <a:solidFill>
                  <a:srgbClr val="FF0000"/>
                </a:solidFill>
                <a:latin typeface="Arial"/>
                <a:ea typeface="Arial"/>
                <a:cs typeface="Arial"/>
                <a:sym typeface="Arial"/>
              </a:rPr>
              <a:t>2</a:t>
            </a:r>
            <a:r>
              <a:rPr lang="en-US" dirty="0">
                <a:solidFill>
                  <a:schemeClr val="dk1"/>
                </a:solidFill>
                <a:latin typeface="Arial"/>
                <a:ea typeface="Arial"/>
                <a:cs typeface="Arial"/>
                <a:sym typeface="Arial"/>
              </a:rPr>
              <a:t> authors use ‘et al’ e.g.:  (Anderson et al, 2005)</a:t>
            </a:r>
          </a:p>
          <a:p>
            <a:pPr marL="182562" indent="0">
              <a:lnSpc>
                <a:spcPct val="100000"/>
              </a:lnSpc>
              <a:spcBef>
                <a:spcPts val="0"/>
              </a:spcBef>
              <a:buSzPts val="1530"/>
              <a:buNone/>
            </a:pPr>
            <a:endParaRPr lang="en-US" dirty="0"/>
          </a:p>
          <a:p>
            <a:pPr marL="182562" indent="-182562">
              <a:lnSpc>
                <a:spcPct val="100000"/>
              </a:lnSpc>
              <a:spcBef>
                <a:spcPts val="560"/>
              </a:spcBef>
              <a:buClr>
                <a:srgbClr val="0070C0"/>
              </a:buClr>
              <a:buSzPts val="2380"/>
              <a:buFont typeface="Arial"/>
              <a:buChar char="•"/>
            </a:pPr>
            <a:r>
              <a:rPr lang="en-US" dirty="0">
                <a:solidFill>
                  <a:schemeClr val="dk1"/>
                </a:solidFill>
                <a:latin typeface="Arial"/>
                <a:ea typeface="Arial"/>
                <a:cs typeface="Arial"/>
                <a:sym typeface="Arial"/>
              </a:rPr>
              <a:t>If quote word for word, need to give the page no. </a:t>
            </a:r>
            <a:r>
              <a:rPr lang="en-US" dirty="0" err="1">
                <a:solidFill>
                  <a:schemeClr val="dk1"/>
                </a:solidFill>
                <a:latin typeface="Arial"/>
                <a:ea typeface="Arial"/>
                <a:cs typeface="Arial"/>
                <a:sym typeface="Arial"/>
              </a:rPr>
              <a:t>e.g</a:t>
            </a:r>
            <a:r>
              <a:rPr lang="en-US" dirty="0">
                <a:solidFill>
                  <a:schemeClr val="dk1"/>
                </a:solidFill>
                <a:latin typeface="Arial"/>
                <a:ea typeface="Arial"/>
                <a:cs typeface="Arial"/>
                <a:sym typeface="Arial"/>
              </a:rPr>
              <a:t>: </a:t>
            </a:r>
            <a:endParaRPr lang="en-US" dirty="0"/>
          </a:p>
          <a:p>
            <a:pPr marL="730250" indent="0">
              <a:lnSpc>
                <a:spcPct val="100000"/>
              </a:lnSpc>
              <a:spcBef>
                <a:spcPts val="560"/>
              </a:spcBef>
              <a:buSzPts val="1530"/>
              <a:buNone/>
            </a:pPr>
            <a:r>
              <a:rPr lang="en-US" dirty="0">
                <a:solidFill>
                  <a:schemeClr val="dk1"/>
                </a:solidFill>
                <a:latin typeface="Arial"/>
                <a:ea typeface="Arial"/>
                <a:cs typeface="Arial"/>
                <a:sym typeface="Arial"/>
              </a:rPr>
              <a:t>Byrne, Smith and O’Brien (2005, p.376) </a:t>
            </a:r>
          </a:p>
          <a:p>
            <a:pPr marL="730250" indent="0">
              <a:lnSpc>
                <a:spcPct val="100000"/>
              </a:lnSpc>
              <a:spcBef>
                <a:spcPts val="560"/>
              </a:spcBef>
              <a:buSzPts val="1530"/>
              <a:buNone/>
            </a:pPr>
            <a:r>
              <a:rPr lang="en-US" dirty="0">
                <a:solidFill>
                  <a:schemeClr val="dk1"/>
                </a:solidFill>
                <a:latin typeface="Arial"/>
                <a:ea typeface="Arial"/>
                <a:cs typeface="Arial"/>
                <a:sym typeface="Arial"/>
              </a:rPr>
              <a:t>state that;</a:t>
            </a:r>
            <a:endParaRPr lang="en-US" dirty="0"/>
          </a:p>
          <a:p>
            <a:pPr marL="457200" lvl="1" indent="-182561">
              <a:lnSpc>
                <a:spcPct val="100000"/>
              </a:lnSpc>
              <a:spcBef>
                <a:spcPts val="400"/>
              </a:spcBef>
              <a:buClr>
                <a:schemeClr val="accent1"/>
              </a:buClr>
              <a:buSzPts val="1700"/>
              <a:buNone/>
            </a:pPr>
            <a:r>
              <a:rPr lang="en-US" sz="2000" dirty="0">
                <a:solidFill>
                  <a:schemeClr val="dk1"/>
                </a:solidFill>
                <a:latin typeface="Arial"/>
                <a:ea typeface="Arial"/>
                <a:cs typeface="Arial"/>
                <a:sym typeface="Arial"/>
              </a:rPr>
              <a:t>	“every student in a classroom environment has exactly the same opportunity to learn and retain the same amount of information .”</a:t>
            </a:r>
            <a:endParaRPr lang="en-US" dirty="0"/>
          </a:p>
          <a:p>
            <a:pPr marL="0" indent="0">
              <a:buNone/>
            </a:pPr>
            <a:endParaRPr lang="en-IE" dirty="0"/>
          </a:p>
        </p:txBody>
      </p:sp>
      <p:sp>
        <p:nvSpPr>
          <p:cNvPr id="7" name="TextBox 6">
            <a:extLst>
              <a:ext uri="{FF2B5EF4-FFF2-40B4-BE49-F238E27FC236}">
                <a16:creationId xmlns:a16="http://schemas.microsoft.com/office/drawing/2014/main" id="{5FD99388-BA6D-81C3-6620-B00413EC4FA7}"/>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2356450141"/>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US" b="1" dirty="0">
                <a:solidFill>
                  <a:schemeClr val="accent1"/>
                </a:solidFill>
              </a:rPr>
              <a:t>A few things to remember...</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82562">
              <a:lnSpc>
                <a:spcPct val="100000"/>
              </a:lnSpc>
              <a:spcBef>
                <a:spcPts val="0"/>
              </a:spcBef>
              <a:buClr>
                <a:srgbClr val="0070C0"/>
              </a:buClr>
              <a:buSzPts val="2040"/>
              <a:buFont typeface="Arial"/>
              <a:buChar char="•"/>
            </a:pPr>
            <a:r>
              <a:rPr lang="en-US" sz="2400" dirty="0">
                <a:solidFill>
                  <a:schemeClr val="dk1"/>
                </a:solidFill>
                <a:latin typeface="Arial"/>
                <a:ea typeface="Arial"/>
                <a:cs typeface="Arial"/>
                <a:sym typeface="Arial"/>
              </a:rPr>
              <a:t>If no name appears on the website article, cite the </a:t>
            </a:r>
            <a:r>
              <a:rPr lang="en-US" sz="2400" dirty="0" err="1">
                <a:solidFill>
                  <a:schemeClr val="dk1"/>
                </a:solidFill>
                <a:latin typeface="Arial"/>
                <a:ea typeface="Arial"/>
                <a:cs typeface="Arial"/>
                <a:sym typeface="Arial"/>
              </a:rPr>
              <a:t>organisation</a:t>
            </a:r>
            <a:r>
              <a:rPr lang="en-US" sz="2400" dirty="0">
                <a:solidFill>
                  <a:schemeClr val="dk1"/>
                </a:solidFill>
                <a:latin typeface="Arial"/>
                <a:ea typeface="Arial"/>
                <a:cs typeface="Arial"/>
                <a:sym typeface="Arial"/>
              </a:rPr>
              <a:t>, e.g. (Irish Government, 2009)</a:t>
            </a:r>
          </a:p>
          <a:p>
            <a:pPr marL="182562" indent="0">
              <a:lnSpc>
                <a:spcPct val="100000"/>
              </a:lnSpc>
              <a:spcBef>
                <a:spcPts val="0"/>
              </a:spcBef>
              <a:buSzPts val="1530"/>
              <a:buNone/>
            </a:pPr>
            <a:endParaRPr lang="en-US" dirty="0"/>
          </a:p>
          <a:p>
            <a:pPr marL="182562" indent="-182562">
              <a:lnSpc>
                <a:spcPct val="100000"/>
              </a:lnSpc>
              <a:spcBef>
                <a:spcPts val="480"/>
              </a:spcBef>
              <a:buClr>
                <a:srgbClr val="0070C0"/>
              </a:buClr>
              <a:buSzPts val="2040"/>
              <a:buFont typeface="Arial"/>
              <a:buChar char="•"/>
            </a:pPr>
            <a:r>
              <a:rPr lang="en-US" sz="2400" dirty="0">
                <a:solidFill>
                  <a:schemeClr val="dk1"/>
                </a:solidFill>
                <a:latin typeface="Arial"/>
                <a:ea typeface="Arial"/>
                <a:cs typeface="Arial"/>
                <a:sym typeface="Arial"/>
              </a:rPr>
              <a:t>Don’t quote big sections unless you can’t put in your own words – why?</a:t>
            </a:r>
            <a:endParaRPr lang="en-US" dirty="0"/>
          </a:p>
          <a:p>
            <a:pPr marL="457200" lvl="1" indent="-182561">
              <a:lnSpc>
                <a:spcPct val="100000"/>
              </a:lnSpc>
              <a:spcBef>
                <a:spcPts val="400"/>
              </a:spcBef>
              <a:buClr>
                <a:srgbClr val="0070C0"/>
              </a:buClr>
              <a:buSzPts val="1700"/>
              <a:buFont typeface="Arial"/>
              <a:buChar char="•"/>
            </a:pPr>
            <a:r>
              <a:rPr lang="en-US" sz="2000" dirty="0">
                <a:solidFill>
                  <a:schemeClr val="dk1"/>
                </a:solidFill>
                <a:latin typeface="Arial"/>
                <a:ea typeface="Arial"/>
                <a:cs typeface="Arial"/>
                <a:sym typeface="Arial"/>
              </a:rPr>
              <a:t>Looks like you don’t understand what author is saying</a:t>
            </a:r>
            <a:endParaRPr lang="en-US" dirty="0"/>
          </a:p>
          <a:p>
            <a:pPr marL="0" indent="0">
              <a:buNone/>
            </a:pPr>
            <a:endParaRPr lang="en-IE" dirty="0"/>
          </a:p>
        </p:txBody>
      </p:sp>
      <p:pic>
        <p:nvPicPr>
          <p:cNvPr id="7" name="Google Shape;145;p10">
            <a:extLst>
              <a:ext uri="{FF2B5EF4-FFF2-40B4-BE49-F238E27FC236}">
                <a16:creationId xmlns:a16="http://schemas.microsoft.com/office/drawing/2014/main" id="{1567A817-C850-8E72-DE70-BDF7A85D4232}"/>
              </a:ext>
            </a:extLst>
          </p:cNvPr>
          <p:cNvPicPr preferRelativeResize="0"/>
          <p:nvPr/>
        </p:nvPicPr>
        <p:blipFill rotWithShape="1">
          <a:blip r:embed="rId4">
            <a:alphaModFix/>
          </a:blip>
          <a:srcRect/>
          <a:stretch/>
        </p:blipFill>
        <p:spPr>
          <a:xfrm>
            <a:off x="8873699" y="3585817"/>
            <a:ext cx="1366837" cy="1368425"/>
          </a:xfrm>
          <a:prstGeom prst="rect">
            <a:avLst/>
          </a:prstGeom>
          <a:noFill/>
          <a:ln>
            <a:noFill/>
          </a:ln>
        </p:spPr>
      </p:pic>
      <p:sp>
        <p:nvSpPr>
          <p:cNvPr id="8" name="TextBox 7">
            <a:extLst>
              <a:ext uri="{FF2B5EF4-FFF2-40B4-BE49-F238E27FC236}">
                <a16:creationId xmlns:a16="http://schemas.microsoft.com/office/drawing/2014/main" id="{2670BBF3-4FA0-8785-A6D3-BD269D110F19}"/>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621821874"/>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US" b="1" dirty="0">
                <a:solidFill>
                  <a:schemeClr val="accent1"/>
                </a:solidFill>
              </a:rPr>
              <a:t>Weaving references into the text</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lnSpcReduction="10000"/>
          </a:bodyPr>
          <a:lstStyle/>
          <a:p>
            <a:pPr marL="182562" indent="-182562">
              <a:spcBef>
                <a:spcPts val="0"/>
              </a:spcBef>
              <a:buClr>
                <a:schemeClr val="accent1"/>
              </a:buClr>
              <a:buSzPts val="2380"/>
              <a:buNone/>
            </a:pPr>
            <a:r>
              <a:rPr lang="en-US" b="1" dirty="0">
                <a:solidFill>
                  <a:schemeClr val="dk1"/>
                </a:solidFill>
                <a:latin typeface="Arial"/>
                <a:ea typeface="Arial"/>
                <a:cs typeface="Arial"/>
                <a:sym typeface="Arial"/>
              </a:rPr>
              <a:t>Some examples:</a:t>
            </a:r>
            <a:endParaRPr lang="en-US" dirty="0"/>
          </a:p>
          <a:p>
            <a:pPr marL="182562" indent="-182562">
              <a:spcBef>
                <a:spcPts val="540"/>
              </a:spcBef>
              <a:buClr>
                <a:srgbClr val="0070C0"/>
              </a:buClr>
              <a:buSzPts val="2295"/>
              <a:buFont typeface="Arial"/>
              <a:buChar char="•"/>
            </a:pPr>
            <a:r>
              <a:rPr lang="en-US" sz="2800" dirty="0">
                <a:solidFill>
                  <a:schemeClr val="dk1"/>
                </a:solidFill>
                <a:latin typeface="Arial"/>
                <a:ea typeface="Arial"/>
                <a:cs typeface="Arial"/>
                <a:sym typeface="Arial"/>
              </a:rPr>
              <a:t>As Smith (2009) argued….</a:t>
            </a:r>
            <a:endParaRPr lang="en-US" dirty="0"/>
          </a:p>
          <a:p>
            <a:pPr marL="182562" indent="-182562">
              <a:spcBef>
                <a:spcPts val="540"/>
              </a:spcBef>
              <a:buClr>
                <a:srgbClr val="0070C0"/>
              </a:buClr>
              <a:buSzPts val="2295"/>
              <a:buFont typeface="Arial"/>
              <a:buChar char="•"/>
            </a:pPr>
            <a:r>
              <a:rPr lang="en-US" sz="2800" dirty="0">
                <a:solidFill>
                  <a:schemeClr val="dk1"/>
                </a:solidFill>
                <a:latin typeface="Arial"/>
                <a:ea typeface="Arial"/>
                <a:cs typeface="Arial"/>
                <a:sym typeface="Arial"/>
              </a:rPr>
              <a:t>Smith and Bloggs (2008) suggested that….</a:t>
            </a:r>
            <a:endParaRPr lang="en-US" dirty="0"/>
          </a:p>
          <a:p>
            <a:pPr marL="182562" indent="-182562">
              <a:spcBef>
                <a:spcPts val="540"/>
              </a:spcBef>
              <a:buClr>
                <a:srgbClr val="0070C0"/>
              </a:buClr>
              <a:buSzPts val="2295"/>
              <a:buFont typeface="Arial"/>
              <a:buChar char="•"/>
            </a:pPr>
            <a:r>
              <a:rPr lang="en-US" sz="2800" dirty="0">
                <a:solidFill>
                  <a:schemeClr val="dk1"/>
                </a:solidFill>
                <a:latin typeface="Arial"/>
                <a:ea typeface="Arial"/>
                <a:cs typeface="Arial"/>
                <a:sym typeface="Arial"/>
              </a:rPr>
              <a:t>One researcher (Smith, 2015) argued that….</a:t>
            </a:r>
            <a:endParaRPr lang="en-US" dirty="0"/>
          </a:p>
          <a:p>
            <a:pPr marL="182562" indent="-182562">
              <a:spcBef>
                <a:spcPts val="540"/>
              </a:spcBef>
              <a:buClr>
                <a:srgbClr val="0070C0"/>
              </a:buClr>
              <a:buSzPts val="2295"/>
              <a:buFont typeface="Arial"/>
              <a:buChar char="•"/>
            </a:pPr>
            <a:r>
              <a:rPr lang="en-US" sz="2800" dirty="0">
                <a:solidFill>
                  <a:schemeClr val="dk1"/>
                </a:solidFill>
                <a:latin typeface="Arial"/>
                <a:ea typeface="Arial"/>
                <a:cs typeface="Arial"/>
                <a:sym typeface="Arial"/>
              </a:rPr>
              <a:t>Other authors have agreed with this view (Anderson &amp; Bloggs, 2003; Smith, 2005)</a:t>
            </a:r>
            <a:endParaRPr lang="en-US" dirty="0"/>
          </a:p>
          <a:p>
            <a:pPr marL="182562" indent="-182562">
              <a:spcBef>
                <a:spcPts val="540"/>
              </a:spcBef>
              <a:buClr>
                <a:srgbClr val="0070C0"/>
              </a:buClr>
              <a:buSzPts val="2295"/>
              <a:buFont typeface="Arial"/>
              <a:buChar char="•"/>
            </a:pPr>
            <a:r>
              <a:rPr lang="en-US" sz="2800" dirty="0">
                <a:solidFill>
                  <a:schemeClr val="dk1"/>
                </a:solidFill>
                <a:latin typeface="Arial"/>
                <a:ea typeface="Arial"/>
                <a:cs typeface="Arial"/>
                <a:sym typeface="Arial"/>
              </a:rPr>
              <a:t>Smith (2007) supports this, stating that….</a:t>
            </a:r>
            <a:endParaRPr lang="en-US" dirty="0"/>
          </a:p>
          <a:p>
            <a:pPr marL="182562" indent="-182562">
              <a:spcBef>
                <a:spcPts val="540"/>
              </a:spcBef>
              <a:buClr>
                <a:srgbClr val="0070C0"/>
              </a:buClr>
              <a:buSzPts val="2295"/>
              <a:buFont typeface="Arial"/>
              <a:buChar char="•"/>
            </a:pPr>
            <a:r>
              <a:rPr lang="en-US" sz="2800" dirty="0">
                <a:solidFill>
                  <a:schemeClr val="dk1"/>
                </a:solidFill>
                <a:latin typeface="Arial"/>
                <a:ea typeface="Arial"/>
                <a:cs typeface="Arial"/>
                <a:sym typeface="Arial"/>
              </a:rPr>
              <a:t>Further studies have shown that….(Anderson &amp; Baker, 2002; Smith &amp; Bloggs, 2008)</a:t>
            </a:r>
            <a:endParaRPr lang="en-US" dirty="0"/>
          </a:p>
          <a:p>
            <a:pPr marL="182562" indent="-182562">
              <a:spcBef>
                <a:spcPts val="540"/>
              </a:spcBef>
              <a:buClr>
                <a:srgbClr val="0070C0"/>
              </a:buClr>
              <a:buSzPts val="2295"/>
              <a:buFont typeface="Arial"/>
              <a:buChar char="•"/>
            </a:pPr>
            <a:r>
              <a:rPr lang="en-US" sz="2800" dirty="0">
                <a:solidFill>
                  <a:schemeClr val="dk1"/>
                </a:solidFill>
                <a:latin typeface="Arial"/>
                <a:ea typeface="Arial"/>
                <a:cs typeface="Arial"/>
                <a:sym typeface="Arial"/>
              </a:rPr>
              <a:t>Multiple sources should be listed in chronological order and separated by semi-colons</a:t>
            </a:r>
            <a:endParaRPr lang="en-US" dirty="0"/>
          </a:p>
          <a:p>
            <a:pPr marL="0" indent="0">
              <a:buNone/>
            </a:pPr>
            <a:endParaRPr lang="en-IE" dirty="0"/>
          </a:p>
        </p:txBody>
      </p:sp>
      <p:sp>
        <p:nvSpPr>
          <p:cNvPr id="7" name="TextBox 6">
            <a:extLst>
              <a:ext uri="{FF2B5EF4-FFF2-40B4-BE49-F238E27FC236}">
                <a16:creationId xmlns:a16="http://schemas.microsoft.com/office/drawing/2014/main" id="{995B0545-A004-56FC-9DC4-DBA06ABAE04E}"/>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307970688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Useful words for reporting</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82562">
              <a:lnSpc>
                <a:spcPct val="100000"/>
              </a:lnSpc>
              <a:spcBef>
                <a:spcPts val="0"/>
              </a:spcBef>
              <a:buClr>
                <a:srgbClr val="0070C0"/>
              </a:buClr>
              <a:buSzPts val="2550"/>
              <a:buFont typeface="Arial"/>
              <a:buChar char="•"/>
            </a:pPr>
            <a:r>
              <a:rPr lang="en-US" sz="2800" dirty="0">
                <a:solidFill>
                  <a:schemeClr val="dk1"/>
                </a:solidFill>
                <a:latin typeface="Arial"/>
                <a:ea typeface="Arial"/>
                <a:cs typeface="Arial"/>
                <a:sym typeface="Arial"/>
              </a:rPr>
              <a:t>Examples of verbs you can use to report the views of others:</a:t>
            </a:r>
            <a:endParaRPr lang="en-US" dirty="0"/>
          </a:p>
          <a:p>
            <a:pPr marL="182562" indent="-128587">
              <a:lnSpc>
                <a:spcPct val="100000"/>
              </a:lnSpc>
              <a:spcBef>
                <a:spcPts val="200"/>
              </a:spcBef>
              <a:buClr>
                <a:srgbClr val="0070C0"/>
              </a:buClr>
              <a:buSzPts val="850"/>
              <a:buNone/>
            </a:pPr>
            <a:endParaRPr lang="en-US" sz="900" dirty="0">
              <a:solidFill>
                <a:schemeClr val="dk1"/>
              </a:solidFill>
              <a:latin typeface="Arial"/>
              <a:ea typeface="Arial"/>
              <a:cs typeface="Arial"/>
              <a:sym typeface="Arial"/>
            </a:endParaRPr>
          </a:p>
          <a:p>
            <a:pPr marL="182562" indent="-182562">
              <a:lnSpc>
                <a:spcPct val="100000"/>
              </a:lnSpc>
              <a:spcBef>
                <a:spcPts val="600"/>
              </a:spcBef>
              <a:buClr>
                <a:srgbClr val="0070C0"/>
              </a:buClr>
              <a:buSzPts val="2550"/>
              <a:buFont typeface="Arial"/>
              <a:buChar char="•"/>
            </a:pPr>
            <a:r>
              <a:rPr lang="en-US" sz="2800" dirty="0">
                <a:solidFill>
                  <a:schemeClr val="dk1"/>
                </a:solidFill>
                <a:latin typeface="Arial"/>
                <a:ea typeface="Arial"/>
                <a:cs typeface="Arial"/>
                <a:sym typeface="Arial"/>
              </a:rPr>
              <a:t>assert, claim, consider, contend, declare, demonstrate, explain, found, report, show, state, suggest, surmise, warn</a:t>
            </a:r>
            <a:endParaRPr lang="en-US" dirty="0"/>
          </a:p>
          <a:p>
            <a:pPr marL="182562" indent="-128587">
              <a:lnSpc>
                <a:spcPct val="100000"/>
              </a:lnSpc>
              <a:spcBef>
                <a:spcPts val="200"/>
              </a:spcBef>
              <a:buClr>
                <a:srgbClr val="0070C0"/>
              </a:buClr>
              <a:buSzPts val="850"/>
              <a:buNone/>
            </a:pPr>
            <a:endParaRPr lang="en-US" sz="900" dirty="0">
              <a:solidFill>
                <a:schemeClr val="dk1"/>
              </a:solidFill>
              <a:latin typeface="Arial"/>
              <a:ea typeface="Arial"/>
              <a:cs typeface="Arial"/>
              <a:sym typeface="Arial"/>
            </a:endParaRPr>
          </a:p>
          <a:p>
            <a:pPr marL="182562" indent="-182562">
              <a:lnSpc>
                <a:spcPct val="100000"/>
              </a:lnSpc>
              <a:spcBef>
                <a:spcPts val="600"/>
              </a:spcBef>
              <a:buClr>
                <a:srgbClr val="0070C0"/>
              </a:buClr>
              <a:buSzPts val="2550"/>
              <a:buFont typeface="Arial"/>
              <a:buChar char="•"/>
            </a:pPr>
            <a:r>
              <a:rPr lang="en-US" sz="2800" dirty="0">
                <a:solidFill>
                  <a:schemeClr val="dk1"/>
                </a:solidFill>
                <a:latin typeface="Arial"/>
                <a:ea typeface="Arial"/>
                <a:cs typeface="Arial"/>
                <a:sym typeface="Arial"/>
              </a:rPr>
              <a:t>NB: Consider carefully what words you use – some words have stronger implications than others</a:t>
            </a:r>
            <a:endParaRPr lang="en-US" dirty="0"/>
          </a:p>
          <a:p>
            <a:pPr marL="0" indent="0">
              <a:buNone/>
            </a:pPr>
            <a:endParaRPr lang="en-IE" dirty="0"/>
          </a:p>
        </p:txBody>
      </p:sp>
      <p:pic>
        <p:nvPicPr>
          <p:cNvPr id="7" name="Google Shape;160;p12">
            <a:extLst>
              <a:ext uri="{FF2B5EF4-FFF2-40B4-BE49-F238E27FC236}">
                <a16:creationId xmlns:a16="http://schemas.microsoft.com/office/drawing/2014/main" id="{866C66CD-2BB5-E7BA-FA76-E6A9AE394D85}"/>
              </a:ext>
            </a:extLst>
          </p:cNvPr>
          <p:cNvPicPr preferRelativeResize="0"/>
          <p:nvPr/>
        </p:nvPicPr>
        <p:blipFill rotWithShape="1">
          <a:blip r:embed="rId4">
            <a:alphaModFix/>
          </a:blip>
          <a:srcRect/>
          <a:stretch/>
        </p:blipFill>
        <p:spPr>
          <a:xfrm>
            <a:off x="6470931" y="3804361"/>
            <a:ext cx="687387" cy="625475"/>
          </a:xfrm>
          <a:prstGeom prst="rect">
            <a:avLst/>
          </a:prstGeom>
          <a:noFill/>
          <a:ln>
            <a:noFill/>
          </a:ln>
        </p:spPr>
      </p:pic>
      <p:sp>
        <p:nvSpPr>
          <p:cNvPr id="8" name="TextBox 7">
            <a:extLst>
              <a:ext uri="{FF2B5EF4-FFF2-40B4-BE49-F238E27FC236}">
                <a16:creationId xmlns:a16="http://schemas.microsoft.com/office/drawing/2014/main" id="{951F7E1E-BCE6-C36E-340B-3E579ED70058}"/>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1333714411"/>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Plagiarism</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63512">
              <a:lnSpc>
                <a:spcPct val="100000"/>
              </a:lnSpc>
              <a:spcBef>
                <a:spcPts val="0"/>
              </a:spcBef>
              <a:buClr>
                <a:srgbClr val="0070C0"/>
              </a:buClr>
              <a:buSzPts val="2080"/>
              <a:buFont typeface="Arial"/>
              <a:buChar char="•"/>
            </a:pPr>
            <a:r>
              <a:rPr lang="en-US" sz="2500" dirty="0">
                <a:solidFill>
                  <a:schemeClr val="dk1"/>
                </a:solidFill>
                <a:latin typeface="Arial"/>
                <a:ea typeface="Arial"/>
                <a:cs typeface="Arial"/>
                <a:sym typeface="Arial"/>
              </a:rPr>
              <a:t>What is plagiarism?</a:t>
            </a:r>
            <a:endParaRPr lang="en-US" sz="2100" dirty="0"/>
          </a:p>
          <a:p>
            <a:pPr marL="457200" lvl="1" indent="-163511">
              <a:lnSpc>
                <a:spcPct val="100000"/>
              </a:lnSpc>
              <a:spcBef>
                <a:spcPts val="400"/>
              </a:spcBef>
              <a:buClr>
                <a:srgbClr val="0070C0"/>
              </a:buClr>
              <a:buSzPts val="1400"/>
              <a:buFont typeface="Arial"/>
              <a:buChar char="•"/>
            </a:pPr>
            <a:r>
              <a:rPr lang="en-US" sz="1700" dirty="0">
                <a:solidFill>
                  <a:schemeClr val="dk1"/>
                </a:solidFill>
                <a:latin typeface="Arial"/>
                <a:ea typeface="Arial"/>
                <a:cs typeface="Arial"/>
                <a:sym typeface="Arial"/>
              </a:rPr>
              <a:t>The unacknowledged use of another’s work as if it were your own</a:t>
            </a:r>
          </a:p>
          <a:p>
            <a:pPr marL="457200" indent="0">
              <a:lnSpc>
                <a:spcPct val="100000"/>
              </a:lnSpc>
              <a:spcBef>
                <a:spcPts val="400"/>
              </a:spcBef>
              <a:buSzPts val="1530"/>
              <a:buNone/>
            </a:pPr>
            <a:endParaRPr lang="en-US" sz="2100" dirty="0"/>
          </a:p>
          <a:p>
            <a:pPr marL="182562" indent="-163512">
              <a:lnSpc>
                <a:spcPct val="100000"/>
              </a:lnSpc>
              <a:spcBef>
                <a:spcPts val="560"/>
              </a:spcBef>
              <a:buClr>
                <a:srgbClr val="0070C0"/>
              </a:buClr>
              <a:buSzPts val="2080"/>
              <a:buFont typeface="Arial"/>
              <a:buChar char="•"/>
            </a:pPr>
            <a:r>
              <a:rPr lang="en-US" sz="2500" dirty="0">
                <a:solidFill>
                  <a:schemeClr val="dk1"/>
                </a:solidFill>
                <a:latin typeface="Arial"/>
                <a:ea typeface="Arial"/>
                <a:cs typeface="Arial"/>
                <a:sym typeface="Arial"/>
              </a:rPr>
              <a:t>Much of plagiarism at CCT is not deliberate cheating; it tends to be a failure to reference and quote properly.</a:t>
            </a:r>
          </a:p>
          <a:p>
            <a:pPr marL="182562" indent="0">
              <a:lnSpc>
                <a:spcPct val="100000"/>
              </a:lnSpc>
              <a:spcBef>
                <a:spcPts val="560"/>
              </a:spcBef>
              <a:buSzPts val="1530"/>
              <a:buNone/>
            </a:pPr>
            <a:endParaRPr lang="en-US" sz="2500" dirty="0"/>
          </a:p>
          <a:p>
            <a:pPr marL="182562" indent="-163512">
              <a:lnSpc>
                <a:spcPct val="100000"/>
              </a:lnSpc>
              <a:spcBef>
                <a:spcPts val="560"/>
              </a:spcBef>
              <a:buClr>
                <a:srgbClr val="0070C0"/>
              </a:buClr>
              <a:buSzPts val="2080"/>
              <a:buFont typeface="Arial"/>
              <a:buChar char="•"/>
            </a:pPr>
            <a:r>
              <a:rPr lang="en-US" sz="2500" dirty="0">
                <a:solidFill>
                  <a:schemeClr val="dk1"/>
                </a:solidFill>
                <a:latin typeface="Arial"/>
                <a:ea typeface="Arial"/>
                <a:cs typeface="Arial"/>
                <a:sym typeface="Arial"/>
              </a:rPr>
              <a:t>Considered a very serious offence with penalties. For more info</a:t>
            </a:r>
            <a:r>
              <a:rPr lang="en-US" sz="2500" dirty="0"/>
              <a:t> watch the Academic Standards Board information video on Moodle. </a:t>
            </a:r>
            <a:endParaRPr lang="en-US" sz="2500" dirty="0">
              <a:solidFill>
                <a:schemeClr val="dk1"/>
              </a:solidFill>
              <a:latin typeface="Arial"/>
              <a:ea typeface="Arial"/>
              <a:cs typeface="Arial"/>
              <a:sym typeface="Arial"/>
            </a:endParaRPr>
          </a:p>
          <a:p>
            <a:pPr marL="182562" indent="0">
              <a:lnSpc>
                <a:spcPct val="100000"/>
              </a:lnSpc>
              <a:spcBef>
                <a:spcPts val="560"/>
              </a:spcBef>
              <a:buSzPts val="1530"/>
              <a:buNone/>
            </a:pPr>
            <a:endParaRPr lang="en-US" sz="2500" dirty="0"/>
          </a:p>
          <a:p>
            <a:pPr marL="182562" indent="-163512">
              <a:lnSpc>
                <a:spcPct val="100000"/>
              </a:lnSpc>
              <a:spcBef>
                <a:spcPts val="560"/>
              </a:spcBef>
              <a:buClr>
                <a:srgbClr val="0070C0"/>
              </a:buClr>
              <a:buSzPts val="2080"/>
              <a:buFont typeface="Arial"/>
              <a:buChar char="•"/>
            </a:pPr>
            <a:r>
              <a:rPr lang="en-US" sz="2500" dirty="0">
                <a:solidFill>
                  <a:schemeClr val="dk1"/>
                </a:solidFill>
                <a:latin typeface="Arial"/>
                <a:ea typeface="Arial"/>
                <a:cs typeface="Arial"/>
                <a:sym typeface="Arial"/>
              </a:rPr>
              <a:t>We use </a:t>
            </a:r>
            <a:r>
              <a:rPr lang="en-US" sz="2500" dirty="0" err="1">
                <a:solidFill>
                  <a:schemeClr val="dk1"/>
                </a:solidFill>
                <a:latin typeface="Arial"/>
                <a:ea typeface="Arial"/>
                <a:cs typeface="Arial"/>
                <a:sym typeface="Arial"/>
              </a:rPr>
              <a:t>Copyleaks</a:t>
            </a:r>
            <a:r>
              <a:rPr lang="en-US" sz="2500" dirty="0">
                <a:solidFill>
                  <a:schemeClr val="dk1"/>
                </a:solidFill>
                <a:latin typeface="Arial"/>
                <a:ea typeface="Arial"/>
                <a:cs typeface="Arial"/>
                <a:sym typeface="Arial"/>
              </a:rPr>
              <a:t> – </a:t>
            </a:r>
            <a:r>
              <a:rPr lang="en-US" sz="2500" dirty="0"/>
              <a:t>so you can check your work before turning in</a:t>
            </a:r>
            <a:r>
              <a:rPr lang="en-US" sz="2500" dirty="0">
                <a:solidFill>
                  <a:schemeClr val="dk1"/>
                </a:solidFill>
                <a:latin typeface="Arial"/>
                <a:ea typeface="Arial"/>
                <a:cs typeface="Arial"/>
                <a:sym typeface="Arial"/>
              </a:rPr>
              <a:t>!</a:t>
            </a:r>
            <a:endParaRPr lang="en-US" sz="2100" dirty="0"/>
          </a:p>
          <a:p>
            <a:pPr marL="0" indent="0">
              <a:buNone/>
            </a:pPr>
            <a:endParaRPr lang="en-IE" dirty="0"/>
          </a:p>
        </p:txBody>
      </p:sp>
      <p:sp>
        <p:nvSpPr>
          <p:cNvPr id="7" name="TextBox 6">
            <a:extLst>
              <a:ext uri="{FF2B5EF4-FFF2-40B4-BE49-F238E27FC236}">
                <a16:creationId xmlns:a16="http://schemas.microsoft.com/office/drawing/2014/main" id="{233D0F0A-6EB8-3619-F272-1DC1A5E84598}"/>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4067862895"/>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Avoiding plagiarism - paraphrasing</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lnSpcReduction="10000"/>
          </a:bodyPr>
          <a:lstStyle/>
          <a:p>
            <a:pPr marL="0" indent="0">
              <a:lnSpc>
                <a:spcPct val="80000"/>
              </a:lnSpc>
              <a:spcBef>
                <a:spcPts val="0"/>
              </a:spcBef>
              <a:buClr>
                <a:schemeClr val="accent1"/>
              </a:buClr>
              <a:buSzPts val="2040"/>
              <a:buNone/>
            </a:pPr>
            <a:r>
              <a:rPr lang="en-US" sz="2800" dirty="0">
                <a:solidFill>
                  <a:schemeClr val="dk1"/>
                </a:solidFill>
                <a:latin typeface="Arial"/>
                <a:ea typeface="Arial"/>
                <a:cs typeface="Arial"/>
                <a:sym typeface="Arial"/>
              </a:rPr>
              <a:t>Make sure you paraphrase (put author’s ideas in your own words), e.g. </a:t>
            </a:r>
            <a:endParaRPr lang="en-US" dirty="0"/>
          </a:p>
          <a:p>
            <a:pPr marL="0" indent="0">
              <a:lnSpc>
                <a:spcPct val="80000"/>
              </a:lnSpc>
              <a:spcBef>
                <a:spcPts val="480"/>
              </a:spcBef>
              <a:buClr>
                <a:schemeClr val="accent1"/>
              </a:buClr>
              <a:buSzPts val="2040"/>
              <a:buNone/>
            </a:pPr>
            <a:endParaRPr lang="en-US" sz="2800" dirty="0">
              <a:solidFill>
                <a:schemeClr val="dk1"/>
              </a:solidFill>
              <a:latin typeface="Arial"/>
              <a:ea typeface="Arial"/>
              <a:cs typeface="Arial"/>
              <a:sym typeface="Arial"/>
            </a:endParaRPr>
          </a:p>
          <a:p>
            <a:pPr marL="0" indent="-129540">
              <a:lnSpc>
                <a:spcPct val="80000"/>
              </a:lnSpc>
              <a:spcBef>
                <a:spcPts val="480"/>
              </a:spcBef>
              <a:buClr>
                <a:srgbClr val="0070C0"/>
              </a:buClr>
              <a:buSzPts val="2040"/>
              <a:buFont typeface="Arial"/>
              <a:buChar char="•"/>
            </a:pPr>
            <a:r>
              <a:rPr lang="en-US" sz="2800" b="1" dirty="0">
                <a:solidFill>
                  <a:schemeClr val="dk1"/>
                </a:solidFill>
                <a:latin typeface="Arial"/>
                <a:ea typeface="Arial"/>
                <a:cs typeface="Arial"/>
                <a:sym typeface="Arial"/>
              </a:rPr>
              <a:t>Original: </a:t>
            </a:r>
            <a:r>
              <a:rPr lang="en-US" sz="2800" i="1" dirty="0">
                <a:solidFill>
                  <a:schemeClr val="dk1"/>
                </a:solidFill>
                <a:latin typeface="Arial"/>
                <a:ea typeface="Arial"/>
                <a:cs typeface="Arial"/>
                <a:sym typeface="Arial"/>
              </a:rPr>
              <a:t>In the first year of life, infants form an attachment – a deep, affectionate, close and enduring relationship – with parents (Bowlby, 1973).</a:t>
            </a:r>
            <a:endParaRPr lang="en-US" dirty="0"/>
          </a:p>
          <a:p>
            <a:pPr marL="0" indent="0">
              <a:lnSpc>
                <a:spcPct val="80000"/>
              </a:lnSpc>
              <a:spcBef>
                <a:spcPts val="480"/>
              </a:spcBef>
              <a:buClr>
                <a:schemeClr val="accent1"/>
              </a:buClr>
              <a:buSzPts val="2040"/>
              <a:buNone/>
            </a:pPr>
            <a:endParaRPr lang="en-US" sz="2800" i="1" dirty="0">
              <a:solidFill>
                <a:schemeClr val="dk1"/>
              </a:solidFill>
              <a:latin typeface="Arial"/>
              <a:ea typeface="Arial"/>
              <a:cs typeface="Arial"/>
              <a:sym typeface="Arial"/>
            </a:endParaRPr>
          </a:p>
          <a:p>
            <a:pPr marL="0" indent="-129540">
              <a:lnSpc>
                <a:spcPct val="80000"/>
              </a:lnSpc>
              <a:spcBef>
                <a:spcPts val="480"/>
              </a:spcBef>
              <a:buClr>
                <a:srgbClr val="0070C0"/>
              </a:buClr>
              <a:buSzPts val="2040"/>
              <a:buFont typeface="Arial"/>
              <a:buChar char="•"/>
            </a:pPr>
            <a:r>
              <a:rPr lang="en-US" sz="2800" b="1" dirty="0">
                <a:solidFill>
                  <a:schemeClr val="dk1"/>
                </a:solidFill>
                <a:latin typeface="Arial"/>
                <a:ea typeface="Arial"/>
                <a:cs typeface="Arial"/>
                <a:sym typeface="Arial"/>
              </a:rPr>
              <a:t>Paraphrased: </a:t>
            </a:r>
            <a:r>
              <a:rPr lang="en-US" sz="2800" i="1" dirty="0">
                <a:solidFill>
                  <a:schemeClr val="dk1"/>
                </a:solidFill>
                <a:latin typeface="Arial"/>
                <a:ea typeface="Arial"/>
                <a:cs typeface="Arial"/>
                <a:sym typeface="Arial"/>
              </a:rPr>
              <a:t>The strong bonds or ‘attachments’ that infants develop with their parents in the first year of life can be considered to be deep and durable (Bowlby, 1973).</a:t>
            </a:r>
            <a:endParaRPr lang="en-US" dirty="0"/>
          </a:p>
          <a:p>
            <a:pPr marL="0" indent="0">
              <a:lnSpc>
                <a:spcPct val="80000"/>
              </a:lnSpc>
              <a:spcBef>
                <a:spcPts val="480"/>
              </a:spcBef>
              <a:buClr>
                <a:schemeClr val="accent1"/>
              </a:buClr>
              <a:buSzPts val="2040"/>
              <a:buNone/>
            </a:pPr>
            <a:endParaRPr lang="en-US" sz="2800" dirty="0">
              <a:solidFill>
                <a:schemeClr val="dk1"/>
              </a:solidFill>
              <a:latin typeface="Arial"/>
              <a:ea typeface="Arial"/>
              <a:cs typeface="Arial"/>
              <a:sym typeface="Arial"/>
            </a:endParaRPr>
          </a:p>
          <a:p>
            <a:pPr marL="0" indent="0">
              <a:lnSpc>
                <a:spcPct val="80000"/>
              </a:lnSpc>
              <a:spcBef>
                <a:spcPts val="480"/>
              </a:spcBef>
              <a:buClr>
                <a:schemeClr val="accent1"/>
              </a:buClr>
              <a:buSzPts val="2040"/>
              <a:buNone/>
            </a:pPr>
            <a:r>
              <a:rPr lang="en-US" sz="2800" b="1" dirty="0">
                <a:solidFill>
                  <a:schemeClr val="dk1"/>
                </a:solidFill>
                <a:latin typeface="Arial"/>
                <a:ea typeface="Arial"/>
                <a:cs typeface="Arial"/>
                <a:sym typeface="Arial"/>
              </a:rPr>
              <a:t>NB: </a:t>
            </a:r>
            <a:r>
              <a:rPr lang="en-US" sz="2800" dirty="0">
                <a:solidFill>
                  <a:schemeClr val="dk1"/>
                </a:solidFill>
                <a:latin typeface="Arial"/>
                <a:ea typeface="Arial"/>
                <a:cs typeface="Arial"/>
                <a:sym typeface="Arial"/>
              </a:rPr>
              <a:t>Be very careful not to change the meaning of the original text</a:t>
            </a:r>
            <a:endParaRPr lang="en-US" dirty="0"/>
          </a:p>
          <a:p>
            <a:pPr marL="0" indent="0">
              <a:buNone/>
            </a:pPr>
            <a:endParaRPr lang="en-IE" dirty="0"/>
          </a:p>
        </p:txBody>
      </p:sp>
      <p:sp>
        <p:nvSpPr>
          <p:cNvPr id="7" name="TextBox 6">
            <a:extLst>
              <a:ext uri="{FF2B5EF4-FFF2-40B4-BE49-F238E27FC236}">
                <a16:creationId xmlns:a16="http://schemas.microsoft.com/office/drawing/2014/main" id="{0371DCA2-9883-8BF1-646B-D248359BDE12}"/>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172387153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US" b="1" dirty="0">
                <a:solidFill>
                  <a:schemeClr val="accent1"/>
                </a:solidFill>
              </a:rPr>
              <a:t>Be confident – put the text in your own words</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182562" indent="-182562">
              <a:lnSpc>
                <a:spcPct val="100000"/>
              </a:lnSpc>
              <a:spcBef>
                <a:spcPts val="0"/>
              </a:spcBef>
              <a:buClr>
                <a:srgbClr val="0070C0"/>
              </a:buClr>
              <a:buSzPts val="2380"/>
              <a:buFont typeface="Arial"/>
              <a:buChar char="•"/>
            </a:pPr>
            <a:r>
              <a:rPr lang="en-US" b="1" dirty="0">
                <a:solidFill>
                  <a:schemeClr val="dk1"/>
                </a:solidFill>
                <a:latin typeface="Arial"/>
                <a:ea typeface="Arial"/>
                <a:cs typeface="Arial"/>
                <a:sym typeface="Arial"/>
              </a:rPr>
              <a:t>Original: </a:t>
            </a:r>
            <a:r>
              <a:rPr lang="en-US" dirty="0">
                <a:solidFill>
                  <a:schemeClr val="dk1"/>
                </a:solidFill>
                <a:latin typeface="Arial"/>
                <a:ea typeface="Arial"/>
                <a:cs typeface="Arial"/>
                <a:sym typeface="Arial"/>
              </a:rPr>
              <a:t>First impressions are difficult to change and typically have a long-lasting influence on how one person reacts to another (Clarke, 2010)</a:t>
            </a:r>
            <a:endParaRPr lang="en-US" dirty="0"/>
          </a:p>
          <a:p>
            <a:pPr marL="182562" indent="-31432">
              <a:lnSpc>
                <a:spcPct val="100000"/>
              </a:lnSpc>
              <a:spcBef>
                <a:spcPts val="560"/>
              </a:spcBef>
              <a:buClr>
                <a:srgbClr val="0070C0"/>
              </a:buClr>
              <a:buSzPts val="2380"/>
              <a:buNone/>
            </a:pPr>
            <a:endParaRPr lang="en-US" dirty="0">
              <a:solidFill>
                <a:schemeClr val="dk1"/>
              </a:solidFill>
              <a:latin typeface="Arial"/>
              <a:ea typeface="Arial"/>
              <a:cs typeface="Arial"/>
              <a:sym typeface="Arial"/>
            </a:endParaRPr>
          </a:p>
          <a:p>
            <a:pPr marL="182562" indent="-128587">
              <a:lnSpc>
                <a:spcPct val="100000"/>
              </a:lnSpc>
              <a:spcBef>
                <a:spcPts val="200"/>
              </a:spcBef>
              <a:buClr>
                <a:srgbClr val="0070C0"/>
              </a:buClr>
              <a:buSzPts val="850"/>
              <a:buNone/>
            </a:pPr>
            <a:endParaRPr lang="en-US" sz="1000" dirty="0">
              <a:solidFill>
                <a:schemeClr val="dk1"/>
              </a:solidFill>
              <a:latin typeface="Arial"/>
              <a:ea typeface="Arial"/>
              <a:cs typeface="Arial"/>
              <a:sym typeface="Arial"/>
            </a:endParaRPr>
          </a:p>
          <a:p>
            <a:pPr marL="182562" indent="-182562">
              <a:lnSpc>
                <a:spcPct val="100000"/>
              </a:lnSpc>
              <a:spcBef>
                <a:spcPts val="560"/>
              </a:spcBef>
              <a:buClr>
                <a:srgbClr val="0070C0"/>
              </a:buClr>
              <a:buSzPts val="2380"/>
              <a:buFont typeface="Arial"/>
              <a:buChar char="•"/>
            </a:pPr>
            <a:r>
              <a:rPr lang="en-US" b="1" dirty="0">
                <a:solidFill>
                  <a:schemeClr val="dk1"/>
                </a:solidFill>
                <a:latin typeface="Arial"/>
                <a:ea typeface="Arial"/>
                <a:cs typeface="Arial"/>
                <a:sym typeface="Arial"/>
              </a:rPr>
              <a:t>Paraphrased:</a:t>
            </a:r>
            <a:r>
              <a:rPr lang="en-US" b="1" i="1" dirty="0">
                <a:solidFill>
                  <a:schemeClr val="dk1"/>
                </a:solidFill>
                <a:latin typeface="Arial"/>
                <a:ea typeface="Arial"/>
                <a:cs typeface="Arial"/>
                <a:sym typeface="Arial"/>
              </a:rPr>
              <a:t> </a:t>
            </a:r>
            <a:r>
              <a:rPr lang="en-US" i="1" dirty="0">
                <a:solidFill>
                  <a:schemeClr val="dk1"/>
                </a:solidFill>
                <a:latin typeface="Arial"/>
                <a:ea typeface="Arial"/>
                <a:cs typeface="Arial"/>
                <a:sym typeface="Arial"/>
              </a:rPr>
              <a:t>According to Clarke (2010), once first impressions are formed, they cannot be altered easily and often have an enduring effect on how individuals interact with each other.</a:t>
            </a:r>
            <a:endParaRPr lang="en-US" dirty="0"/>
          </a:p>
          <a:p>
            <a:pPr marL="0" indent="0">
              <a:buNone/>
            </a:pPr>
            <a:endParaRPr lang="en-IE" dirty="0"/>
          </a:p>
        </p:txBody>
      </p:sp>
      <p:sp>
        <p:nvSpPr>
          <p:cNvPr id="7" name="TextBox 6">
            <a:extLst>
              <a:ext uri="{FF2B5EF4-FFF2-40B4-BE49-F238E27FC236}">
                <a16:creationId xmlns:a16="http://schemas.microsoft.com/office/drawing/2014/main" id="{53407DF8-2E67-5CA1-10C8-3B84503681CD}"/>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2867108449"/>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Reference list</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411162" indent="-182562">
              <a:lnSpc>
                <a:spcPct val="100000"/>
              </a:lnSpc>
              <a:spcBef>
                <a:spcPts val="0"/>
              </a:spcBef>
              <a:buClr>
                <a:srgbClr val="0070C0"/>
              </a:buClr>
              <a:buSzPts val="2040"/>
              <a:buFont typeface="Arial"/>
              <a:buChar char="•"/>
            </a:pPr>
            <a:r>
              <a:rPr lang="en-US" sz="2800" dirty="0">
                <a:solidFill>
                  <a:schemeClr val="dk1"/>
                </a:solidFill>
                <a:latin typeface="Arial"/>
                <a:ea typeface="Arial"/>
                <a:cs typeface="Arial"/>
                <a:sym typeface="Arial"/>
              </a:rPr>
              <a:t>Positioned at back of your essay or report (books or articles will often also have a reference list at the back)</a:t>
            </a:r>
          </a:p>
          <a:p>
            <a:pPr marL="182562" indent="0">
              <a:lnSpc>
                <a:spcPct val="100000"/>
              </a:lnSpc>
              <a:spcBef>
                <a:spcPts val="0"/>
              </a:spcBef>
              <a:buSzPts val="1530"/>
              <a:buNone/>
            </a:pPr>
            <a:endParaRPr lang="en-US" dirty="0"/>
          </a:p>
          <a:p>
            <a:pPr marL="411162" indent="-182562">
              <a:lnSpc>
                <a:spcPct val="100000"/>
              </a:lnSpc>
              <a:spcBef>
                <a:spcPts val="480"/>
              </a:spcBef>
              <a:buClr>
                <a:srgbClr val="0070C0"/>
              </a:buClr>
              <a:buSzPts val="2040"/>
              <a:buFont typeface="Arial"/>
              <a:buChar char="•"/>
            </a:pPr>
            <a:r>
              <a:rPr lang="en-US" sz="2800" dirty="0">
                <a:solidFill>
                  <a:schemeClr val="dk1"/>
                </a:solidFill>
                <a:latin typeface="Arial"/>
                <a:ea typeface="Arial"/>
                <a:cs typeface="Arial"/>
                <a:sym typeface="Arial"/>
              </a:rPr>
              <a:t>Reference list contains ALL details of the sources you have used</a:t>
            </a:r>
          </a:p>
          <a:p>
            <a:pPr marL="182562" indent="0">
              <a:lnSpc>
                <a:spcPct val="100000"/>
              </a:lnSpc>
              <a:spcBef>
                <a:spcPts val="480"/>
              </a:spcBef>
              <a:buSzPts val="1530"/>
              <a:buNone/>
            </a:pPr>
            <a:endParaRPr lang="en-US" dirty="0"/>
          </a:p>
          <a:p>
            <a:pPr marL="411162" indent="-182562">
              <a:lnSpc>
                <a:spcPct val="100000"/>
              </a:lnSpc>
              <a:spcBef>
                <a:spcPts val="480"/>
              </a:spcBef>
              <a:buClr>
                <a:srgbClr val="0070C0"/>
              </a:buClr>
              <a:buSzPts val="2040"/>
              <a:buFont typeface="Arial"/>
              <a:buChar char="•"/>
            </a:pPr>
            <a:r>
              <a:rPr lang="en-US" sz="2800" dirty="0">
                <a:solidFill>
                  <a:schemeClr val="dk1"/>
                </a:solidFill>
                <a:latin typeface="Arial"/>
                <a:ea typeface="Arial"/>
                <a:cs typeface="Arial"/>
                <a:sym typeface="Arial"/>
              </a:rPr>
              <a:t>Follow the Harvard Citation Guide very carefully</a:t>
            </a:r>
          </a:p>
          <a:p>
            <a:pPr marL="182562" indent="0">
              <a:lnSpc>
                <a:spcPct val="100000"/>
              </a:lnSpc>
              <a:spcBef>
                <a:spcPts val="480"/>
              </a:spcBef>
              <a:buSzPts val="1530"/>
              <a:buNone/>
            </a:pPr>
            <a:endParaRPr lang="en-US" dirty="0"/>
          </a:p>
          <a:p>
            <a:pPr marL="411162" indent="-182562">
              <a:lnSpc>
                <a:spcPct val="100000"/>
              </a:lnSpc>
              <a:spcBef>
                <a:spcPts val="480"/>
              </a:spcBef>
              <a:buClr>
                <a:srgbClr val="0070C0"/>
              </a:buClr>
              <a:buSzPts val="2040"/>
              <a:buFont typeface="Arial"/>
              <a:buChar char="•"/>
            </a:pPr>
            <a:r>
              <a:rPr lang="en-US" sz="2800" dirty="0">
                <a:solidFill>
                  <a:schemeClr val="dk1"/>
                </a:solidFill>
                <a:latin typeface="Arial"/>
                <a:ea typeface="Arial"/>
                <a:cs typeface="Arial"/>
                <a:sym typeface="Arial"/>
              </a:rPr>
              <a:t>References should be presented in alphabetical order with as much detail as possible</a:t>
            </a:r>
            <a:endParaRPr lang="en-US" dirty="0"/>
          </a:p>
          <a:p>
            <a:pPr marL="0" indent="0">
              <a:buNone/>
            </a:pPr>
            <a:endParaRPr lang="en-IE" dirty="0"/>
          </a:p>
        </p:txBody>
      </p:sp>
      <p:sp>
        <p:nvSpPr>
          <p:cNvPr id="7" name="TextBox 6">
            <a:extLst>
              <a:ext uri="{FF2B5EF4-FFF2-40B4-BE49-F238E27FC236}">
                <a16:creationId xmlns:a16="http://schemas.microsoft.com/office/drawing/2014/main" id="{E79CAA46-6B49-155F-61E1-A9659B66016A}"/>
              </a:ext>
            </a:extLst>
          </p:cNvPr>
          <p:cNvSpPr txBox="1"/>
          <p:nvPr/>
        </p:nvSpPr>
        <p:spPr>
          <a:xfrm>
            <a:off x="10130118" y="5576339"/>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33268785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US" b="1" dirty="0">
                <a:solidFill>
                  <a:schemeClr val="accent1"/>
                </a:solidFill>
              </a:rPr>
              <a:t>Constructing a reference list: the rules </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marL="411162" indent="-182562">
              <a:lnSpc>
                <a:spcPct val="100000"/>
              </a:lnSpc>
              <a:spcBef>
                <a:spcPts val="0"/>
              </a:spcBef>
              <a:buClr>
                <a:srgbClr val="0070C0"/>
              </a:buClr>
              <a:buSzPts val="2380"/>
              <a:buFont typeface="Arial"/>
              <a:buChar char="•"/>
            </a:pPr>
            <a:r>
              <a:rPr lang="en-US" b="1" dirty="0">
                <a:solidFill>
                  <a:schemeClr val="dk1"/>
                </a:solidFill>
                <a:latin typeface="Arial"/>
                <a:ea typeface="Arial"/>
                <a:cs typeface="Arial"/>
                <a:sym typeface="Arial"/>
              </a:rPr>
              <a:t>Book: </a:t>
            </a:r>
            <a:r>
              <a:rPr lang="en-US" dirty="0">
                <a:solidFill>
                  <a:schemeClr val="dk1"/>
                </a:solidFill>
                <a:latin typeface="Arial"/>
                <a:ea typeface="Arial"/>
                <a:cs typeface="Arial"/>
                <a:sym typeface="Arial"/>
              </a:rPr>
              <a:t>Smith, P. (2019). </a:t>
            </a:r>
            <a:r>
              <a:rPr lang="en-US" i="1" dirty="0">
                <a:solidFill>
                  <a:schemeClr val="dk1"/>
                </a:solidFill>
                <a:latin typeface="Arial"/>
                <a:ea typeface="Arial"/>
                <a:cs typeface="Arial"/>
                <a:sym typeface="Arial"/>
              </a:rPr>
              <a:t>Living in Dublin,</a:t>
            </a:r>
            <a:r>
              <a:rPr lang="en-US" dirty="0">
                <a:solidFill>
                  <a:schemeClr val="dk1"/>
                </a:solidFill>
                <a:latin typeface="Arial"/>
                <a:ea typeface="Arial"/>
                <a:cs typeface="Arial"/>
                <a:sym typeface="Arial"/>
              </a:rPr>
              <a:t> 3</a:t>
            </a:r>
            <a:r>
              <a:rPr lang="en-US" baseline="30000" dirty="0">
                <a:solidFill>
                  <a:schemeClr val="dk1"/>
                </a:solidFill>
                <a:latin typeface="Arial"/>
                <a:ea typeface="Arial"/>
                <a:cs typeface="Arial"/>
                <a:sym typeface="Arial"/>
              </a:rPr>
              <a:t>rd</a:t>
            </a:r>
            <a:r>
              <a:rPr lang="en-US" dirty="0">
                <a:solidFill>
                  <a:schemeClr val="dk1"/>
                </a:solidFill>
                <a:latin typeface="Arial"/>
                <a:ea typeface="Arial"/>
                <a:cs typeface="Arial"/>
                <a:sym typeface="Arial"/>
              </a:rPr>
              <a:t> ed. Dublin: Longman.</a:t>
            </a:r>
            <a:endParaRPr lang="en-US" dirty="0"/>
          </a:p>
          <a:p>
            <a:pPr marL="411162" indent="-182562">
              <a:lnSpc>
                <a:spcPct val="100000"/>
              </a:lnSpc>
              <a:spcBef>
                <a:spcPts val="560"/>
              </a:spcBef>
              <a:buClr>
                <a:schemeClr val="accent1"/>
              </a:buClr>
              <a:buSzPts val="2380"/>
              <a:buNone/>
            </a:pPr>
            <a:endParaRPr lang="en-US" dirty="0">
              <a:solidFill>
                <a:schemeClr val="dk1"/>
              </a:solidFill>
              <a:latin typeface="Arial"/>
              <a:ea typeface="Arial"/>
              <a:cs typeface="Arial"/>
              <a:sym typeface="Arial"/>
            </a:endParaRPr>
          </a:p>
          <a:p>
            <a:pPr marL="411162" indent="-182562">
              <a:lnSpc>
                <a:spcPct val="100000"/>
              </a:lnSpc>
              <a:spcBef>
                <a:spcPts val="560"/>
              </a:spcBef>
              <a:buClr>
                <a:srgbClr val="0070C0"/>
              </a:buClr>
              <a:buSzPts val="2380"/>
              <a:buFont typeface="Arial"/>
              <a:buChar char="•"/>
            </a:pPr>
            <a:r>
              <a:rPr lang="en-US" b="1" dirty="0">
                <a:solidFill>
                  <a:schemeClr val="dk1"/>
                </a:solidFill>
                <a:latin typeface="Arial"/>
                <a:ea typeface="Arial"/>
                <a:cs typeface="Arial"/>
                <a:sym typeface="Arial"/>
              </a:rPr>
              <a:t>Journal article: </a:t>
            </a:r>
            <a:r>
              <a:rPr lang="en-US" dirty="0">
                <a:solidFill>
                  <a:schemeClr val="dk1"/>
                </a:solidFill>
                <a:latin typeface="Arial"/>
                <a:ea typeface="Arial"/>
                <a:cs typeface="Arial"/>
                <a:sym typeface="Arial"/>
              </a:rPr>
              <a:t>Shrewsbury, M. (2011) </a:t>
            </a:r>
            <a:r>
              <a:rPr lang="en-US" i="1" dirty="0">
                <a:solidFill>
                  <a:schemeClr val="dk1"/>
                </a:solidFill>
                <a:latin typeface="Arial"/>
                <a:ea typeface="Arial"/>
                <a:cs typeface="Arial"/>
                <a:sym typeface="Arial"/>
              </a:rPr>
              <a:t>The similarities in humans and non human primates</a:t>
            </a:r>
            <a:r>
              <a:rPr lang="en-US" dirty="0">
                <a:solidFill>
                  <a:schemeClr val="dk1"/>
                </a:solidFill>
                <a:latin typeface="Arial"/>
                <a:ea typeface="Arial"/>
                <a:cs typeface="Arial"/>
                <a:sym typeface="Arial"/>
              </a:rPr>
              <a:t>,</a:t>
            </a:r>
            <a:r>
              <a:rPr lang="en-US" i="1" dirty="0">
                <a:solidFill>
                  <a:schemeClr val="dk1"/>
                </a:solidFill>
                <a:latin typeface="Arial"/>
                <a:ea typeface="Arial"/>
                <a:cs typeface="Arial"/>
                <a:sym typeface="Arial"/>
              </a:rPr>
              <a:t> Journal of Anatomy</a:t>
            </a:r>
            <a:r>
              <a:rPr lang="en-US" dirty="0">
                <a:solidFill>
                  <a:schemeClr val="dk1"/>
                </a:solidFill>
                <a:latin typeface="Arial"/>
                <a:ea typeface="Arial"/>
                <a:cs typeface="Arial"/>
                <a:sym typeface="Arial"/>
              </a:rPr>
              <a:t>, vol. 202, no. 4, p.51-59.</a:t>
            </a:r>
          </a:p>
          <a:p>
            <a:pPr marL="0" indent="0">
              <a:buNone/>
            </a:pPr>
            <a:endParaRPr lang="en-IE" dirty="0"/>
          </a:p>
        </p:txBody>
      </p:sp>
      <p:sp>
        <p:nvSpPr>
          <p:cNvPr id="7" name="TextBox 6">
            <a:extLst>
              <a:ext uri="{FF2B5EF4-FFF2-40B4-BE49-F238E27FC236}">
                <a16:creationId xmlns:a16="http://schemas.microsoft.com/office/drawing/2014/main" id="{4CC0178E-6893-EF7E-5C9C-EA5B03B95C54}"/>
              </a:ext>
            </a:extLst>
          </p:cNvPr>
          <p:cNvSpPr txBox="1"/>
          <p:nvPr/>
        </p:nvSpPr>
        <p:spPr>
          <a:xfrm>
            <a:off x="10130118" y="5487021"/>
            <a:ext cx="2061882" cy="369332"/>
          </a:xfrm>
          <a:prstGeom prst="rect">
            <a:avLst/>
          </a:prstGeom>
          <a:noFill/>
        </p:spPr>
        <p:txBody>
          <a:bodyPr wrap="square" rtlCol="0">
            <a:spAutoFit/>
          </a:bodyPr>
          <a:lstStyle/>
          <a:p>
            <a:r>
              <a:rPr lang="en-US" dirty="0"/>
              <a:t>Graham Glanville</a:t>
            </a:r>
          </a:p>
        </p:txBody>
      </p:sp>
    </p:spTree>
    <p:extLst>
      <p:ext uri="{BB962C8B-B14F-4D97-AF65-F5344CB8AC3E}">
        <p14:creationId xmlns:p14="http://schemas.microsoft.com/office/powerpoint/2010/main" val="865887604"/>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MyBib.com</a:t>
            </a:r>
            <a:endParaRPr lang="en-IE" dirty="0">
              <a:solidFill>
                <a:schemeClr val="accent1"/>
              </a:solidFill>
            </a:endParaRPr>
          </a:p>
        </p:txBody>
      </p:sp>
      <p:pic>
        <p:nvPicPr>
          <p:cNvPr id="7" name="Content Placeholder 6">
            <a:extLst>
              <a:ext uri="{FF2B5EF4-FFF2-40B4-BE49-F238E27FC236}">
                <a16:creationId xmlns:a16="http://schemas.microsoft.com/office/drawing/2014/main" id="{1B03E76B-86EB-303C-8E90-09C479E3C714}"/>
              </a:ext>
            </a:extLst>
          </p:cNvPr>
          <p:cNvPicPr>
            <a:picLocks noGrp="1" noChangeAspect="1"/>
          </p:cNvPicPr>
          <p:nvPr>
            <p:ph idx="1"/>
          </p:nvPr>
        </p:nvPicPr>
        <p:blipFill>
          <a:blip r:embed="rId4"/>
          <a:stretch>
            <a:fillRect/>
          </a:stretch>
        </p:blipFill>
        <p:spPr>
          <a:xfrm>
            <a:off x="1503649" y="1274762"/>
            <a:ext cx="9184702" cy="4745038"/>
          </a:xfrm>
        </p:spPr>
      </p:pic>
    </p:spTree>
    <p:extLst>
      <p:ext uri="{BB962C8B-B14F-4D97-AF65-F5344CB8AC3E}">
        <p14:creationId xmlns:p14="http://schemas.microsoft.com/office/powerpoint/2010/main" val="1595449051"/>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CCT Library</a:t>
            </a:r>
            <a:endParaRPr lang="en-IE" dirty="0">
              <a:solidFill>
                <a:schemeClr val="accent1"/>
              </a:solidFill>
            </a:endParaRPr>
          </a:p>
        </p:txBody>
      </p:sp>
      <p:pic>
        <p:nvPicPr>
          <p:cNvPr id="7" name="Content Placeholder 6">
            <a:extLst>
              <a:ext uri="{FF2B5EF4-FFF2-40B4-BE49-F238E27FC236}">
                <a16:creationId xmlns:a16="http://schemas.microsoft.com/office/drawing/2014/main" id="{EAFD9CE4-1752-9F06-4BDD-7755198FD778}"/>
              </a:ext>
            </a:extLst>
          </p:cNvPr>
          <p:cNvPicPr>
            <a:picLocks noGrp="1" noChangeAspect="1"/>
          </p:cNvPicPr>
          <p:nvPr>
            <p:ph idx="1"/>
          </p:nvPr>
        </p:nvPicPr>
        <p:blipFill>
          <a:blip r:embed="rId4"/>
          <a:stretch>
            <a:fillRect/>
          </a:stretch>
        </p:blipFill>
        <p:spPr>
          <a:xfrm>
            <a:off x="838200" y="1824775"/>
            <a:ext cx="5020733" cy="3441492"/>
          </a:xfrm>
        </p:spPr>
      </p:pic>
      <p:pic>
        <p:nvPicPr>
          <p:cNvPr id="9" name="Picture 8">
            <a:extLst>
              <a:ext uri="{FF2B5EF4-FFF2-40B4-BE49-F238E27FC236}">
                <a16:creationId xmlns:a16="http://schemas.microsoft.com/office/drawing/2014/main" id="{9289A50C-1C78-5885-4F8F-F7C0851F8D23}"/>
              </a:ext>
            </a:extLst>
          </p:cNvPr>
          <p:cNvPicPr>
            <a:picLocks noChangeAspect="1"/>
          </p:cNvPicPr>
          <p:nvPr/>
        </p:nvPicPr>
        <p:blipFill>
          <a:blip r:embed="rId5"/>
          <a:stretch>
            <a:fillRect/>
          </a:stretch>
        </p:blipFill>
        <p:spPr>
          <a:xfrm>
            <a:off x="6096000" y="1824775"/>
            <a:ext cx="5770770" cy="3272896"/>
          </a:xfrm>
          <a:prstGeom prst="rect">
            <a:avLst/>
          </a:prstGeom>
        </p:spPr>
      </p:pic>
    </p:spTree>
    <p:extLst>
      <p:ext uri="{BB962C8B-B14F-4D97-AF65-F5344CB8AC3E}">
        <p14:creationId xmlns:p14="http://schemas.microsoft.com/office/powerpoint/2010/main" val="3508921505"/>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object, sitting, computer, computer&#10;&#10;Description automatically generated">
            <a:extLst>
              <a:ext uri="{FF2B5EF4-FFF2-40B4-BE49-F238E27FC236}">
                <a16:creationId xmlns:a16="http://schemas.microsoft.com/office/drawing/2014/main" id="{EB854EEA-1FD7-4ADA-BB06-59D772A596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8073" y="5895106"/>
            <a:ext cx="3504617" cy="673764"/>
          </a:xfrm>
          <a:prstGeom prst="rect">
            <a:avLst/>
          </a:prstGeom>
        </p:spPr>
      </p:pic>
      <p:pic>
        <p:nvPicPr>
          <p:cNvPr id="3" name="Picture 2">
            <a:extLst>
              <a:ext uri="{FF2B5EF4-FFF2-40B4-BE49-F238E27FC236}">
                <a16:creationId xmlns:a16="http://schemas.microsoft.com/office/drawing/2014/main" id="{8CC86712-1FF6-4767-8980-4A82233BC150}"/>
              </a:ext>
            </a:extLst>
          </p:cNvPr>
          <p:cNvPicPr>
            <a:picLocks noChangeAspect="1"/>
          </p:cNvPicPr>
          <p:nvPr/>
        </p:nvPicPr>
        <p:blipFill>
          <a:blip r:embed="rId3"/>
          <a:stretch>
            <a:fillRect/>
          </a:stretch>
        </p:blipFill>
        <p:spPr>
          <a:xfrm>
            <a:off x="7121122" y="2282836"/>
            <a:ext cx="3956168" cy="1705548"/>
          </a:xfrm>
          <a:prstGeom prst="rect">
            <a:avLst/>
          </a:prstGeom>
        </p:spPr>
      </p:pic>
      <p:pic>
        <p:nvPicPr>
          <p:cNvPr id="4" name="Picture 3" descr="A large building in the background&#10;&#10;Description automatically generated">
            <a:extLst>
              <a:ext uri="{FF2B5EF4-FFF2-40B4-BE49-F238E27FC236}">
                <a16:creationId xmlns:a16="http://schemas.microsoft.com/office/drawing/2014/main" id="{983EE529-F819-4020-8C85-483C3AA34C42}"/>
              </a:ext>
            </a:extLst>
          </p:cNvPr>
          <p:cNvPicPr>
            <a:picLocks noChangeAspect="1"/>
          </p:cNvPicPr>
          <p:nvPr/>
        </p:nvPicPr>
        <p:blipFill rotWithShape="1">
          <a:blip r:embed="rId4">
            <a:extLst>
              <a:ext uri="{28A0092B-C50C-407E-A947-70E740481C1C}">
                <a14:useLocalDpi xmlns:a14="http://schemas.microsoft.com/office/drawing/2010/main" val="0"/>
              </a:ext>
            </a:extLst>
          </a:blip>
          <a:srcRect l="1607" t="1724"/>
          <a:stretch/>
        </p:blipFill>
        <p:spPr>
          <a:xfrm>
            <a:off x="0" y="0"/>
            <a:ext cx="6220593" cy="5793506"/>
          </a:xfrm>
          <a:prstGeom prst="rect">
            <a:avLst/>
          </a:prstGeom>
        </p:spPr>
      </p:pic>
    </p:spTree>
    <p:extLst>
      <p:ext uri="{BB962C8B-B14F-4D97-AF65-F5344CB8AC3E}">
        <p14:creationId xmlns:p14="http://schemas.microsoft.com/office/powerpoint/2010/main" val="1992254827"/>
      </p:ext>
    </p:extLst>
  </p:cSld>
  <p:clrMapOvr>
    <a:masterClrMapping/>
  </p:clrMapOvr>
  <mc:AlternateContent xmlns:mc="http://schemas.openxmlformats.org/markup-compatibility/2006" xmlns:p14="http://schemas.microsoft.com/office/powerpoint/2010/main">
    <mc:Choice Requires="p14">
      <p:transition spd="slow" p14:dur="2000" advTm="9571"/>
    </mc:Choice>
    <mc:Fallback xmlns="">
      <p:transition spd="slow" advTm="957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CT Powerpoint Template with Copyright.pptx" id="{8DF168AC-3018-40D7-9118-083D692EFC47}" vid="{D9D776CC-F26C-4FF2-8FCA-55E4DEA074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CCT Powerpoint Template with Copyright</Template>
  <TotalTime>268</TotalTime>
  <Words>5218</Words>
  <Application>Microsoft Office PowerPoint</Application>
  <PresentationFormat>Widescreen</PresentationFormat>
  <Paragraphs>431</Paragraphs>
  <Slides>56</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Times LT Std</vt:lpstr>
      <vt:lpstr>Office Theme</vt:lpstr>
      <vt:lpstr>Data Analytics Life Cycle,  Research, Citing and Referencing  Taufique Ahmed Thanks to Graham Glanville</vt:lpstr>
      <vt:lpstr>Copyright Notice The following material has been communicated to you by or on behalf of CCT College Dublin in accordance with the Copyright and Related Rights Act 2000 (the Act). The material may be subject to copyright under the Act and any further reproduction, communication or distribution of this material must be in accordance with the Act.  Do not remove this notice</vt:lpstr>
      <vt:lpstr>Data Science Life Cycle</vt:lpstr>
      <vt:lpstr>Data Science Life Cycle</vt:lpstr>
      <vt:lpstr>Data Science Life Cycle</vt:lpstr>
      <vt:lpstr>Data Science Life Cycle</vt:lpstr>
      <vt:lpstr>Data Science Life Cycle</vt:lpstr>
      <vt:lpstr>Data Science Life Cycle</vt:lpstr>
      <vt:lpstr>Data Science Life Cycle</vt:lpstr>
      <vt:lpstr>Data Science Life Cycle</vt:lpstr>
      <vt:lpstr>Data Science Life Cycle</vt:lpstr>
      <vt:lpstr>Data Science Life Cycle</vt:lpstr>
      <vt:lpstr>Data Science Life Cycle</vt:lpstr>
      <vt:lpstr>Data Science Life Cycle</vt:lpstr>
      <vt:lpstr>Research</vt:lpstr>
      <vt:lpstr>Firstly….</vt:lpstr>
      <vt:lpstr>The influence of research</vt:lpstr>
      <vt:lpstr>How do we know what we know and why do we do what we do?</vt:lpstr>
      <vt:lpstr>How do we know what we know and why do we do what we do?</vt:lpstr>
      <vt:lpstr>How do we know what we know and why do we do what we do?</vt:lpstr>
      <vt:lpstr>The Research Process</vt:lpstr>
      <vt:lpstr>Why Conduct Research?</vt:lpstr>
      <vt:lpstr>What Is Research?</vt:lpstr>
      <vt:lpstr>Originality</vt:lpstr>
      <vt:lpstr>Knowledge</vt:lpstr>
      <vt:lpstr>What Is Research? </vt:lpstr>
      <vt:lpstr>What Is Research? </vt:lpstr>
      <vt:lpstr>What Is Research </vt:lpstr>
      <vt:lpstr>Theory</vt:lpstr>
      <vt:lpstr>Theory</vt:lpstr>
      <vt:lpstr>Theory</vt:lpstr>
      <vt:lpstr>Research Process </vt:lpstr>
      <vt:lpstr>Research Process </vt:lpstr>
      <vt:lpstr>Deductive Approach</vt:lpstr>
      <vt:lpstr>Deductive Approach </vt:lpstr>
      <vt:lpstr>Research Process </vt:lpstr>
      <vt:lpstr>CITING AND REFERENCING</vt:lpstr>
      <vt:lpstr>CITING AND REFERENCING</vt:lpstr>
      <vt:lpstr>Why / When Reference?</vt:lpstr>
      <vt:lpstr>CITING AND REFERENCING</vt:lpstr>
      <vt:lpstr>Typical sources of references</vt:lpstr>
      <vt:lpstr>CCT Citation Guidelines</vt:lpstr>
      <vt:lpstr>Referencing components</vt:lpstr>
      <vt:lpstr>Text citations</vt:lpstr>
      <vt:lpstr>Text citations</vt:lpstr>
      <vt:lpstr>A few things to remember...</vt:lpstr>
      <vt:lpstr>Weaving references into the text</vt:lpstr>
      <vt:lpstr>Useful words for reporting</vt:lpstr>
      <vt:lpstr>Plagiarism</vt:lpstr>
      <vt:lpstr>Avoiding plagiarism - paraphrasing</vt:lpstr>
      <vt:lpstr>Be confident – put the text in your own words</vt:lpstr>
      <vt:lpstr>Reference list</vt:lpstr>
      <vt:lpstr>Constructing a reference list: the rules </vt:lpstr>
      <vt:lpstr>MyBib.com</vt:lpstr>
      <vt:lpstr>CCT Library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James Garza</dc:creator>
  <cp:lastModifiedBy>Ciaran Lynch</cp:lastModifiedBy>
  <cp:revision>13</cp:revision>
  <dcterms:created xsi:type="dcterms:W3CDTF">2022-07-26T14:10:00Z</dcterms:created>
  <dcterms:modified xsi:type="dcterms:W3CDTF">2026-10-01T16:37:15Z</dcterms:modified>
</cp:coreProperties>
</file>